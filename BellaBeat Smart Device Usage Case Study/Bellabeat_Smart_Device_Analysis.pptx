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86" r:id="rId3"/>
    <p:sldId id="257" r:id="rId4"/>
    <p:sldId id="258" r:id="rId5"/>
    <p:sldId id="259" r:id="rId6"/>
    <p:sldId id="271" r:id="rId7"/>
    <p:sldId id="260" r:id="rId8"/>
    <p:sldId id="262" r:id="rId9"/>
    <p:sldId id="261" r:id="rId10"/>
    <p:sldId id="267" r:id="rId11"/>
    <p:sldId id="268" r:id="rId12"/>
    <p:sldId id="263" r:id="rId13"/>
    <p:sldId id="264" r:id="rId14"/>
    <p:sldId id="265" r:id="rId15"/>
    <p:sldId id="266" r:id="rId16"/>
    <p:sldId id="270" r:id="rId17"/>
    <p:sldId id="272" r:id="rId18"/>
    <p:sldId id="273" r:id="rId19"/>
    <p:sldId id="274" r:id="rId20"/>
    <p:sldId id="277" r:id="rId21"/>
    <p:sldId id="278" r:id="rId22"/>
    <p:sldId id="279" r:id="rId23"/>
    <p:sldId id="275" r:id="rId24"/>
    <p:sldId id="276" r:id="rId25"/>
    <p:sldId id="287" r:id="rId26"/>
    <p:sldId id="28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C42"/>
    <a:srgbClr val="E74C3C"/>
    <a:srgbClr val="4A4A4A"/>
    <a:srgbClr val="9B59B6"/>
    <a:srgbClr val="2ECC71"/>
    <a:srgbClr val="95A5A6"/>
    <a:srgbClr val="0078D7"/>
    <a:srgbClr val="FFFFFF"/>
    <a:srgbClr val="F8F9F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Hourly Trend of Total Steps Walked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StepTotal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84758</c:v>
                </c:pt>
                <c:pt idx="1">
                  <c:v>42470</c:v>
                </c:pt>
                <c:pt idx="2">
                  <c:v>26775</c:v>
                </c:pt>
                <c:pt idx="3">
                  <c:v>13447</c:v>
                </c:pt>
                <c:pt idx="4">
                  <c:v>21767</c:v>
                </c:pt>
                <c:pt idx="5">
                  <c:v>67443</c:v>
                </c:pt>
                <c:pt idx="6">
                  <c:v>288278</c:v>
                </c:pt>
                <c:pt idx="7">
                  <c:v>555792</c:v>
                </c:pt>
                <c:pt idx="8">
                  <c:v>767662</c:v>
                </c:pt>
                <c:pt idx="9">
                  <c:v>837965</c:v>
                </c:pt>
                <c:pt idx="10">
                  <c:v>884909</c:v>
                </c:pt>
                <c:pt idx="11">
                  <c:v>874921</c:v>
                </c:pt>
                <c:pt idx="12">
                  <c:v>1024709</c:v>
                </c:pt>
                <c:pt idx="13">
                  <c:v>951271</c:v>
                </c:pt>
                <c:pt idx="14">
                  <c:v>970041</c:v>
                </c:pt>
                <c:pt idx="15">
                  <c:v>760299</c:v>
                </c:pt>
                <c:pt idx="16">
                  <c:v>895769</c:v>
                </c:pt>
                <c:pt idx="17">
                  <c:v>949453</c:v>
                </c:pt>
                <c:pt idx="18">
                  <c:v>1044955</c:v>
                </c:pt>
                <c:pt idx="19">
                  <c:v>1053728</c:v>
                </c:pt>
                <c:pt idx="20">
                  <c:v>716362</c:v>
                </c:pt>
                <c:pt idx="21">
                  <c:v>537525</c:v>
                </c:pt>
                <c:pt idx="22">
                  <c:v>386395</c:v>
                </c:pt>
                <c:pt idx="23">
                  <c:v>211953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2E-47B9-BF57-EB07EF81F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5168656"/>
        <c:axId val="465170896"/>
      </c:lineChart>
      <c:catAx>
        <c:axId val="465168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170896"/>
        <c:crosses val="autoZero"/>
        <c:auto val="1"/>
        <c:lblAlgn val="ctr"/>
        <c:lblOffset val="100"/>
        <c:noMultiLvlLbl val="0"/>
      </c:catAx>
      <c:valAx>
        <c:axId val="465170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,,\ &quot;M&quot;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16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0078D7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 Daily Steps by Weekday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Steps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6607</c:v>
                </c:pt>
                <c:pt idx="1">
                  <c:v>7541</c:v>
                </c:pt>
                <c:pt idx="2">
                  <c:v>7084</c:v>
                </c:pt>
                <c:pt idx="3">
                  <c:v>7548</c:v>
                </c:pt>
                <c:pt idx="4">
                  <c:v>7268</c:v>
                </c:pt>
                <c:pt idx="5">
                  <c:v>7188</c:v>
                </c:pt>
                <c:pt idx="6">
                  <c:v>7752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A0-431B-99D3-29AA0A3F576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59370616"/>
        <c:axId val="459371256"/>
      </c:lineChart>
      <c:catAx>
        <c:axId val="459370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371256"/>
        <c:crosses val="autoZero"/>
        <c:auto val="1"/>
        <c:lblAlgn val="ctr"/>
        <c:lblOffset val="100"/>
        <c:noMultiLvlLbl val="0"/>
      </c:catAx>
      <c:valAx>
        <c:axId val="459371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.#,\K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370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0078D7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Hourly Trend of Calories Burned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Calories</c:v>
                </c:pt>
              </c:strCache>
            </c:strRef>
          </c:tx>
          <c:spPr>
            <a:ln w="28575" cap="rnd">
              <a:solidFill>
                <a:srgbClr val="FF8C4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8C42"/>
              </a:solidFill>
              <a:ln w="9525">
                <a:solidFill>
                  <a:srgbClr val="FF8C42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139650</c:v>
                </c:pt>
                <c:pt idx="1">
                  <c:v>135217</c:v>
                </c:pt>
                <c:pt idx="2">
                  <c:v>132773</c:v>
                </c:pt>
                <c:pt idx="3">
                  <c:v>130591</c:v>
                </c:pt>
                <c:pt idx="4">
                  <c:v>131325</c:v>
                </c:pt>
                <c:pt idx="5">
                  <c:v>153738</c:v>
                </c:pt>
                <c:pt idx="6">
                  <c:v>161791</c:v>
                </c:pt>
                <c:pt idx="7">
                  <c:v>178074</c:v>
                </c:pt>
                <c:pt idx="8">
                  <c:v>194186</c:v>
                </c:pt>
                <c:pt idx="9">
                  <c:v>205197</c:v>
                </c:pt>
                <c:pt idx="10">
                  <c:v>208454</c:v>
                </c:pt>
                <c:pt idx="11">
                  <c:v>209695</c:v>
                </c:pt>
                <c:pt idx="12">
                  <c:v>221181</c:v>
                </c:pt>
                <c:pt idx="13">
                  <c:v>214319</c:v>
                </c:pt>
                <c:pt idx="14">
                  <c:v>217578</c:v>
                </c:pt>
                <c:pt idx="15">
                  <c:v>202742</c:v>
                </c:pt>
                <c:pt idx="16">
                  <c:v>212509</c:v>
                </c:pt>
                <c:pt idx="17">
                  <c:v>222839</c:v>
                </c:pt>
                <c:pt idx="18">
                  <c:v>226242</c:v>
                </c:pt>
                <c:pt idx="19">
                  <c:v>225579</c:v>
                </c:pt>
                <c:pt idx="20">
                  <c:v>196061</c:v>
                </c:pt>
                <c:pt idx="21">
                  <c:v>178656</c:v>
                </c:pt>
                <c:pt idx="22">
                  <c:v>163753</c:v>
                </c:pt>
                <c:pt idx="23">
                  <c:v>146142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04-454A-9A1F-C2DE070E75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90185744"/>
        <c:axId val="690186704"/>
      </c:lineChart>
      <c:catAx>
        <c:axId val="6901857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0186704"/>
        <c:crosses val="autoZero"/>
        <c:auto val="1"/>
        <c:lblAlgn val="ctr"/>
        <c:lblOffset val="100"/>
        <c:tickLblSkip val="2"/>
        <c:noMultiLvlLbl val="0"/>
      </c:catAx>
      <c:valAx>
        <c:axId val="690186704"/>
        <c:scaling>
          <c:orientation val="minMax"/>
          <c:min val="5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\K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0185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FF8C4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Hourly Trend of Calories Burned and Steps Walked</a:t>
            </a:r>
            <a:endParaRPr lang="en-IN" baseline="0" dirty="0"/>
          </a:p>
        </c:rich>
      </c:tx>
      <c:layout>
        <c:manualLayout>
          <c:xMode val="edge"/>
          <c:yMode val="edge"/>
          <c:x val="0.16611763968017898"/>
          <c:y val="3.75205920099456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StepTotal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84758</c:v>
                </c:pt>
                <c:pt idx="1">
                  <c:v>42470</c:v>
                </c:pt>
                <c:pt idx="2">
                  <c:v>26775</c:v>
                </c:pt>
                <c:pt idx="3">
                  <c:v>13447</c:v>
                </c:pt>
                <c:pt idx="4">
                  <c:v>21767</c:v>
                </c:pt>
                <c:pt idx="5">
                  <c:v>67443</c:v>
                </c:pt>
                <c:pt idx="6">
                  <c:v>288278</c:v>
                </c:pt>
                <c:pt idx="7">
                  <c:v>555792</c:v>
                </c:pt>
                <c:pt idx="8">
                  <c:v>767662</c:v>
                </c:pt>
                <c:pt idx="9">
                  <c:v>837965</c:v>
                </c:pt>
                <c:pt idx="10">
                  <c:v>884909</c:v>
                </c:pt>
                <c:pt idx="11">
                  <c:v>874921</c:v>
                </c:pt>
                <c:pt idx="12">
                  <c:v>1024709</c:v>
                </c:pt>
                <c:pt idx="13">
                  <c:v>951271</c:v>
                </c:pt>
                <c:pt idx="14">
                  <c:v>970041</c:v>
                </c:pt>
                <c:pt idx="15">
                  <c:v>760299</c:v>
                </c:pt>
                <c:pt idx="16">
                  <c:v>895769</c:v>
                </c:pt>
                <c:pt idx="17">
                  <c:v>949453</c:v>
                </c:pt>
                <c:pt idx="18">
                  <c:v>1044955</c:v>
                </c:pt>
                <c:pt idx="19">
                  <c:v>1053728</c:v>
                </c:pt>
                <c:pt idx="20">
                  <c:v>716362</c:v>
                </c:pt>
                <c:pt idx="21">
                  <c:v>537525</c:v>
                </c:pt>
                <c:pt idx="22">
                  <c:v>386395</c:v>
                </c:pt>
                <c:pt idx="23">
                  <c:v>211953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1A-4200-8008-ED43AFC3F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5118608"/>
        <c:axId val="535115728"/>
      </c:lineChart>
      <c:line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Sum of Calories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139650</c:v>
                </c:pt>
                <c:pt idx="1">
                  <c:v>135217</c:v>
                </c:pt>
                <c:pt idx="2">
                  <c:v>132773</c:v>
                </c:pt>
                <c:pt idx="3">
                  <c:v>130591</c:v>
                </c:pt>
                <c:pt idx="4">
                  <c:v>131325</c:v>
                </c:pt>
                <c:pt idx="5">
                  <c:v>153738</c:v>
                </c:pt>
                <c:pt idx="6">
                  <c:v>161791</c:v>
                </c:pt>
                <c:pt idx="7">
                  <c:v>178074</c:v>
                </c:pt>
                <c:pt idx="8">
                  <c:v>194186</c:v>
                </c:pt>
                <c:pt idx="9">
                  <c:v>205197</c:v>
                </c:pt>
                <c:pt idx="10">
                  <c:v>208454</c:v>
                </c:pt>
                <c:pt idx="11">
                  <c:v>209695</c:v>
                </c:pt>
                <c:pt idx="12">
                  <c:v>221181</c:v>
                </c:pt>
                <c:pt idx="13">
                  <c:v>214319</c:v>
                </c:pt>
                <c:pt idx="14">
                  <c:v>217578</c:v>
                </c:pt>
                <c:pt idx="15">
                  <c:v>202742</c:v>
                </c:pt>
                <c:pt idx="16">
                  <c:v>212509</c:v>
                </c:pt>
                <c:pt idx="17">
                  <c:v>222839</c:v>
                </c:pt>
                <c:pt idx="18">
                  <c:v>226242</c:v>
                </c:pt>
                <c:pt idx="19">
                  <c:v>225579</c:v>
                </c:pt>
                <c:pt idx="20">
                  <c:v>196061</c:v>
                </c:pt>
                <c:pt idx="21">
                  <c:v>178656</c:v>
                </c:pt>
                <c:pt idx="22">
                  <c:v>163753</c:v>
                </c:pt>
                <c:pt idx="23">
                  <c:v>146142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1A-4200-8008-ED43AFC3F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1791376"/>
        <c:axId val="511787856"/>
      </c:lineChart>
      <c:catAx>
        <c:axId val="5351186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115728"/>
        <c:crosses val="autoZero"/>
        <c:auto val="1"/>
        <c:lblAlgn val="ctr"/>
        <c:lblOffset val="100"/>
        <c:noMultiLvlLbl val="0"/>
      </c:catAx>
      <c:valAx>
        <c:axId val="535115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Steps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,,\ &quot;M&quot;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118608"/>
        <c:crosses val="autoZero"/>
        <c:crossBetween val="between"/>
      </c:valAx>
      <c:valAx>
        <c:axId val="51178785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Calories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,,\ &quot;M&quot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1791376"/>
        <c:crosses val="max"/>
        <c:crossBetween val="between"/>
      </c:valAx>
      <c:catAx>
        <c:axId val="5117913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17878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0078D7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Total Steps vs Total Calories Burned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Calories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Sheet1!$A$2:$A$36</c:f>
              <c:numCache>
                <c:formatCode>General</c:formatCode>
                <c:ptCount val="35"/>
                <c:pt idx="0">
                  <c:v>596789</c:v>
                </c:pt>
                <c:pt idx="1">
                  <c:v>258360</c:v>
                </c:pt>
                <c:pt idx="2">
                  <c:v>311237</c:v>
                </c:pt>
                <c:pt idx="3">
                  <c:v>123669</c:v>
                </c:pt>
                <c:pt idx="4">
                  <c:v>54570</c:v>
                </c:pt>
                <c:pt idx="5">
                  <c:v>498589</c:v>
                </c:pt>
                <c:pt idx="6">
                  <c:v>213286</c:v>
                </c:pt>
                <c:pt idx="7">
                  <c:v>183884</c:v>
                </c:pt>
                <c:pt idx="8">
                  <c:v>318355</c:v>
                </c:pt>
                <c:pt idx="9">
                  <c:v>313868</c:v>
                </c:pt>
                <c:pt idx="10">
                  <c:v>6189</c:v>
                </c:pt>
                <c:pt idx="11">
                  <c:v>198508</c:v>
                </c:pt>
                <c:pt idx="12">
                  <c:v>433504</c:v>
                </c:pt>
                <c:pt idx="13">
                  <c:v>255135</c:v>
                </c:pt>
                <c:pt idx="14">
                  <c:v>75743</c:v>
                </c:pt>
                <c:pt idx="15">
                  <c:v>319181</c:v>
                </c:pt>
                <c:pt idx="16">
                  <c:v>335232</c:v>
                </c:pt>
                <c:pt idx="17">
                  <c:v>213089</c:v>
                </c:pt>
                <c:pt idx="18">
                  <c:v>307662</c:v>
                </c:pt>
                <c:pt idx="19">
                  <c:v>384885</c:v>
                </c:pt>
                <c:pt idx="20">
                  <c:v>367247</c:v>
                </c:pt>
                <c:pt idx="21">
                  <c:v>343823</c:v>
                </c:pt>
                <c:pt idx="22">
                  <c:v>279794</c:v>
                </c:pt>
                <c:pt idx="23">
                  <c:v>180018</c:v>
                </c:pt>
                <c:pt idx="24">
                  <c:v>12032</c:v>
                </c:pt>
                <c:pt idx="25">
                  <c:v>115543</c:v>
                </c:pt>
                <c:pt idx="26">
                  <c:v>480595</c:v>
                </c:pt>
                <c:pt idx="27">
                  <c:v>441533</c:v>
                </c:pt>
                <c:pt idx="28">
                  <c:v>363772</c:v>
                </c:pt>
                <c:pt idx="29">
                  <c:v>620950</c:v>
                </c:pt>
                <c:pt idx="30">
                  <c:v>151840</c:v>
                </c:pt>
                <c:pt idx="31">
                  <c:v>367872</c:v>
                </c:pt>
                <c:pt idx="32">
                  <c:v>247518</c:v>
                </c:pt>
                <c:pt idx="33">
                  <c:v>90897</c:v>
                </c:pt>
                <c:pt idx="34">
                  <c:v>706246</c:v>
                </c:pt>
              </c:numCache>
            </c:numRef>
          </c:xVal>
          <c:yVal>
            <c:numRef>
              <c:f>Sheet1!$B$2:$B$36</c:f>
              <c:numCache>
                <c:formatCode>General</c:formatCode>
                <c:ptCount val="35"/>
                <c:pt idx="0">
                  <c:v>90437</c:v>
                </c:pt>
                <c:pt idx="1">
                  <c:v>71689</c:v>
                </c:pt>
                <c:pt idx="2">
                  <c:v>113503</c:v>
                </c:pt>
                <c:pt idx="3">
                  <c:v>68169</c:v>
                </c:pt>
                <c:pt idx="4">
                  <c:v>94405</c:v>
                </c:pt>
                <c:pt idx="5">
                  <c:v>107513</c:v>
                </c:pt>
                <c:pt idx="6">
                  <c:v>64026</c:v>
                </c:pt>
                <c:pt idx="7">
                  <c:v>71834</c:v>
                </c:pt>
                <c:pt idx="8">
                  <c:v>67102</c:v>
                </c:pt>
                <c:pt idx="9">
                  <c:v>79775</c:v>
                </c:pt>
                <c:pt idx="10">
                  <c:v>18187</c:v>
                </c:pt>
                <c:pt idx="11">
                  <c:v>57265</c:v>
                </c:pt>
                <c:pt idx="12">
                  <c:v>62187</c:v>
                </c:pt>
                <c:pt idx="13">
                  <c:v>172372</c:v>
                </c:pt>
                <c:pt idx="14">
                  <c:v>68808</c:v>
                </c:pt>
                <c:pt idx="15">
                  <c:v>87099</c:v>
                </c:pt>
                <c:pt idx="16">
                  <c:v>110352</c:v>
                </c:pt>
                <c:pt idx="17">
                  <c:v>99389</c:v>
                </c:pt>
                <c:pt idx="18">
                  <c:v>84993</c:v>
                </c:pt>
                <c:pt idx="19">
                  <c:v>134254</c:v>
                </c:pt>
                <c:pt idx="20">
                  <c:v>79776</c:v>
                </c:pt>
                <c:pt idx="21">
                  <c:v>137092</c:v>
                </c:pt>
                <c:pt idx="22">
                  <c:v>84305</c:v>
                </c:pt>
                <c:pt idx="23">
                  <c:v>97045</c:v>
                </c:pt>
                <c:pt idx="24">
                  <c:v>15868</c:v>
                </c:pt>
                <c:pt idx="25">
                  <c:v>79949</c:v>
                </c:pt>
                <c:pt idx="26">
                  <c:v>90692</c:v>
                </c:pt>
                <c:pt idx="27">
                  <c:v>97669</c:v>
                </c:pt>
                <c:pt idx="28">
                  <c:v>105681</c:v>
                </c:pt>
                <c:pt idx="29">
                  <c:v>123145</c:v>
                </c:pt>
                <c:pt idx="30">
                  <c:v>51528</c:v>
                </c:pt>
                <c:pt idx="31">
                  <c:v>146808</c:v>
                </c:pt>
                <c:pt idx="32">
                  <c:v>103823</c:v>
                </c:pt>
                <c:pt idx="33">
                  <c:v>81791</c:v>
                </c:pt>
                <c:pt idx="34">
                  <c:v>147442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A8-435A-B625-DDD8D21D60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1475384"/>
        <c:axId val="511474744"/>
      </c:scatterChart>
      <c:valAx>
        <c:axId val="5114753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Total</a:t>
                </a:r>
                <a:r>
                  <a:rPr lang="en-IN" baseline="0" dirty="0"/>
                  <a:t> Steps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,,\ &quot;M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FF8C4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1474744"/>
        <c:crosses val="autoZero"/>
        <c:crossBetween val="midCat"/>
      </c:valAx>
      <c:valAx>
        <c:axId val="511474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Total</a:t>
                </a:r>
                <a:r>
                  <a:rPr lang="en-IN" baseline="0" dirty="0"/>
                  <a:t> Calories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,,\ &quot;M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FF8C4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1475384"/>
        <c:crosses val="autoZero"/>
        <c:crossBetween val="midCat"/>
      </c:valAx>
      <c:spPr>
        <a:noFill/>
        <a:ln>
          <a:solidFill>
            <a:srgbClr val="FF8C42"/>
          </a:solidFill>
          <a:prstDash val="solid"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FF8C4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Hourly Trend of Total Intensity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of TotalIntensity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2.2799999999999998</c:v>
                </c:pt>
                <c:pt idx="1">
                  <c:v>1.38</c:v>
                </c:pt>
                <c:pt idx="2">
                  <c:v>0.9</c:v>
                </c:pt>
                <c:pt idx="3">
                  <c:v>0.5</c:v>
                </c:pt>
                <c:pt idx="4">
                  <c:v>0.6</c:v>
                </c:pt>
                <c:pt idx="5">
                  <c:v>4.33</c:v>
                </c:pt>
                <c:pt idx="6">
                  <c:v>6.61</c:v>
                </c:pt>
                <c:pt idx="7">
                  <c:v>10.050000000000001</c:v>
                </c:pt>
                <c:pt idx="8">
                  <c:v>13.66</c:v>
                </c:pt>
                <c:pt idx="9">
                  <c:v>15.31</c:v>
                </c:pt>
                <c:pt idx="10">
                  <c:v>16.66</c:v>
                </c:pt>
                <c:pt idx="11">
                  <c:v>16.77</c:v>
                </c:pt>
                <c:pt idx="12">
                  <c:v>19.170000000000002</c:v>
                </c:pt>
                <c:pt idx="13">
                  <c:v>17.48</c:v>
                </c:pt>
                <c:pt idx="14">
                  <c:v>17.91</c:v>
                </c:pt>
                <c:pt idx="15">
                  <c:v>15.27</c:v>
                </c:pt>
                <c:pt idx="16">
                  <c:v>17.05</c:v>
                </c:pt>
                <c:pt idx="17">
                  <c:v>19.64</c:v>
                </c:pt>
                <c:pt idx="18">
                  <c:v>20.14</c:v>
                </c:pt>
                <c:pt idx="19">
                  <c:v>20.27</c:v>
                </c:pt>
                <c:pt idx="20">
                  <c:v>14.65</c:v>
                </c:pt>
                <c:pt idx="21">
                  <c:v>11.17</c:v>
                </c:pt>
                <c:pt idx="22">
                  <c:v>8.1999999999999993</c:v>
                </c:pt>
                <c:pt idx="23">
                  <c:v>4.7699999999999996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29-4077-BB14-69FBEE862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0142160"/>
        <c:axId val="460142480"/>
      </c:lineChart>
      <c:catAx>
        <c:axId val="4601421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0142480"/>
        <c:crosses val="autoZero"/>
        <c:auto val="1"/>
        <c:lblAlgn val="ctr"/>
        <c:lblOffset val="100"/>
        <c:tickLblSkip val="2"/>
        <c:noMultiLvlLbl val="0"/>
      </c:catAx>
      <c:valAx>
        <c:axId val="460142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0" i="0" baseline="0" dirty="0">
                    <a:effectLst/>
                  </a:rPr>
                  <a:t>Average of Intensity</a:t>
                </a:r>
                <a:endParaRPr lang="en-IN" sz="14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0142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0078D7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Activity Balance: Sedentary vs Active Minutes</a:t>
            </a:r>
            <a:endParaRPr lang="en-IN" baseline="0" dirty="0"/>
          </a:p>
        </c:rich>
      </c:tx>
      <c:layout>
        <c:manualLayout>
          <c:xMode val="edge"/>
          <c:yMode val="edge"/>
          <c:x val="0.1244816239316239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215-4EBF-B58F-745CAB6DE2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215-4EBF-B58F-745CAB6DE254}"/>
              </c:ext>
            </c:extLst>
          </c:dPt>
          <c:dLbls>
            <c:dLbl>
              <c:idx val="0"/>
              <c:layout>
                <c:manualLayout>
                  <c:x val="0.19745222929936293"/>
                  <c:y val="1.8242623444385422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8454FA8-263E-460A-BEB9-BF37AB9CF79C}" type="VALUE">
                      <a:rPr lang="en-US" smtClean="0"/>
                      <a:pPr>
                        <a:defRPr/>
                      </a:pPr>
                      <a:t>[VALUE]</a:t>
                    </a:fld>
                    <a:r>
                      <a:rPr lang="en-US" dirty="0"/>
                      <a:t>, 81.96%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81370680575756"/>
                      <c:h val="0.1905259592531613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215-4EBF-B58F-745CAB6DE254}"/>
                </c:ext>
              </c:extLst>
            </c:dLbl>
            <c:dLbl>
              <c:idx val="1"/>
              <c:layout>
                <c:manualLayout>
                  <c:x val="-0.16560509554140126"/>
                  <c:y val="-6.9321969088664642E-2"/>
                </c:manualLayout>
              </c:layout>
              <c:tx>
                <c:rich>
                  <a:bodyPr/>
                  <a:lstStyle/>
                  <a:p>
                    <a:fld id="{B6341F65-1640-43BD-8656-3F005C7100AA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, 18.04%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215-4EBF-B58F-745CAB6DE254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Average Sedentary Minutes</c:v>
                </c:pt>
                <c:pt idx="1">
                  <c:v>Average Active Minutes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993</c:v>
                </c:pt>
                <c:pt idx="1">
                  <c:v>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86-4E91-893E-286AB76748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95A5A6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User Distribution by Sleep Quality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913289331480623"/>
          <c:y val="0.16683213301288016"/>
          <c:w val="0.6128267330554269"/>
          <c:h val="0.7297578354060291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Sleep Quality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5E-461A-9CB1-27CE662DCB0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15E-461A-9CB1-27CE662DCB0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15E-461A-9CB1-27CE662DCB0C}"/>
              </c:ext>
            </c:extLst>
          </c:dPt>
          <c:dLbls>
            <c:dLbl>
              <c:idx val="0"/>
              <c:layout>
                <c:manualLayout>
                  <c:x val="8.8099897767259308E-2"/>
                  <c:y val="-0.1201907549409501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5795879919083522"/>
                      <c:h val="8.69264124929884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15E-461A-9CB1-27CE662DCB0C}"/>
                </c:ext>
              </c:extLst>
            </c:dLbl>
            <c:dLbl>
              <c:idx val="1"/>
              <c:layout>
                <c:manualLayout>
                  <c:x val="-0.11308345086543729"/>
                  <c:y val="5.7233692829023741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5E-461A-9CB1-27CE662DCB0C}"/>
                </c:ext>
              </c:extLst>
            </c:dLbl>
            <c:dLbl>
              <c:idx val="2"/>
              <c:layout>
                <c:manualLayout>
                  <c:x val="-0.14990131858906808"/>
                  <c:y val="-2.2893477131609587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5E-461A-9CB1-27CE662DCB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6-8 hr</c:v>
                </c:pt>
                <c:pt idx="1">
                  <c:v>&lt;6 hr</c:v>
                </c:pt>
                <c:pt idx="2">
                  <c:v>&gt;8 hr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369</c:v>
                </c:pt>
                <c:pt idx="1">
                  <c:v>270</c:v>
                </c:pt>
                <c:pt idx="2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AB-4822-A7DF-7D79F71C6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589644125366678"/>
          <c:y val="0.65810010622020165"/>
          <c:w val="0.11792708815809788"/>
          <c:h val="0.179180748542172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2ECC7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>
                <a:effectLst/>
              </a:rPr>
              <a:t>Sleep Patterns by Weekday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Sum of TotalMinutesAsleep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</c:dPt>
          <c:dLbls>
            <c:numFmt formatCode="#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56648</c:v>
                </c:pt>
                <c:pt idx="1">
                  <c:v>48594</c:v>
                </c:pt>
                <c:pt idx="2">
                  <c:v>50651</c:v>
                </c:pt>
                <c:pt idx="3">
                  <c:v>53257</c:v>
                </c:pt>
                <c:pt idx="4">
                  <c:v>47629</c:v>
                </c:pt>
                <c:pt idx="5">
                  <c:v>43319</c:v>
                </c:pt>
                <c:pt idx="6">
                  <c:v>55109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6-415C-A097-8BBB8F109E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7"/>
        <c:axId val="535124368"/>
        <c:axId val="535130128"/>
      </c:barChart>
      <c:catAx>
        <c:axId val="535124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130128"/>
        <c:crosses val="autoZero"/>
        <c:auto val="1"/>
        <c:lblAlgn val="ctr"/>
        <c:lblOffset val="100"/>
        <c:noMultiLvlLbl val="0"/>
      </c:catAx>
      <c:valAx>
        <c:axId val="535130128"/>
        <c:scaling>
          <c:orientation val="minMax"/>
          <c:max val="70000"/>
          <c:min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\K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12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2ECC7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Number of Users by BMI Category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BMI Category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AF9-4CB6-AE10-4CA863766F1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Normal weight</c:v>
                </c:pt>
                <c:pt idx="1">
                  <c:v>Overweight</c:v>
                </c:pt>
                <c:pt idx="2">
                  <c:v>Obese (Class II)</c:v>
                </c:pt>
                <c:pt idx="3">
                  <c:v>Obese (Class I)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</c:v>
                </c:pt>
                <c:pt idx="1">
                  <c:v>45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A8-4DDF-97E1-7CB12A35A9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690189904"/>
        <c:axId val="690190224"/>
      </c:barChart>
      <c:catAx>
        <c:axId val="690189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0190224"/>
        <c:crosses val="autoZero"/>
        <c:auto val="1"/>
        <c:lblAlgn val="ctr"/>
        <c:lblOffset val="100"/>
        <c:noMultiLvlLbl val="0"/>
      </c:catAx>
      <c:valAx>
        <c:axId val="690190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018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9B59B6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Average Weight vs. Average BMI Distribution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of BMI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Sheet1!$A$2:$A$14</c:f>
              <c:numCache>
                <c:formatCode>General</c:formatCode>
                <c:ptCount val="13"/>
                <c:pt idx="0">
                  <c:v>53</c:v>
                </c:pt>
                <c:pt idx="1">
                  <c:v>132</c:v>
                </c:pt>
                <c:pt idx="2">
                  <c:v>63</c:v>
                </c:pt>
                <c:pt idx="3">
                  <c:v>57</c:v>
                </c:pt>
                <c:pt idx="4">
                  <c:v>88</c:v>
                </c:pt>
                <c:pt idx="5">
                  <c:v>72</c:v>
                </c:pt>
                <c:pt idx="6">
                  <c:v>92</c:v>
                </c:pt>
                <c:pt idx="7">
                  <c:v>69.5</c:v>
                </c:pt>
                <c:pt idx="8">
                  <c:v>100</c:v>
                </c:pt>
                <c:pt idx="9">
                  <c:v>91</c:v>
                </c:pt>
                <c:pt idx="10" formatCode="0.00">
                  <c:v>61.636363636363598</c:v>
                </c:pt>
                <c:pt idx="11">
                  <c:v>76</c:v>
                </c:pt>
                <c:pt idx="12" formatCode="0.00">
                  <c:v>85.303030303030297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23</c:v>
                </c:pt>
                <c:pt idx="1">
                  <c:v>47</c:v>
                </c:pt>
                <c:pt idx="2">
                  <c:v>25</c:v>
                </c:pt>
                <c:pt idx="3">
                  <c:v>22</c:v>
                </c:pt>
                <c:pt idx="4">
                  <c:v>25</c:v>
                </c:pt>
                <c:pt idx="5">
                  <c:v>27.5</c:v>
                </c:pt>
                <c:pt idx="6">
                  <c:v>35</c:v>
                </c:pt>
                <c:pt idx="7" formatCode="0.00">
                  <c:v>27.1666666666666</c:v>
                </c:pt>
                <c:pt idx="8">
                  <c:v>26</c:v>
                </c:pt>
                <c:pt idx="9">
                  <c:v>28</c:v>
                </c:pt>
                <c:pt idx="10">
                  <c:v>24</c:v>
                </c:pt>
                <c:pt idx="11">
                  <c:v>30</c:v>
                </c:pt>
                <c:pt idx="12" formatCode="0.00">
                  <c:v>25.6969696969696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D02-4B42-830C-91E3DF116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2435064"/>
        <c:axId val="522431544"/>
      </c:scatterChart>
      <c:valAx>
        <c:axId val="5224350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Average</a:t>
                </a:r>
                <a:r>
                  <a:rPr lang="en-IN" baseline="0" dirty="0"/>
                  <a:t> of Weight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2431544"/>
        <c:crosses val="autoZero"/>
        <c:crossBetween val="midCat"/>
      </c:valAx>
      <c:valAx>
        <c:axId val="522431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Average</a:t>
                </a:r>
                <a:r>
                  <a:rPr lang="en-IN" baseline="0" dirty="0"/>
                  <a:t> of BMI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24350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9B59B6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Smart Device Usage Breakdown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 Count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EC6-4BF5-A807-D5E79BD168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EC6-4BF5-A807-D5E79BD168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EC6-4BF5-A807-D5E79BD1689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EC6-4BF5-A807-D5E79BD16896}"/>
              </c:ext>
            </c:extLst>
          </c:dPt>
          <c:dLbls>
            <c:dLbl>
              <c:idx val="0"/>
              <c:layout>
                <c:manualLayout>
                  <c:x val="0.12009803921568628"/>
                  <c:y val="-2.626778246139463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7EC6-4BF5-A807-D5E79BD16896}"/>
                </c:ext>
              </c:extLst>
            </c:dLbl>
            <c:dLbl>
              <c:idx val="1"/>
              <c:layout>
                <c:manualLayout>
                  <c:x val="-0.14950980392156862"/>
                  <c:y val="2.918642495710514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7EC6-4BF5-A807-D5E79BD16896}"/>
                </c:ext>
              </c:extLst>
            </c:dLbl>
            <c:dLbl>
              <c:idx val="2"/>
              <c:layout>
                <c:manualLayout>
                  <c:x val="-0.13725490196078433"/>
                  <c:y val="-1.75118549742630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7EC6-4BF5-A807-D5E79BD16896}"/>
                </c:ext>
              </c:extLst>
            </c:dLbl>
            <c:dLbl>
              <c:idx val="3"/>
              <c:layout>
                <c:manualLayout>
                  <c:x val="-0.12990196078431374"/>
                  <c:y val="-6.71287774013418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7EC6-4BF5-A807-D5E79BD16896}"/>
                </c:ext>
              </c:extLst>
            </c:dLbl>
            <c:spPr>
              <a:solidFill>
                <a:prstClr val="white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Steps</c:v>
                </c:pt>
                <c:pt idx="1">
                  <c:v>Sleep</c:v>
                </c:pt>
                <c:pt idx="2">
                  <c:v>Heart rate</c:v>
                </c:pt>
                <c:pt idx="3">
                  <c:v>Weight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EC6-4BF5-A807-D5E79BD168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4A4A4A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>
                <a:effectLst/>
              </a:rPr>
              <a:t>Hourly Heart rate vs Calories Burnt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of Value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67.84</c:v>
                </c:pt>
                <c:pt idx="1">
                  <c:v>66.75</c:v>
                </c:pt>
                <c:pt idx="2">
                  <c:v>64.430000000000007</c:v>
                </c:pt>
                <c:pt idx="3">
                  <c:v>61.96</c:v>
                </c:pt>
                <c:pt idx="4">
                  <c:v>61.04</c:v>
                </c:pt>
                <c:pt idx="5">
                  <c:v>63.49</c:v>
                </c:pt>
                <c:pt idx="6">
                  <c:v>73.22</c:v>
                </c:pt>
                <c:pt idx="7">
                  <c:v>75.7</c:v>
                </c:pt>
                <c:pt idx="8">
                  <c:v>77.59</c:v>
                </c:pt>
                <c:pt idx="9">
                  <c:v>80.83</c:v>
                </c:pt>
                <c:pt idx="10">
                  <c:v>80.959999999999994</c:v>
                </c:pt>
                <c:pt idx="11">
                  <c:v>81.17</c:v>
                </c:pt>
                <c:pt idx="12">
                  <c:v>83.81</c:v>
                </c:pt>
                <c:pt idx="13">
                  <c:v>81.75</c:v>
                </c:pt>
                <c:pt idx="14">
                  <c:v>82.32</c:v>
                </c:pt>
                <c:pt idx="15">
                  <c:v>81.34</c:v>
                </c:pt>
                <c:pt idx="16">
                  <c:v>86.19</c:v>
                </c:pt>
                <c:pt idx="17">
                  <c:v>84.68</c:v>
                </c:pt>
                <c:pt idx="18">
                  <c:v>85.59</c:v>
                </c:pt>
                <c:pt idx="19">
                  <c:v>84.39</c:v>
                </c:pt>
                <c:pt idx="20">
                  <c:v>79.97</c:v>
                </c:pt>
                <c:pt idx="21">
                  <c:v>76.25</c:v>
                </c:pt>
                <c:pt idx="22">
                  <c:v>73.17</c:v>
                </c:pt>
                <c:pt idx="23">
                  <c:v>70.09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D1-4E50-9F11-1A596CCE9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90193744"/>
        <c:axId val="690192784"/>
      </c:lineChart>
      <c:line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Total Calories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139650</c:v>
                </c:pt>
                <c:pt idx="1">
                  <c:v>135217</c:v>
                </c:pt>
                <c:pt idx="2">
                  <c:v>132773</c:v>
                </c:pt>
                <c:pt idx="3">
                  <c:v>130591</c:v>
                </c:pt>
                <c:pt idx="4">
                  <c:v>131325</c:v>
                </c:pt>
                <c:pt idx="5">
                  <c:v>153738</c:v>
                </c:pt>
                <c:pt idx="6">
                  <c:v>161791</c:v>
                </c:pt>
                <c:pt idx="7">
                  <c:v>178074</c:v>
                </c:pt>
                <c:pt idx="8">
                  <c:v>194186</c:v>
                </c:pt>
                <c:pt idx="9">
                  <c:v>205197</c:v>
                </c:pt>
                <c:pt idx="10">
                  <c:v>208454</c:v>
                </c:pt>
                <c:pt idx="11">
                  <c:v>209695</c:v>
                </c:pt>
                <c:pt idx="12">
                  <c:v>221181</c:v>
                </c:pt>
                <c:pt idx="13">
                  <c:v>214319</c:v>
                </c:pt>
                <c:pt idx="14">
                  <c:v>217578</c:v>
                </c:pt>
                <c:pt idx="15">
                  <c:v>202742</c:v>
                </c:pt>
                <c:pt idx="16">
                  <c:v>212509</c:v>
                </c:pt>
                <c:pt idx="17">
                  <c:v>222839</c:v>
                </c:pt>
                <c:pt idx="18">
                  <c:v>226242</c:v>
                </c:pt>
                <c:pt idx="19">
                  <c:v>225579</c:v>
                </c:pt>
                <c:pt idx="20">
                  <c:v>196061</c:v>
                </c:pt>
                <c:pt idx="21">
                  <c:v>178656</c:v>
                </c:pt>
                <c:pt idx="22">
                  <c:v>163753</c:v>
                </c:pt>
                <c:pt idx="23">
                  <c:v>146142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D1-4E50-9F11-1A596CCE9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9511792"/>
        <c:axId val="419511152"/>
      </c:lineChart>
      <c:catAx>
        <c:axId val="6901937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0192784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690192784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Average</a:t>
                </a:r>
                <a:r>
                  <a:rPr lang="en-IN" baseline="0" dirty="0"/>
                  <a:t> of Heart rate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0193744"/>
        <c:crosses val="autoZero"/>
        <c:crossBetween val="between"/>
      </c:valAx>
      <c:valAx>
        <c:axId val="419511152"/>
        <c:scaling>
          <c:orientation val="minMax"/>
          <c:min val="10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Total</a:t>
                </a:r>
                <a:r>
                  <a:rPr lang="en-IN" baseline="0" dirty="0"/>
                  <a:t> Calories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#,\K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9511792"/>
        <c:crosses val="max"/>
        <c:crossBetween val="between"/>
      </c:valAx>
      <c:catAx>
        <c:axId val="4195117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195111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E74C3C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>
                <a:effectLst/>
              </a:rPr>
              <a:t>Hourly Heart rate vs Steps</a:t>
            </a:r>
            <a:endParaRPr lang="en-IN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67.84</c:v>
                </c:pt>
                <c:pt idx="1">
                  <c:v>66.75</c:v>
                </c:pt>
                <c:pt idx="2">
                  <c:v>64.430000000000007</c:v>
                </c:pt>
                <c:pt idx="3">
                  <c:v>61.96</c:v>
                </c:pt>
                <c:pt idx="4">
                  <c:v>61.04</c:v>
                </c:pt>
                <c:pt idx="5">
                  <c:v>63.49</c:v>
                </c:pt>
                <c:pt idx="6">
                  <c:v>73.22</c:v>
                </c:pt>
                <c:pt idx="7">
                  <c:v>75.7</c:v>
                </c:pt>
                <c:pt idx="8">
                  <c:v>77.59</c:v>
                </c:pt>
                <c:pt idx="9">
                  <c:v>80.83</c:v>
                </c:pt>
                <c:pt idx="10">
                  <c:v>80.959999999999994</c:v>
                </c:pt>
                <c:pt idx="11">
                  <c:v>81.17</c:v>
                </c:pt>
                <c:pt idx="12">
                  <c:v>83.81</c:v>
                </c:pt>
                <c:pt idx="13">
                  <c:v>81.75</c:v>
                </c:pt>
                <c:pt idx="14">
                  <c:v>82.32</c:v>
                </c:pt>
                <c:pt idx="15">
                  <c:v>81.34</c:v>
                </c:pt>
                <c:pt idx="16">
                  <c:v>86.19</c:v>
                </c:pt>
                <c:pt idx="17">
                  <c:v>84.68</c:v>
                </c:pt>
                <c:pt idx="18">
                  <c:v>85.59</c:v>
                </c:pt>
                <c:pt idx="19">
                  <c:v>84.39</c:v>
                </c:pt>
                <c:pt idx="20">
                  <c:v>79.97</c:v>
                </c:pt>
                <c:pt idx="21">
                  <c:v>76.25</c:v>
                </c:pt>
                <c:pt idx="22">
                  <c:v>73.17</c:v>
                </c:pt>
                <c:pt idx="23">
                  <c:v>70.09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9A-4CBE-8955-38BEA0B8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8963192"/>
        <c:axId val="57896671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 Steps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84758</c:v>
                </c:pt>
                <c:pt idx="1">
                  <c:v>42470</c:v>
                </c:pt>
                <c:pt idx="2">
                  <c:v>26775</c:v>
                </c:pt>
                <c:pt idx="3">
                  <c:v>13447</c:v>
                </c:pt>
                <c:pt idx="4">
                  <c:v>21767</c:v>
                </c:pt>
                <c:pt idx="5">
                  <c:v>67443</c:v>
                </c:pt>
                <c:pt idx="6">
                  <c:v>288278</c:v>
                </c:pt>
                <c:pt idx="7">
                  <c:v>555792</c:v>
                </c:pt>
                <c:pt idx="8">
                  <c:v>767662</c:v>
                </c:pt>
                <c:pt idx="9">
                  <c:v>837965</c:v>
                </c:pt>
                <c:pt idx="10">
                  <c:v>884909</c:v>
                </c:pt>
                <c:pt idx="11">
                  <c:v>874921</c:v>
                </c:pt>
                <c:pt idx="12">
                  <c:v>1024709</c:v>
                </c:pt>
                <c:pt idx="13">
                  <c:v>951271</c:v>
                </c:pt>
                <c:pt idx="14">
                  <c:v>970041</c:v>
                </c:pt>
                <c:pt idx="15">
                  <c:v>760299</c:v>
                </c:pt>
                <c:pt idx="16">
                  <c:v>895769</c:v>
                </c:pt>
                <c:pt idx="17">
                  <c:v>949453</c:v>
                </c:pt>
                <c:pt idx="18">
                  <c:v>1044955</c:v>
                </c:pt>
                <c:pt idx="19">
                  <c:v>1053728</c:v>
                </c:pt>
                <c:pt idx="20">
                  <c:v>716362</c:v>
                </c:pt>
                <c:pt idx="21">
                  <c:v>537525</c:v>
                </c:pt>
                <c:pt idx="22">
                  <c:v>386395</c:v>
                </c:pt>
                <c:pt idx="23">
                  <c:v>211953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9A-4CBE-8955-38BEA0B8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7308560"/>
        <c:axId val="513870224"/>
      </c:lineChart>
      <c:catAx>
        <c:axId val="578963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966712"/>
        <c:crosses val="autoZero"/>
        <c:auto val="1"/>
        <c:lblAlgn val="ctr"/>
        <c:lblOffset val="100"/>
        <c:noMultiLvlLbl val="0"/>
      </c:catAx>
      <c:valAx>
        <c:axId val="578966712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Average</a:t>
                </a:r>
                <a:r>
                  <a:rPr lang="en-IN" baseline="0" dirty="0"/>
                  <a:t> of Heart rate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963192"/>
        <c:crosses val="autoZero"/>
        <c:crossBetween val="between"/>
      </c:valAx>
      <c:valAx>
        <c:axId val="513870224"/>
        <c:scaling>
          <c:orientation val="minMax"/>
          <c:max val="120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Total</a:t>
                </a:r>
                <a:r>
                  <a:rPr lang="en-IN" baseline="0" dirty="0"/>
                  <a:t> Steps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#,\K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7308560"/>
        <c:crosses val="max"/>
        <c:crossBetween val="between"/>
      </c:valAx>
      <c:catAx>
        <c:axId val="5173085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38702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E74C3C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D3144-E476-4E6B-B50B-9740C2591C93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4AC38-605A-4643-A502-D0FDD1435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648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28133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72018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87790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53099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6307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96831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25164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18260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79862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77322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54342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471951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68756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9830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4235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17379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5338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88F3BA5-362E-4218-BD13-CB0B8BC6F3A5}" type="datetimeFigureOut">
              <a:rPr lang="en-IN" smtClean="0"/>
              <a:t>07/09/2025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7205C-BA3C-4522-AEAB-2011177CF9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927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2FB6-0937-4AF0-9005-6D8A542F2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998290"/>
            <a:ext cx="8825658" cy="86142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Bellabeat Smart Device Usage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6937D-52FA-4A1C-8E89-7B7883AB5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105576"/>
            <a:ext cx="8825658" cy="86142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1" dirty="0">
                <a:solidFill>
                  <a:srgbClr val="4A4A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Sleep • Steps • Calories • BMI • Heart Rate</a:t>
            </a:r>
          </a:p>
          <a:p>
            <a:pPr marR="0" lvl="0" algn="l" fontAlgn="base"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4A4A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Prepared by: Aishwaray Shinde</a:t>
            </a:r>
          </a:p>
          <a:p>
            <a:pPr marR="0" lvl="0" algn="l" fontAlgn="base"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4A4A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Date: 7 Sept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9652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7B65-5BCA-43C4-9EEE-2D9AB6EC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A9BCC-DFA1-4CED-94BC-01E680852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5118100"/>
          </a:xfrm>
        </p:spPr>
        <p:txBody>
          <a:bodyPr>
            <a:normAutofit fontScale="25000" lnSpcReduction="20000"/>
          </a:bodyPr>
          <a:lstStyle/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Introduction &amp; Objectives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Dataset Overview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Methodology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User Activity Patterns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Calorie Burn &amp; Intensity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Sedentary vs Active Time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Average Calories Burned per Day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Peak Calorie Burn Hours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Sleep Analysis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BMI &amp; Weight Insights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Device Usage Insights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Heart Rate Analysis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Recommendations</a:t>
            </a:r>
          </a:p>
          <a:p>
            <a:r>
              <a:rPr lang="en-IN" sz="8000" dirty="0">
                <a:solidFill>
                  <a:srgbClr val="4A4A4A"/>
                </a:solidFill>
                <a:cs typeface="Segoe UI" panose="020B0502040204020203" pitchFamily="34" charset="0"/>
              </a:rPr>
              <a:t>Conclusion</a:t>
            </a:r>
          </a:p>
          <a:p>
            <a:endParaRPr lang="en-IN" sz="2400" b="1" dirty="0">
              <a:solidFill>
                <a:srgbClr val="0078D7"/>
              </a:solidFill>
              <a:latin typeface="Segoe UI"/>
              <a:ea typeface="+mj-ea"/>
              <a:cs typeface="+mj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615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6211-ECDC-4275-A515-1A27F6D1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9"/>
            <a:ext cx="9404723" cy="690282"/>
          </a:xfrm>
        </p:spPr>
        <p:txBody>
          <a:bodyPr/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5F3558-3F47-4EED-915B-6723C5F028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655332"/>
            <a:ext cx="731642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4A4A4A"/>
                </a:solidFill>
                <a:cs typeface="Segoe UI" panose="020B0502040204020203" pitchFamily="34" charset="0"/>
              </a:rPr>
              <a:t>Analyze smart device usage to understand user activity patterns.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4A4A4A"/>
                </a:solidFill>
                <a:cs typeface="Segoe UI" panose="020B0502040204020203" pitchFamily="34" charset="0"/>
              </a:rPr>
              <a:t>Identify trends in steps, calories, and engagement.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4A4A4A"/>
                </a:solidFill>
                <a:ea typeface="+mj-ea"/>
                <a:cs typeface="Segoe UI" panose="020B0502040204020203" pitchFamily="34" charset="0"/>
              </a:rPr>
              <a:t>Provide actionable recommendations to improve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8831346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9739-5CB7-428C-8E2D-871B10904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3754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Overview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47D894-0420-4A68-BA8A-343EE81A9D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877" y="1562026"/>
            <a:ext cx="81147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b="0" dirty="0">
                <a:solidFill>
                  <a:srgbClr val="4A4A4A"/>
                </a:solidFill>
              </a:rPr>
              <a:t>Data Source: Bellabeat smart device usage dataset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0" dirty="0">
                <a:solidFill>
                  <a:srgbClr val="4A4A4A"/>
                </a:solidFill>
              </a:rPr>
              <a:t>Period: </a:t>
            </a:r>
            <a:r>
              <a:rPr lang="en-IN" sz="2000" b="0" dirty="0">
                <a:solidFill>
                  <a:srgbClr val="4A4A4A"/>
                </a:solidFill>
              </a:rPr>
              <a:t>March to May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0" dirty="0">
                <a:solidFill>
                  <a:srgbClr val="4A4A4A"/>
                </a:solidFill>
              </a:rPr>
              <a:t>Key metrics tracked: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</a:rPr>
              <a:t>BMI, Weight, Steps, Calories Burned, Sleep Patterns</a:t>
            </a:r>
            <a:endParaRPr lang="en-US" altLang="en-US" sz="1800" dirty="0">
              <a:solidFill>
                <a:srgbClr val="4A4A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9957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8F6A-4AE2-4EC1-8022-62252D9E3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4D94D3-AC5C-4DED-B1FB-E688150084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16345"/>
            <a:ext cx="856705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</a:rPr>
              <a:t>Data Cleaning – Removing duplicates, handling missing values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</a:rPr>
              <a:t>Data Transformation – Creating measures and KPIs in DAX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</a:rPr>
              <a:t>Visualization – Power BI dashboards for trends and insights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</a:rPr>
              <a:t>Analysis – Understanding activity levels, peak usage, and correlations</a:t>
            </a:r>
          </a:p>
        </p:txBody>
      </p:sp>
    </p:spTree>
    <p:extLst>
      <p:ext uri="{BB962C8B-B14F-4D97-AF65-F5344CB8AC3E}">
        <p14:creationId xmlns:p14="http://schemas.microsoft.com/office/powerpoint/2010/main" val="1524974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8864-9BE6-4FE0-8E0D-54F8FA43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Average Active Tracking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B8F8-D9E4-43BF-B5F7-5BBC523ECB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Average Active Tracking Days per User: 39 days.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This suggests that, on average, users engage with their Bellabeat device for around 5–6 weeks.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It could indicate short- to medium-term engagement, meaning users may not consistently track their activity throughout the entire period.</a:t>
            </a:r>
            <a:endParaRPr lang="en-IN" sz="1800" dirty="0">
              <a:solidFill>
                <a:srgbClr val="4A4A4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CA1F7F-B914-431C-991C-C81F85EAACD5}"/>
              </a:ext>
            </a:extLst>
          </p:cNvPr>
          <p:cNvSpPr/>
          <p:nvPr/>
        </p:nvSpPr>
        <p:spPr>
          <a:xfrm>
            <a:off x="6988133" y="2209630"/>
            <a:ext cx="3062701" cy="2438740"/>
          </a:xfrm>
          <a:prstGeom prst="roundRect">
            <a:avLst/>
          </a:prstGeom>
          <a:solidFill>
            <a:srgbClr val="FFFFFF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39</a:t>
            </a:r>
            <a:endParaRPr lang="en-IN" sz="3200" b="1" dirty="0"/>
          </a:p>
          <a:p>
            <a:pPr algn="ctr"/>
            <a:r>
              <a:rPr lang="en-IN" sz="2000" dirty="0">
                <a:solidFill>
                  <a:srgbClr val="0078D7"/>
                </a:solidFill>
              </a:rPr>
              <a:t>Avg Active Tracking Days per user </a:t>
            </a:r>
          </a:p>
        </p:txBody>
      </p:sp>
    </p:spTree>
    <p:extLst>
      <p:ext uri="{BB962C8B-B14F-4D97-AF65-F5344CB8AC3E}">
        <p14:creationId xmlns:p14="http://schemas.microsoft.com/office/powerpoint/2010/main" val="411148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25F9C98-6567-4CF1-934B-4FD2A32F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en-IN" sz="3200" b="1" dirty="0">
                <a:solidFill>
                  <a:srgbClr val="0078D7"/>
                </a:solidFill>
              </a:rPr>
              <a:t> </a:t>
            </a:r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r>
              <a:rPr lang="en-IN" sz="3200" b="1" dirty="0">
                <a:solidFill>
                  <a:srgbClr val="0078D7"/>
                </a:solidFill>
              </a:rPr>
              <a:t> </a:t>
            </a:r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EB561607-E44C-4060-80E2-D12DC8CF4EA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230169"/>
            <a:ext cx="52578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4A4A4A"/>
                </a:solidFill>
              </a:rPr>
              <a:t>Users collectively recorded 10M steps in the analysis period.</a:t>
            </a:r>
            <a:endParaRPr lang="en-US" altLang="en-US" sz="2000" dirty="0">
              <a:solidFill>
                <a:srgbClr val="4A4A4A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4A4A4A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solidFill>
                  <a:srgbClr val="4A4A4A"/>
                </a:solidFill>
              </a:rPr>
              <a:t>Average steps per day: ~164K total across all users.</a:t>
            </a:r>
            <a:endParaRPr lang="en-US" altLang="en-US" sz="2000" dirty="0">
              <a:solidFill>
                <a:srgbClr val="4A4A4A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A4A4A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A4A4A"/>
                </a:solidFill>
                <a:effectLst/>
              </a:rPr>
              <a:t>This indicates high engagement with Bellabeat devices, showing users are actively tracking their daily movement.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80307D7-621B-4B0B-8E3C-D3B8764D4692}"/>
              </a:ext>
            </a:extLst>
          </p:cNvPr>
          <p:cNvSpPr/>
          <p:nvPr/>
        </p:nvSpPr>
        <p:spPr>
          <a:xfrm>
            <a:off x="6359199" y="2859832"/>
            <a:ext cx="1810139" cy="1138335"/>
          </a:xfrm>
          <a:prstGeom prst="roundRect">
            <a:avLst/>
          </a:prstGeom>
          <a:solidFill>
            <a:srgbClr val="FFFFFF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10M</a:t>
            </a:r>
          </a:p>
          <a:p>
            <a:pPr algn="ctr"/>
            <a:r>
              <a:rPr lang="en-IN" sz="2000" dirty="0">
                <a:solidFill>
                  <a:srgbClr val="0078D7"/>
                </a:solidFill>
              </a:rPr>
              <a:t>Total Steps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AB30D3-86F9-4E27-98FC-7D8BB329ABB2}"/>
              </a:ext>
            </a:extLst>
          </p:cNvPr>
          <p:cNvSpPr/>
          <p:nvPr/>
        </p:nvSpPr>
        <p:spPr>
          <a:xfrm>
            <a:off x="8806930" y="2859831"/>
            <a:ext cx="2119216" cy="1138335"/>
          </a:xfrm>
          <a:prstGeom prst="roundRect">
            <a:avLst/>
          </a:prstGeom>
          <a:solidFill>
            <a:srgbClr val="FFFFFF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164K</a:t>
            </a:r>
          </a:p>
          <a:p>
            <a:pPr algn="ctr"/>
            <a:r>
              <a:rPr lang="en-IN" sz="2000" dirty="0">
                <a:solidFill>
                  <a:srgbClr val="0078D7"/>
                </a:solidFill>
              </a:rPr>
              <a:t>Avg Total Steps</a:t>
            </a:r>
          </a:p>
        </p:txBody>
      </p:sp>
    </p:spTree>
    <p:extLst>
      <p:ext uri="{BB962C8B-B14F-4D97-AF65-F5344CB8AC3E}">
        <p14:creationId xmlns:p14="http://schemas.microsoft.com/office/powerpoint/2010/main" val="673149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2CAB-F2CE-4FDC-B90F-C1525458F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Hourly Walking Activity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4A2F2-3FD7-499A-86ED-E2F7FFC61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4765" y="4651003"/>
            <a:ext cx="10433180" cy="1749797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4A4A4A"/>
                </a:solidFill>
              </a:rPr>
              <a:t>Step activity peaks twice → 12 PM–1 PM and 6 PM–7 PM.</a:t>
            </a:r>
          </a:p>
          <a:p>
            <a:r>
              <a:rPr lang="en-US" sz="2000" dirty="0">
                <a:solidFill>
                  <a:srgbClr val="4A4A4A"/>
                </a:solidFill>
              </a:rPr>
              <a:t>Lowest activity between 12 AM– 4 AM.</a:t>
            </a:r>
          </a:p>
          <a:p>
            <a:r>
              <a:rPr lang="en-US" sz="2000" dirty="0">
                <a:solidFill>
                  <a:srgbClr val="4A4A4A"/>
                </a:solidFill>
              </a:rPr>
              <a:t>Steps rise from 5 AM and drop after 7 PM.</a:t>
            </a:r>
            <a:endParaRPr lang="en-IN" sz="2000" dirty="0">
              <a:solidFill>
                <a:srgbClr val="4A4A4A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E4E1B49-E99D-4C01-B5FF-52A5DA5574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8000987"/>
              </p:ext>
            </p:extLst>
          </p:nvPr>
        </p:nvGraphicFramePr>
        <p:xfrm>
          <a:off x="1957355" y="1424019"/>
          <a:ext cx="8128000" cy="2752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440243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74E2-AE97-423A-948F-E74E47027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Weekly Trends in Average Steps Walked</a:t>
            </a:r>
            <a:endParaRPr lang="en-IN" sz="3200" b="1" dirty="0">
              <a:solidFill>
                <a:srgbClr val="0078D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41C1-DB86-43D8-BA9E-3ECA0BC40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5503" y="2033542"/>
            <a:ext cx="4396339" cy="4195763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Users are most active on Wednesdays and Saturdays with the highest average daily steps (~7.8K).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Monday also shows a strong start to the week with higher-than-average steps.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Lowest activity occurs on Sunday (~7K steps), indicating a potential rest day for many users.</a:t>
            </a:r>
            <a:endParaRPr lang="en-IN" dirty="0">
              <a:solidFill>
                <a:srgbClr val="4A4A4A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0844C48-E4CA-4FA5-8338-3F1CEB9DC6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415674"/>
              </p:ext>
            </p:extLst>
          </p:nvPr>
        </p:nvGraphicFramePr>
        <p:xfrm>
          <a:off x="6418620" y="2033542"/>
          <a:ext cx="4594289" cy="3579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811308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7FAAF-37DF-4802-9531-F0BB7155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Average Daily Calorie Consumption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FC39-5E55-44B0-B448-BD066A8426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Average Calories Burned per Day: 51,000 calories </a:t>
            </a:r>
            <a:r>
              <a:rPr lang="en-US" sz="2000" b="0" i="1" dirty="0">
                <a:solidFill>
                  <a:srgbClr val="4A4A4A"/>
                </a:solidFill>
              </a:rPr>
              <a:t>(51K)</a:t>
            </a:r>
            <a:r>
              <a:rPr lang="en-US" sz="2000" b="0" dirty="0">
                <a:solidFill>
                  <a:srgbClr val="4A4A4A"/>
                </a:solidFill>
              </a:rPr>
              <a:t> across all users.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If we break this down per user, the average daily burn is approximately 1,600–2,000 calories, which aligns with typical healthy activity levels.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This value is consistent with the step count and activity patterns we’ve analyzed earlier.</a:t>
            </a:r>
            <a:endParaRPr lang="en-IN" sz="1800" dirty="0">
              <a:solidFill>
                <a:srgbClr val="4A4A4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01714A-E0EF-444B-967B-D0913EC27EF0}"/>
              </a:ext>
            </a:extLst>
          </p:cNvPr>
          <p:cNvSpPr/>
          <p:nvPr/>
        </p:nvSpPr>
        <p:spPr>
          <a:xfrm>
            <a:off x="7609501" y="2624234"/>
            <a:ext cx="2215634" cy="1609531"/>
          </a:xfrm>
          <a:prstGeom prst="roundRect">
            <a:avLst/>
          </a:prstGeom>
          <a:solidFill>
            <a:srgbClr val="FFFFFF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51K</a:t>
            </a:r>
          </a:p>
          <a:p>
            <a:pPr algn="ctr"/>
            <a:r>
              <a:rPr lang="en-IN" sz="2000" dirty="0">
                <a:solidFill>
                  <a:srgbClr val="0078D7"/>
                </a:solidFill>
              </a:rPr>
              <a:t>Avg Total Calories/Day</a:t>
            </a:r>
          </a:p>
        </p:txBody>
      </p:sp>
    </p:spTree>
    <p:extLst>
      <p:ext uri="{BB962C8B-B14F-4D97-AF65-F5344CB8AC3E}">
        <p14:creationId xmlns:p14="http://schemas.microsoft.com/office/powerpoint/2010/main" val="2883556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D8B3-2675-4FF5-992E-26755B6A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Hourly Calorie Burned Trend</a:t>
            </a:r>
            <a:endParaRPr lang="en-IN" sz="3200" b="1" dirty="0">
              <a:solidFill>
                <a:srgbClr val="0078D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40394-F5C4-4A2F-9EC7-2B69EE1E3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1527" y="1831981"/>
            <a:ext cx="4803710" cy="4195763"/>
          </a:xfrm>
        </p:spPr>
        <p:txBody>
          <a:bodyPr/>
          <a:lstStyle/>
          <a:p>
            <a:r>
              <a:rPr lang="en-US" sz="2000" b="0" dirty="0">
                <a:solidFill>
                  <a:srgbClr val="4A4A4A"/>
                </a:solidFill>
              </a:rPr>
              <a:t>Peak Calorie Burn Hours:</a:t>
            </a:r>
            <a:endParaRPr lang="en-US" sz="1800" dirty="0">
              <a:solidFill>
                <a:srgbClr val="4A4A4A"/>
              </a:solidFill>
            </a:endParaRPr>
          </a:p>
          <a:p>
            <a:pPr marL="457200" lvl="1" indent="0">
              <a:buNone/>
            </a:pPr>
            <a:r>
              <a:rPr lang="en-US" sz="2000" b="0" dirty="0">
                <a:solidFill>
                  <a:srgbClr val="4A4A4A"/>
                </a:solidFill>
              </a:rPr>
              <a:t>12 AM (221K calories)</a:t>
            </a:r>
            <a:endParaRPr lang="en-US" sz="1800" dirty="0">
              <a:solidFill>
                <a:srgbClr val="4A4A4A"/>
              </a:solidFill>
            </a:endParaRPr>
          </a:p>
          <a:p>
            <a:pPr marL="457200" lvl="1" indent="0">
              <a:buNone/>
            </a:pPr>
            <a:r>
              <a:rPr lang="en-US" sz="2000" b="0" dirty="0">
                <a:solidFill>
                  <a:srgbClr val="4A4A4A"/>
                </a:solidFill>
              </a:rPr>
              <a:t>6 PM to 7 PM (226K calories) → highest calorie burn</a:t>
            </a:r>
            <a:endParaRPr lang="en-US" sz="1800" dirty="0">
              <a:solidFill>
                <a:srgbClr val="4A4A4A"/>
              </a:solidFill>
            </a:endParaRPr>
          </a:p>
          <a:p>
            <a:pPr marL="457200" lvl="1" indent="0">
              <a:buNone/>
            </a:pPr>
            <a:r>
              <a:rPr lang="en-US" sz="2000" b="0" dirty="0">
                <a:solidFill>
                  <a:srgbClr val="4A4A4A"/>
                </a:solidFill>
              </a:rPr>
              <a:t>12 PM &amp; 1 PM (~218K each) also remain high.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Calorie burn ramps up after 7 AM, peaks during late morning &amp; evening workout hours, and drops sharply after 7 PM.</a:t>
            </a:r>
          </a:p>
          <a:p>
            <a:endParaRPr lang="en-IN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3FB534E-0FFC-4F3C-A92E-E172C8A856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8956214"/>
              </p:ext>
            </p:extLst>
          </p:nvPr>
        </p:nvGraphicFramePr>
        <p:xfrm>
          <a:off x="6526764" y="1825624"/>
          <a:ext cx="4803710" cy="39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70487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5AC8-1669-43F0-997E-A590100B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Steps vs Calories Correlation</a:t>
            </a:r>
            <a:endParaRPr lang="en-IN" sz="3200" b="1" dirty="0">
              <a:solidFill>
                <a:srgbClr val="0078D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A123-B5DF-4590-939B-D6E39E68E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3514" y="4907361"/>
            <a:ext cx="10515600" cy="1524000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As steps increase, calories burned also increase almost proportionally.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Users who walk more consistently burn significantly more calories.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Bellabeat devices are effectively capturing daily activity intensity.</a:t>
            </a:r>
            <a:endParaRPr lang="en-IN" dirty="0">
              <a:solidFill>
                <a:srgbClr val="4A4A4A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8A8C5B2-2610-480A-B3F2-7E89391070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008421"/>
              </p:ext>
            </p:extLst>
          </p:nvPr>
        </p:nvGraphicFramePr>
        <p:xfrm>
          <a:off x="903514" y="1494811"/>
          <a:ext cx="10515600" cy="3091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2748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6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0A0B-BED5-4159-A333-3A894645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Steps vs Calories Correlation</a:t>
            </a:r>
            <a:endParaRPr lang="en-IN" sz="3200" b="1" dirty="0">
              <a:solidFill>
                <a:srgbClr val="0078D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CFD22-B97D-4BF8-A9C3-DB6D21A97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1796" y="1825627"/>
            <a:ext cx="4545013" cy="4430712"/>
          </a:xfrm>
        </p:spPr>
        <p:txBody>
          <a:bodyPr>
            <a:normAutofit fontScale="92500" lnSpcReduction="10000"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Both the line chart and scatter plot confirm that more steps = more calories burned.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Most users cluster between 100K – 400K steps and 60K – 120K calories.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Higher step counts (&gt;500K) are associated with significantly higher calorie burn.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There are no extreme outliers, meaning calorie burn scales consistently with steps.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Encouraging users to increase step activity can directly improve calorie expenditure and overall health.</a:t>
            </a:r>
            <a:endParaRPr lang="en-IN" sz="1800" dirty="0">
              <a:solidFill>
                <a:srgbClr val="4A4A4A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124168A-98CE-4D0C-A531-35026B84A6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1517510"/>
              </p:ext>
            </p:extLst>
          </p:nvPr>
        </p:nvGraphicFramePr>
        <p:xfrm>
          <a:off x="6188605" y="1825626"/>
          <a:ext cx="5181599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68184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7E2D-67A1-4C70-BFB0-637B1AEF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Hourly Activity Intensity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FB50-18A5-4A06-A614-D72FC2346C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Two activity peaks: Late morning (~12 AM) and Evening (~7 PM).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Lowest activity happens between midnight and early morning.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There’s a post-lunch dip (2 PM – 4 PM), suggesting possible sedentary periods.</a:t>
            </a:r>
            <a:endParaRPr lang="en-IN" sz="1800" dirty="0">
              <a:solidFill>
                <a:srgbClr val="4A4A4A"/>
              </a:solidFill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970AF71-C2A5-49BE-B0E9-2417034EAF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1356941"/>
              </p:ext>
            </p:extLst>
          </p:nvPr>
        </p:nvGraphicFramePr>
        <p:xfrm>
          <a:off x="6172202" y="1825625"/>
          <a:ext cx="5181600" cy="3464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300093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11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5D1C-48A5-4BAC-9732-7056319E9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 vs Sedentary Time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DF6E4-D6B8-4527-B27F-9E2F28CC5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031" y="1853248"/>
            <a:ext cx="4396339" cy="3978385"/>
          </a:xfrm>
        </p:spPr>
        <p:txBody>
          <a:bodyPr>
            <a:normAutofit lnSpcReduction="10000"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Average Sedentary Minutes: 993 min/day. 81.96% of the day is spent inactive.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Average Active Minutes: 218 min/day. 18.04% of the day involves physical activity.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This shows a significant imbalance between sedentary and active time.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Users spend over 4X more time being sedentary than active.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Despite occasional activity peaks, most users lead a sedentary lifestyle.</a:t>
            </a:r>
            <a:endParaRPr lang="en-IN" sz="1800" dirty="0">
              <a:solidFill>
                <a:srgbClr val="4A4A4A"/>
              </a:solidFill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96C1141-B681-4BB4-9F8A-874E4AE423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1521428"/>
              </p:ext>
            </p:extLst>
          </p:nvPr>
        </p:nvGraphicFramePr>
        <p:xfrm>
          <a:off x="6268401" y="1853248"/>
          <a:ext cx="4987567" cy="3978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41850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Graphic spid="10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CA89-52C5-43B2-9948-0CC8CE52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Average Daily Sleep Duration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03D2-DF4B-4538-A51E-AFA02022F9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Average Sleep Duration: 6.66 hours per night.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This is below the recommended 7–9 hours of sleep for adults.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Indicates that users may not be getting optimal rest, which could affect their overall wellness and activity recovery.</a:t>
            </a:r>
            <a:endParaRPr lang="en-IN" sz="1800" dirty="0">
              <a:solidFill>
                <a:srgbClr val="4A4A4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16E522-0A6A-45A8-9466-6785ADE8C779}"/>
              </a:ext>
            </a:extLst>
          </p:cNvPr>
          <p:cNvSpPr/>
          <p:nvPr/>
        </p:nvSpPr>
        <p:spPr>
          <a:xfrm>
            <a:off x="7656155" y="2656891"/>
            <a:ext cx="2140989" cy="1544217"/>
          </a:xfrm>
          <a:prstGeom prst="roundRect">
            <a:avLst/>
          </a:prstGeom>
          <a:solidFill>
            <a:srgbClr val="FFFFFF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6.66</a:t>
            </a:r>
          </a:p>
          <a:p>
            <a:pPr algn="ctr"/>
            <a:r>
              <a:rPr lang="en-IN" sz="2000" dirty="0">
                <a:solidFill>
                  <a:srgbClr val="0078D7"/>
                </a:solidFill>
              </a:rPr>
              <a:t>Avg Sleep Duration</a:t>
            </a:r>
          </a:p>
        </p:txBody>
      </p:sp>
    </p:spTree>
    <p:extLst>
      <p:ext uri="{BB962C8B-B14F-4D97-AF65-F5344CB8AC3E}">
        <p14:creationId xmlns:p14="http://schemas.microsoft.com/office/powerpoint/2010/main" val="3348178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850C-4CDA-40E4-928A-6FBC6697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Sleep Duration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9A40F-4C74-4899-BD5B-C3AA1EC9BB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Total Time in Bed: 386K minutes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Total Time Asleep: 355K minutes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This indicates that, on average, users spend more time in bed than actually sleeping.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Sleep Efficiency =92%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92% sleep efficiency → good overall sleep quality, but there’s still a gap of ~31K minutes spent awake in bed.</a:t>
            </a:r>
            <a:endParaRPr lang="en-IN" sz="1800" dirty="0">
              <a:solidFill>
                <a:srgbClr val="4A4A4A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09F3D0-0065-4F22-8BCA-64243A4CD1A6}"/>
              </a:ext>
            </a:extLst>
          </p:cNvPr>
          <p:cNvSpPr/>
          <p:nvPr/>
        </p:nvSpPr>
        <p:spPr>
          <a:xfrm>
            <a:off x="6359199" y="2785187"/>
            <a:ext cx="2178311" cy="1917442"/>
          </a:xfrm>
          <a:prstGeom prst="roundRect">
            <a:avLst/>
          </a:prstGeom>
          <a:solidFill>
            <a:srgbClr val="FFFFFF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386K</a:t>
            </a:r>
            <a:endParaRPr lang="en-IN" sz="3200" b="1" dirty="0"/>
          </a:p>
          <a:p>
            <a:pPr algn="ctr"/>
            <a:r>
              <a:rPr lang="en-IN" sz="2000" dirty="0">
                <a:solidFill>
                  <a:srgbClr val="0078D7"/>
                </a:solidFill>
              </a:rPr>
              <a:t>Total Time in Bed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6404FD-11D1-4F05-8189-0BA12A57CFEC}"/>
              </a:ext>
            </a:extLst>
          </p:cNvPr>
          <p:cNvSpPr/>
          <p:nvPr/>
        </p:nvSpPr>
        <p:spPr>
          <a:xfrm>
            <a:off x="9028886" y="2780521"/>
            <a:ext cx="2178311" cy="1917442"/>
          </a:xfrm>
          <a:prstGeom prst="roundRect">
            <a:avLst/>
          </a:prstGeom>
          <a:solidFill>
            <a:srgbClr val="FFFFFF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sz="4000" b="1" dirty="0"/>
              <a:t>355K</a:t>
            </a:r>
          </a:p>
          <a:p>
            <a:pPr algn="ctr"/>
            <a:r>
              <a:rPr lang="en-IN" sz="2000" dirty="0">
                <a:solidFill>
                  <a:srgbClr val="0078D7"/>
                </a:solidFill>
              </a:rPr>
              <a:t>Total Minutes Asleep</a:t>
            </a:r>
          </a:p>
        </p:txBody>
      </p:sp>
    </p:spTree>
    <p:extLst>
      <p:ext uri="{BB962C8B-B14F-4D97-AF65-F5344CB8AC3E}">
        <p14:creationId xmlns:p14="http://schemas.microsoft.com/office/powerpoint/2010/main" val="2492749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765F-28C3-45CF-84DC-94487F2D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Sleep Quality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FC7D-6DDE-4D30-9F9C-E553720ED3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42% of users (369 users) sleep 6–8 hours → Healthy sleep range 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30% of users (270 users) sleep &lt; 6 hours → Potential sleep deprivation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28% of users (250 users) sleep &gt; 8 hours → Indicates longer rest periods but could also signal irregular sleep schedules.</a:t>
            </a:r>
            <a:endParaRPr lang="en-IN" sz="1800" dirty="0">
              <a:solidFill>
                <a:srgbClr val="4A4A4A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5AFECF5-E4C3-4234-9186-091E1BEEE7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085126"/>
              </p:ext>
            </p:extLst>
          </p:nvPr>
        </p:nvGraphicFramePr>
        <p:xfrm>
          <a:off x="6344816" y="1825625"/>
          <a:ext cx="5008984" cy="3912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83734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5244-EAD8-44FC-9456-3C9C44F9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Sleep Patterns Across Weekdays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CA5743B-51D7-4402-9F4B-A1FC1A1C18E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15069439"/>
              </p:ext>
            </p:extLst>
          </p:nvPr>
        </p:nvGraphicFramePr>
        <p:xfrm>
          <a:off x="6359619" y="2060576"/>
          <a:ext cx="4850743" cy="3472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6E0E8A-A8FE-4A43-AD5C-0C545E04E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1639" y="2060576"/>
            <a:ext cx="4396341" cy="3537792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Highest sleep duration: Users tend to sleep more on weekends.</a:t>
            </a:r>
          </a:p>
          <a:p>
            <a:r>
              <a:rPr lang="en-IN" sz="2000" b="0" dirty="0">
                <a:solidFill>
                  <a:srgbClr val="4A4A4A"/>
                </a:solidFill>
              </a:rPr>
              <a:t>Moderate sleep duration: </a:t>
            </a:r>
            <a:r>
              <a:rPr lang="en-US" sz="2000" b="0" dirty="0">
                <a:solidFill>
                  <a:srgbClr val="4A4A4A"/>
                </a:solidFill>
              </a:rPr>
              <a:t>Tuesday (51K), Wednesday (53K), and Monday (49K) indicate average rest periods.</a:t>
            </a:r>
            <a:endParaRPr lang="en-IN" sz="1800" dirty="0">
              <a:solidFill>
                <a:srgbClr val="4A4A4A"/>
              </a:solidFill>
            </a:endParaRPr>
          </a:p>
          <a:p>
            <a:r>
              <a:rPr lang="en-IN" sz="2000" b="0" dirty="0">
                <a:solidFill>
                  <a:srgbClr val="4A4A4A"/>
                </a:solidFill>
              </a:rPr>
              <a:t>Lowest sleep duration: </a:t>
            </a:r>
            <a:r>
              <a:rPr lang="en-US" sz="2000" b="0" dirty="0">
                <a:solidFill>
                  <a:srgbClr val="4A4A4A"/>
                </a:solidFill>
              </a:rPr>
              <a:t>Friday (43K mins) → Users sleep the least, possibly due to late-night social activities or weekend routines.</a:t>
            </a:r>
            <a:endParaRPr lang="en-IN" sz="1800" dirty="0">
              <a:solidFill>
                <a:srgbClr val="4A4A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5460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B124-2DED-45B9-B8B4-5A55B970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BMI Category Distribution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8AAC69-54C1-4741-840C-AED3BCAC9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5953" y="1974917"/>
            <a:ext cx="4396339" cy="3763413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Normal Weight: 51% of users fall into the healthy BMI range, showing good weight management.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Overweight: 45% of users are above the ideal BMI, indicating potential lifestyle improvement opportunities.</a:t>
            </a:r>
          </a:p>
          <a:p>
            <a:r>
              <a:rPr lang="en-US" sz="2000" dirty="0">
                <a:solidFill>
                  <a:srgbClr val="4A4A4A"/>
                </a:solidFill>
              </a:rPr>
              <a:t>Obese (Class I &amp; II): Less than 4% of users fall into obesity categories, which is relatively low but still relevant for targeted guidance.</a:t>
            </a:r>
            <a:endParaRPr lang="en-IN" sz="2000" dirty="0">
              <a:solidFill>
                <a:srgbClr val="4A4A4A"/>
              </a:solidFill>
            </a:endParaRPr>
          </a:p>
          <a:p>
            <a:pPr marL="0" indent="0">
              <a:buNone/>
            </a:pPr>
            <a:endParaRPr lang="en-IN" sz="1800" dirty="0"/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2EEF8693-A03F-448E-8C76-722D96AE96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6191162"/>
              </p:ext>
            </p:extLst>
          </p:nvPr>
        </p:nvGraphicFramePr>
        <p:xfrm>
          <a:off x="6088245" y="1974917"/>
          <a:ext cx="5257802" cy="3763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06672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Graphic spid="11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1FB1-93FF-43AF-B496-F2E3968A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Weight vs BMI Correlation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4DC7778-56D6-4514-B11F-22BF528C9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9799" y="1825625"/>
            <a:ext cx="4396339" cy="4195763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There’s a positive correlation between weight and BMI — as weight increases, BMI generally rises.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Most users have a weight range between 50–90 kg and a BMI range between 20–30, which is close to the healthy range.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A few outliers with high weight (&gt;100 kg) also have BMI &gt; 35, indicating possible obesity.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The dotted trend line clearly shows a consistent upward relationship.</a:t>
            </a:r>
            <a:endParaRPr lang="en-IN" sz="1800" dirty="0">
              <a:solidFill>
                <a:srgbClr val="4A4A4A"/>
              </a:solidFill>
            </a:endParaRPr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66413A98-A63A-46C9-A9CC-ABFE901CE4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0965239"/>
              </p:ext>
            </p:extLst>
          </p:nvPr>
        </p:nvGraphicFramePr>
        <p:xfrm>
          <a:off x="6135937" y="1825625"/>
          <a:ext cx="5186265" cy="4195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78384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Graphic spid="11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C6D9-91E3-4B5D-99E2-5D75CB027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Purpose of Device Usage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412082D-0BC6-44E5-A537-C45DF5919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336573"/>
            <a:ext cx="4396339" cy="2184853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40% use it mainly for step tracking.</a:t>
            </a:r>
          </a:p>
          <a:p>
            <a:r>
              <a:rPr lang="en-IN" sz="2000" b="0" dirty="0">
                <a:solidFill>
                  <a:srgbClr val="4A4A4A"/>
                </a:solidFill>
              </a:rPr>
              <a:t>28% for sleep tracking</a:t>
            </a:r>
            <a:r>
              <a:rPr lang="en-US" sz="2000" b="0" dirty="0">
                <a:solidFill>
                  <a:srgbClr val="4A4A4A"/>
                </a:solidFill>
              </a:rPr>
              <a:t>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17% for heart rate monitoring.</a:t>
            </a:r>
          </a:p>
          <a:p>
            <a:r>
              <a:rPr lang="en-IN" sz="2000" b="0" dirty="0">
                <a:solidFill>
                  <a:srgbClr val="4A4A4A"/>
                </a:solidFill>
              </a:rPr>
              <a:t>15% for weight tracking.</a:t>
            </a:r>
          </a:p>
          <a:p>
            <a:endParaRPr lang="en-IN" sz="1800" dirty="0"/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F0A7A751-2BC7-4E8A-9226-87D2A2271A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1768168"/>
              </p:ext>
            </p:extLst>
          </p:nvPr>
        </p:nvGraphicFramePr>
        <p:xfrm>
          <a:off x="6354147" y="1825624"/>
          <a:ext cx="4999652" cy="3483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39338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Graphic spid="11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77769-A144-4973-AE27-F123AEAC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Hourly Trend of Average Heart Rate and Calories Burned</a:t>
            </a:r>
            <a:endParaRPr lang="en-IN" sz="3200" b="1" dirty="0">
              <a:solidFill>
                <a:srgbClr val="0078D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DC58304-7A29-4423-BF9C-FE1134B48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1354" y="2307042"/>
            <a:ext cx="4396339" cy="3388503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Calories burned follow the same trend as heart rate throughout the day. 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Peak calorie burn happens between 5 AM – 9 AM and 5 PM – 6 PM, matching high activity periods. 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Lowest calorie burn occurs between 12 AM – 4 AM, indicating resting hours.</a:t>
            </a:r>
            <a:endParaRPr lang="en-IN" sz="1800" dirty="0">
              <a:solidFill>
                <a:srgbClr val="4A4A4A"/>
              </a:solidFill>
            </a:endParaRPr>
          </a:p>
        </p:txBody>
      </p:sp>
      <p:graphicFrame>
        <p:nvGraphicFramePr>
          <p:cNvPr id="16" name="Content Placeholder 12">
            <a:extLst>
              <a:ext uri="{FF2B5EF4-FFF2-40B4-BE49-F238E27FC236}">
                <a16:creationId xmlns:a16="http://schemas.microsoft.com/office/drawing/2014/main" id="{ADAB2731-B4E4-4583-AB4C-86A8994776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299246"/>
              </p:ext>
            </p:extLst>
          </p:nvPr>
        </p:nvGraphicFramePr>
        <p:xfrm>
          <a:off x="6139047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1259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Graphic spid="16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51E47-D158-4BB2-B3BE-752A471E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Hourly Trend of Average Heart Rate and Total Steps</a:t>
            </a:r>
            <a:endParaRPr lang="en-IN" sz="3200" b="1" dirty="0">
              <a:solidFill>
                <a:srgbClr val="0078D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310A1-4425-4D82-8033-DFFFAA9E7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2786358"/>
            <a:ext cx="5057775" cy="2485118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4A4A4A"/>
                </a:solidFill>
              </a:rPr>
              <a:t>Heart rate rises in sync with increased step counts.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Step activity peaks twice → 12AM &amp; 7AM, coinciding with peak activity times.</a:t>
            </a:r>
          </a:p>
          <a:p>
            <a:r>
              <a:rPr lang="en-US" sz="2000" b="0" dirty="0">
                <a:solidFill>
                  <a:srgbClr val="4A4A4A"/>
                </a:solidFill>
              </a:rPr>
              <a:t>Lowest activity is seen between 12 AM and 4 AM, matching resting periods.</a:t>
            </a:r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CCB5A0C-969D-49B4-A4F2-F403264BF7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6282399"/>
              </p:ext>
            </p:extLst>
          </p:nvPr>
        </p:nvGraphicFramePr>
        <p:xfrm>
          <a:off x="6357925" y="1853248"/>
          <a:ext cx="5184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11652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Graphic spid="8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5263-F59F-4FBB-9F42-2F9503ED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B9CB12-3119-4D55-ACAB-4D1EA2833D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87759"/>
            <a:ext cx="6540573" cy="522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A4A4A"/>
                </a:solidFill>
              </a:rPr>
              <a:t>1. Sleep Improvement 🛏️</a:t>
            </a:r>
            <a:endParaRPr lang="en-US" sz="1800" dirty="0">
              <a:solidFill>
                <a:srgbClr val="4A4A4A"/>
              </a:solidFill>
            </a:endParaRPr>
          </a:p>
          <a:p>
            <a:pPr lvl="1"/>
            <a:r>
              <a:rPr lang="en-US" sz="1800" dirty="0">
                <a:solidFill>
                  <a:srgbClr val="4A4A4A"/>
                </a:solidFill>
              </a:rPr>
              <a:t>Educate users on the ideal 6–8 hours of sleep.</a:t>
            </a:r>
          </a:p>
          <a:p>
            <a:pPr lvl="1"/>
            <a:r>
              <a:rPr lang="en-US" sz="1800" dirty="0">
                <a:solidFill>
                  <a:srgbClr val="4A4A4A"/>
                </a:solidFill>
              </a:rPr>
              <a:t>Introduce bedtime reminders and sleep tracking insights.</a:t>
            </a:r>
            <a:endParaRPr lang="en-US" sz="1600" dirty="0">
              <a:solidFill>
                <a:srgbClr val="4A4A4A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4A4A4A"/>
                </a:solidFill>
              </a:rPr>
              <a:t>2. Weight &amp; BMI Management ⚖️</a:t>
            </a:r>
          </a:p>
          <a:p>
            <a:pPr lvl="1"/>
            <a:r>
              <a:rPr lang="en-US" sz="1800" dirty="0">
                <a:solidFill>
                  <a:srgbClr val="4A4A4A"/>
                </a:solidFill>
              </a:rPr>
              <a:t>Suggest personalized fitness goals based on BMI categories.</a:t>
            </a:r>
          </a:p>
          <a:p>
            <a:pPr lvl="1"/>
            <a:r>
              <a:rPr lang="en-US" sz="1800" dirty="0">
                <a:solidFill>
                  <a:srgbClr val="4A4A4A"/>
                </a:solidFill>
              </a:rPr>
              <a:t>Offer guided workout plans for overweight users.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4A4A4A"/>
                </a:solidFill>
              </a:rPr>
              <a:t>3. Increase Engagement 📱</a:t>
            </a:r>
          </a:p>
          <a:p>
            <a:pPr lvl="1"/>
            <a:r>
              <a:rPr lang="en-US" sz="1800" dirty="0">
                <a:solidFill>
                  <a:srgbClr val="4A4A4A"/>
                </a:solidFill>
              </a:rPr>
              <a:t>Add gamification features (step challenges, badges).</a:t>
            </a:r>
          </a:p>
          <a:p>
            <a:pPr lvl="1"/>
            <a:r>
              <a:rPr lang="en-US" sz="1800" dirty="0">
                <a:solidFill>
                  <a:srgbClr val="4A4A4A"/>
                </a:solidFill>
              </a:rPr>
              <a:t>Send weekly summaries to improve long-term usage.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4A4A4A"/>
                </a:solidFill>
              </a:rPr>
              <a:t>4. Health Optimization ❤️</a:t>
            </a:r>
          </a:p>
          <a:p>
            <a:pPr lvl="1"/>
            <a:r>
              <a:rPr lang="en-US" sz="1800" dirty="0">
                <a:solidFill>
                  <a:srgbClr val="4A4A4A"/>
                </a:solidFill>
              </a:rPr>
              <a:t>Highlight abnormal heart rate patterns for early detection.</a:t>
            </a:r>
          </a:p>
          <a:p>
            <a:pPr lvl="1"/>
            <a:r>
              <a:rPr lang="en-US" sz="1800" dirty="0">
                <a:solidFill>
                  <a:srgbClr val="4A4A4A"/>
                </a:solidFill>
              </a:rPr>
              <a:t>Encourage micro-breaks during long sedentary periods.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80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64B6-A4B7-4FC5-85DA-731D4A79F94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8F9FB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78D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2261F-E0ED-4270-8355-CD5BE07DF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4A4A4A"/>
                </a:solidFill>
              </a:rPr>
              <a:t>Users are moderately engaged, but tracking consistency can improve.</a:t>
            </a:r>
          </a:p>
          <a:p>
            <a:r>
              <a:rPr lang="en-US" sz="2000" dirty="0">
                <a:solidFill>
                  <a:srgbClr val="4A4A4A"/>
                </a:solidFill>
              </a:rPr>
              <a:t>Sleep patterns are mostly healthy, but 30% of users are sleep-deprived.</a:t>
            </a:r>
          </a:p>
          <a:p>
            <a:r>
              <a:rPr lang="en-US" sz="2000" dirty="0">
                <a:solidFill>
                  <a:srgbClr val="4A4A4A"/>
                </a:solidFill>
              </a:rPr>
              <a:t>Steps, calories, and heart rate peak during midday and evenings.</a:t>
            </a:r>
          </a:p>
          <a:p>
            <a:r>
              <a:rPr lang="en-US" sz="2000" dirty="0">
                <a:solidFill>
                  <a:srgbClr val="4A4A4A"/>
                </a:solidFill>
              </a:rPr>
              <a:t>Targeted wellness campaigns and personalized plans can improve overall health outcomes and device engagement.</a:t>
            </a:r>
            <a:endParaRPr lang="en-IN" sz="2000" dirty="0">
              <a:solidFill>
                <a:srgbClr val="4A4A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859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1">
      <a:dk1>
        <a:sysClr val="windowText" lastClr="000000"/>
      </a:dk1>
      <a:lt1>
        <a:srgbClr val="000000"/>
      </a:lt1>
      <a:dk2>
        <a:srgbClr val="1E5155"/>
      </a:dk2>
      <a:lt2>
        <a:srgbClr val="EBEBEB"/>
      </a:lt2>
      <a:accent1>
        <a:srgbClr val="0078D7"/>
      </a:accent1>
      <a:accent2>
        <a:srgbClr val="FF8C42"/>
      </a:accent2>
      <a:accent3>
        <a:srgbClr val="2ECC71"/>
      </a:accent3>
      <a:accent4>
        <a:srgbClr val="9B59B6"/>
      </a:accent4>
      <a:accent5>
        <a:srgbClr val="E74C3C"/>
      </a:accent5>
      <a:accent6>
        <a:srgbClr val="95A5A6"/>
      </a:accent6>
      <a:hlink>
        <a:srgbClr val="58C1BA"/>
      </a:hlink>
      <a:folHlink>
        <a:srgbClr val="9DFFC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1689</TotalTime>
  <Words>1547</Words>
  <Application>Microsoft Office PowerPoint</Application>
  <PresentationFormat>Widescreen</PresentationFormat>
  <Paragraphs>192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Segoe UI</vt:lpstr>
      <vt:lpstr>Wingdings 3</vt:lpstr>
      <vt:lpstr>Ion</vt:lpstr>
      <vt:lpstr>Bellabeat Smart Device Usage Analysis</vt:lpstr>
      <vt:lpstr>Table of Content</vt:lpstr>
      <vt:lpstr>Objective</vt:lpstr>
      <vt:lpstr>Dataset Overview </vt:lpstr>
      <vt:lpstr>Methodology</vt:lpstr>
      <vt:lpstr>Average Active Tracking Days</vt:lpstr>
      <vt:lpstr>User Activity Patterns</vt:lpstr>
      <vt:lpstr>Hourly Walking Activity Trends</vt:lpstr>
      <vt:lpstr>Weekly Trends in Average Steps Walked</vt:lpstr>
      <vt:lpstr>Average Daily Calorie Consumption</vt:lpstr>
      <vt:lpstr>Hourly Calorie Burned Trend</vt:lpstr>
      <vt:lpstr>Steps vs Calories Correlation</vt:lpstr>
      <vt:lpstr>Steps vs Calories Correlation</vt:lpstr>
      <vt:lpstr>Hourly Activity Intensity Trends</vt:lpstr>
      <vt:lpstr>Active vs Sedentary Time Analysis</vt:lpstr>
      <vt:lpstr>Average Daily Sleep Duration</vt:lpstr>
      <vt:lpstr>Sleep Duration Overview</vt:lpstr>
      <vt:lpstr>Sleep Quality Distribution</vt:lpstr>
      <vt:lpstr>Sleep Patterns Across Weekdays</vt:lpstr>
      <vt:lpstr>BMI Category Distribution</vt:lpstr>
      <vt:lpstr>Weight vs BMI Correlation</vt:lpstr>
      <vt:lpstr>Purpose of Device Usage</vt:lpstr>
      <vt:lpstr>Hourly Trend of Average Heart Rate and Calories Burned</vt:lpstr>
      <vt:lpstr>Hourly Trend of Average Heart Rate and Total Steps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Bellabeat Smart Device Usage Analysis</dc:title>
  <dc:creator>Aishwaray Shinde</dc:creator>
  <cp:lastModifiedBy>Aishwaray Shinde</cp:lastModifiedBy>
  <cp:revision>38</cp:revision>
  <dcterms:created xsi:type="dcterms:W3CDTF">2025-09-01T11:17:57Z</dcterms:created>
  <dcterms:modified xsi:type="dcterms:W3CDTF">2025-09-07T08:16:48Z</dcterms:modified>
</cp:coreProperties>
</file>