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tags/tag3.xml" ContentType="application/vnd.openxmlformats-officedocument.presentationml.tags+xml"/>
  <Override PartName="/ppt/notesSlides/notesSlide2.xml" ContentType="application/vnd.openxmlformats-officedocument.presentationml.notesSlide+xml"/>
  <Override PartName="/ppt/tags/tag4.xml" ContentType="application/vnd.openxmlformats-officedocument.presentationml.tags+xml"/>
  <Override PartName="/ppt/notesSlides/notesSlide3.xml" ContentType="application/vnd.openxmlformats-officedocument.presentationml.notesSlide+xml"/>
  <Override PartName="/ppt/tags/tag5.xml" ContentType="application/vnd.openxmlformats-officedocument.presentationml.tags+xml"/>
  <Override PartName="/ppt/notesSlides/notesSlide4.xml" ContentType="application/vnd.openxmlformats-officedocument.presentationml.notesSlide+xml"/>
  <Override PartName="/ppt/tags/tag6.xml" ContentType="application/vnd.openxmlformats-officedocument.presentationml.tags+xml"/>
  <Override PartName="/ppt/notesSlides/notesSlide5.xml" ContentType="application/vnd.openxmlformats-officedocument.presentationml.notesSlide+xml"/>
  <Override PartName="/ppt/tags/tag7.xml" ContentType="application/vnd.openxmlformats-officedocument.presentationml.tags+xml"/>
  <Override PartName="/ppt/notesSlides/notesSlide6.xml" ContentType="application/vnd.openxmlformats-officedocument.presentationml.notesSlide+xml"/>
  <Override PartName="/ppt/tags/tag8.xml" ContentType="application/vnd.openxmlformats-officedocument.presentationml.tags+xml"/>
  <Override PartName="/ppt/notesSlides/notesSlide7.xml" ContentType="application/vnd.openxmlformats-officedocument.presentationml.notesSlide+xml"/>
  <Override PartName="/ppt/tags/tag9.xml" ContentType="application/vnd.openxmlformats-officedocument.presentationml.tags+xml"/>
  <Override PartName="/ppt/notesSlides/notesSlide8.xml" ContentType="application/vnd.openxmlformats-officedocument.presentationml.notesSlide+xml"/>
  <Override PartName="/ppt/tags/tag10.xml" ContentType="application/vnd.openxmlformats-officedocument.presentationml.tags+xml"/>
  <Override PartName="/ppt/notesSlides/notesSlide9.xml" ContentType="application/vnd.openxmlformats-officedocument.presentationml.notesSlide+xml"/>
  <Override PartName="/ppt/tags/tag11.xml" ContentType="application/vnd.openxmlformats-officedocument.presentationml.tags+xml"/>
  <Override PartName="/ppt/notesSlides/notesSlide10.xml" ContentType="application/vnd.openxmlformats-officedocument.presentationml.notesSlide+xml"/>
  <Override PartName="/ppt/tags/tag12.xml" ContentType="application/vnd.openxmlformats-officedocument.presentationml.tags+xml"/>
  <Override PartName="/ppt/notesSlides/notesSlide11.xml" ContentType="application/vnd.openxmlformats-officedocument.presentationml.notesSlide+xml"/>
  <Override PartName="/ppt/tags/tag13.xml" ContentType="application/vnd.openxmlformats-officedocument.presentationml.tags+xml"/>
  <Override PartName="/ppt/notesSlides/notesSlide12.xml" ContentType="application/vnd.openxmlformats-officedocument.presentationml.notesSlide+xml"/>
  <Override PartName="/ppt/tags/tag14.xml" ContentType="application/vnd.openxmlformats-officedocument.presentationml.tags+xml"/>
  <Override PartName="/ppt/notesSlides/notesSlide13.xml" ContentType="application/vnd.openxmlformats-officedocument.presentationml.notesSlide+xml"/>
  <Override PartName="/ppt/tags/tag15.xml" ContentType="application/vnd.openxmlformats-officedocument.presentationml.tags+xml"/>
  <Override PartName="/ppt/notesSlides/notesSlide14.xml" ContentType="application/vnd.openxmlformats-officedocument.presentationml.notesSlide+xml"/>
  <Override PartName="/ppt/tags/tag16.xml" ContentType="application/vnd.openxmlformats-officedocument.presentationml.tags+xml"/>
  <Override PartName="/ppt/notesSlides/notesSlide15.xml" ContentType="application/vnd.openxmlformats-officedocument.presentationml.notesSlide+xml"/>
  <Override PartName="/ppt/tags/tag17.xml" ContentType="application/vnd.openxmlformats-officedocument.presentationml.tags+xml"/>
  <Override PartName="/ppt/notesSlides/notesSlide16.xml" ContentType="application/vnd.openxmlformats-officedocument.presentationml.notesSlide+xml"/>
  <Override PartName="/ppt/tags/tag18.xml" ContentType="application/vnd.openxmlformats-officedocument.presentationml.tags+xml"/>
  <Override PartName="/ppt/notesSlides/notesSlide17.xml" ContentType="application/vnd.openxmlformats-officedocument.presentationml.notesSlide+xml"/>
  <Override PartName="/ppt/tags/tag19.xml" ContentType="application/vnd.openxmlformats-officedocument.presentationml.tags+xml"/>
  <Override PartName="/ppt/notesSlides/notesSlide18.xml" ContentType="application/vnd.openxmlformats-officedocument.presentationml.notesSlide+xml"/>
  <Override PartName="/ppt/tags/tag20.xml" ContentType="application/vnd.openxmlformats-officedocument.presentationml.tags+xml"/>
  <Override PartName="/ppt/notesSlides/notesSlide19.xml" ContentType="application/vnd.openxmlformats-officedocument.presentationml.notesSlide+xml"/>
  <Override PartName="/ppt/tags/tag21.xml" ContentType="application/vnd.openxmlformats-officedocument.presentationml.tags+xml"/>
  <Override PartName="/ppt/notesSlides/notesSlide20.xml" ContentType="application/vnd.openxmlformats-officedocument.presentationml.notesSlide+xml"/>
  <Override PartName="/ppt/tags/tag22.xml" ContentType="application/vnd.openxmlformats-officedocument.presentationml.tags+xml"/>
  <Override PartName="/ppt/notesSlides/notesSlide21.xml" ContentType="application/vnd.openxmlformats-officedocument.presentationml.notesSlide+xml"/>
  <Override PartName="/ppt/tags/tag23.xml" ContentType="application/vnd.openxmlformats-officedocument.presentationml.tags+xml"/>
  <Override PartName="/ppt/notesSlides/notesSlide22.xml" ContentType="application/vnd.openxmlformats-officedocument.presentationml.notesSlide+xml"/>
  <Override PartName="/ppt/tags/tag24.xml" ContentType="application/vnd.openxmlformats-officedocument.presentationml.tags+xml"/>
  <Override PartName="/ppt/notesSlides/notesSlide23.xml" ContentType="application/vnd.openxmlformats-officedocument.presentationml.notesSlide+xml"/>
  <Override PartName="/ppt/tags/tag25.xml" ContentType="application/vnd.openxmlformats-officedocument.presentationml.tags+xml"/>
  <Override PartName="/ppt/notesSlides/notesSlide24.xml" ContentType="application/vnd.openxmlformats-officedocument.presentationml.notesSlide+xml"/>
  <Override PartName="/ppt/tags/tag26.xml" ContentType="application/vnd.openxmlformats-officedocument.presentationml.tags+xml"/>
  <Override PartName="/ppt/notesSlides/notesSlide25.xml" ContentType="application/vnd.openxmlformats-officedocument.presentationml.notesSlide+xml"/>
  <Override PartName="/ppt/tags/tag27.xml" ContentType="application/vnd.openxmlformats-officedocument.presentationml.tags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8"/>
  </p:notesMasterIdLst>
  <p:sldIdLst>
    <p:sldId id="302" r:id="rId2"/>
    <p:sldId id="293" r:id="rId3"/>
    <p:sldId id="338" r:id="rId4"/>
    <p:sldId id="296" r:id="rId5"/>
    <p:sldId id="256" r:id="rId6"/>
    <p:sldId id="312" r:id="rId7"/>
    <p:sldId id="316" r:id="rId8"/>
    <p:sldId id="317" r:id="rId9"/>
    <p:sldId id="315" r:id="rId10"/>
    <p:sldId id="318" r:id="rId11"/>
    <p:sldId id="319" r:id="rId12"/>
    <p:sldId id="330" r:id="rId13"/>
    <p:sldId id="327" r:id="rId14"/>
    <p:sldId id="329" r:id="rId15"/>
    <p:sldId id="335" r:id="rId16"/>
    <p:sldId id="331" r:id="rId17"/>
    <p:sldId id="328" r:id="rId18"/>
    <p:sldId id="325" r:id="rId19"/>
    <p:sldId id="326" r:id="rId20"/>
    <p:sldId id="336" r:id="rId21"/>
    <p:sldId id="337" r:id="rId22"/>
    <p:sldId id="332" r:id="rId23"/>
    <p:sldId id="310" r:id="rId24"/>
    <p:sldId id="333" r:id="rId25"/>
    <p:sldId id="309" r:id="rId26"/>
    <p:sldId id="334" r:id="rId27"/>
  </p:sldIdLst>
  <p:sldSz cx="12192000" cy="6858000"/>
  <p:notesSz cx="6858000" cy="9144000"/>
  <p:custDataLst>
    <p:tags r:id="rId29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C89EF96-8CEA-46FF-86C4-4CE0E7609802}" styleName="Light Style 3 - Accent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92026" autoAdjust="0"/>
  </p:normalViewPr>
  <p:slideViewPr>
    <p:cSldViewPr snapToGrid="0">
      <p:cViewPr varScale="1">
        <p:scale>
          <a:sx n="75" d="100"/>
          <a:sy n="75" d="100"/>
        </p:scale>
        <p:origin x="58" y="72"/>
      </p:cViewPr>
      <p:guideLst/>
    </p:cSldViewPr>
  </p:slideViewPr>
  <p:outlineViewPr>
    <p:cViewPr>
      <p:scale>
        <a:sx n="33" d="100"/>
        <a:sy n="33" d="100"/>
      </p:scale>
      <p:origin x="0" y="-8131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ags" Target="tags/tag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6C9C1B7-FC67-4946-B11B-3B00223F034C}" type="datetimeFigureOut">
              <a:rPr lang="en-IN" smtClean="0"/>
              <a:t>27/08/2025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39710B3-8955-4315-A459-7B758A959C1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487376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4.xml"/><Relationship Id="rId4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5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6.xml"/><Relationship Id="rId4" Type="http://schemas.openxmlformats.org/officeDocument/2006/relationships/image" Target="../media/image5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7.xml"/><Relationship Id="rId4" Type="http://schemas.openxmlformats.org/officeDocument/2006/relationships/image" Target="../media/image6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8.xml"/><Relationship Id="rId4" Type="http://schemas.openxmlformats.org/officeDocument/2006/relationships/image" Target="../media/image7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9.xml"/><Relationship Id="rId4" Type="http://schemas.openxmlformats.org/officeDocument/2006/relationships/image" Target="../media/image8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0.xml"/><Relationship Id="rId4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1.xml"/><Relationship Id="rId4" Type="http://schemas.openxmlformats.org/officeDocument/2006/relationships/image" Target="../media/image10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2.xml"/><Relationship Id="rId4" Type="http://schemas.openxmlformats.org/officeDocument/2006/relationships/image" Target="../media/image11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3.xml"/><Relationship Id="rId4" Type="http://schemas.openxmlformats.org/officeDocument/2006/relationships/image" Target="../media/image1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4.xml"/><Relationship Id="rId4" Type="http://schemas.openxmlformats.org/officeDocument/2006/relationships/image" Target="../media/image13.jpe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5.xml"/><Relationship Id="rId4" Type="http://schemas.openxmlformats.org/officeDocument/2006/relationships/image" Target="../media/image14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6.xml"/><Relationship Id="rId4" Type="http://schemas.openxmlformats.org/officeDocument/2006/relationships/image" Target="../media/image15.jpe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7.xml"/><Relationship Id="rId4" Type="http://schemas.openxmlformats.org/officeDocument/2006/relationships/image" Target="../media/image1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8.xml"/><Relationship Id="rId4" Type="http://schemas.openxmlformats.org/officeDocument/2006/relationships/image" Target="../media/image17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9.xml"/><Relationship Id="rId4" Type="http://schemas.openxmlformats.org/officeDocument/2006/relationships/image" Target="../media/image18.jpe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0.xml"/><Relationship Id="rId4" Type="http://schemas.openxmlformats.org/officeDocument/2006/relationships/image" Target="../media/image19.jpe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1.xml"/><Relationship Id="rId4" Type="http://schemas.openxmlformats.org/officeDocument/2006/relationships/image" Target="../media/image20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2.xml"/><Relationship Id="rId4" Type="http://schemas.openxmlformats.org/officeDocument/2006/relationships/image" Target="../media/image21.jpe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3.xml"/><Relationship Id="rId4" Type="http://schemas.openxmlformats.org/officeDocument/2006/relationships/image" Target="../media/image22.jpe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3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4.xml"/><Relationship Id="rId4" Type="http://schemas.openxmlformats.org/officeDocument/2006/relationships/image" Target="../media/image23.jpe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4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5.xml"/><Relationship Id="rId4" Type="http://schemas.openxmlformats.org/officeDocument/2006/relationships/image" Target="../media/image24.jpe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5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6.xml"/><Relationship Id="rId4" Type="http://schemas.openxmlformats.org/officeDocument/2006/relationships/image" Target="../media/image25.jpe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6.xml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7.xml"/><Relationship Id="rId4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759212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7460345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678465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669545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1"/>
            <a:ext cx="12192000" cy="6858000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15420536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6096062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9497779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929706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28163856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032732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616057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9407457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32065403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46632308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6444173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0277813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56151857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09748272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30975815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5523119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265174430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47459356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86890025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34757270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0" y="0"/>
            <a:ext cx="12188952" cy="6856286"/>
          </a:xfrm>
          <a:prstGeom prst="rect">
            <a:avLst/>
          </a:prstGeom>
        </p:spPr>
      </p:pic>
    </p:spTree>
    <p:custDataLst>
      <p:tags r:id="rId1"/>
    </p:custDataLst>
    <p:extLst>
      <p:ext uri="{BB962C8B-B14F-4D97-AF65-F5344CB8AC3E}">
        <p14:creationId xmlns:p14="http://schemas.microsoft.com/office/powerpoint/2010/main" val="17133459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itle&quot;,&quot;presentationId&quot;:&quot;ed704928-2ce4-402a-8f37-2411e2e7f490&quot;,&quot;template_version&quot;:1,&quot;layout&quot;:{&quot;headerPosition&quot;:&quot;top&quot;,&quot;showFooter&quot;:&quot;theme&quot;,&quot;backgroundColor&quot;:&quot;background_light&quot;,&quot;backgroundStyle&quot;:&quot;backgroundLight&quot;},&quot;states&quot;:[{&quot;primary&quot;:{&quot;verticalAlign&quot;:&quot;middle&quot;,&quot;text&quot;:{&quot;blocks&quot;:[{&quot;id&quot;:&quot;4fd70c72-8001-4111-9d4d-40ad87de62b6&quot;,&quot;html&quot;:&quot;Section 1 — Introduction&quot;,&quot;type&quot;:&quot;text&quot;,&quot;textStyle&quot;:&quot;headline&quot;,&quot;indent&quot;:0,&quot;blockBounds&quot;:{&quot;left&quot;:0,&quot;top&quot;:-9.699999809265137,&quot;width&quot;:576,&quot;height&quot;:59.900001525878906},&quot;textStyles&quot;:{&quot;fontFamily&quot;:&quot;geist&quot;,&quot;baseFontSize&quot;:75,&quot;fontColor&quot;:&quot;primary&quot;,&quot;bulletScale&quot;:1,&quot;bulletSpacing&quot;:2.5,&quot;bulletIndent&quot;:50,&quot;fontScaling&quot;:100,&quot;fontWeight&quot;:600,&quot;letterSpacing&quot;:&quot;-0.06em&quot;,&quot;lineHeight&quot;:1.065,&quot;textTransform&quot;:&quot;none&quot;,&quot;spaceBelow&quot;:0,&quot;spaceAbove&quot;:0,&quot;blockSpacing&quot;:40,&quot;maxLines&quot;:9999,&quot;evenBreak&quot;:true,&quot;listDecorationStyle&quot;:&quot;theme&quot;,&quot;allowFancyNumberedDecorations&quot;:false,&quot;hasEmphasized&quot;:false,&quot;blockInset&quot;:0,&quot;isRTL&quot;:false,&quot;fontScale&quot;:0.75,&quot;fontSize&quot;:56.25,&quot;textAlign&quot;:&quot;center&quot;,&quot;color&quot;:&quot;rgb(51, 51, 51)&quot;,&quot;emphasizedColor&quot;:&quot;rgb(72, 220, 146)&quot;,&quot;hyperlinkColor&quot;:&quot;rgb(17, 169, 226)&quot;,&quot;boldStyles&quot;:{&quot;fontColor&quot;:&quot;slide&quot;},&quot;accentColor&quot;:&quot;theme&quot;},&quot;blockMargin&quot;:{&quot;top&quot;:-9.703125,&quot;bottom&quot;:-10.265625,&quot;left&quot;:0,&quot;right&quot;:0},&quot;topSpace&quot;:9.703125,&quot;bottomSpace&quot;:10.265625}],&quot;blockFontScales&quot;:{&quot;headline&quot;:0.75}},&quot;backdropPadding&quot;:40,&quot;showFooter&quot;:false,&quot;accentColor&quot;:&quot;theme&quot;,&quot;decoration&quot;:&quot;left_border&quot;},&quot;callouts&quot;:{&quot;snapToGrid&quot;:false,&quot;collectionColor&quot;:&quot;theme&quot;,&quot;connections&quot;:{&quot;items&quot;:[],&quot;collectionColor&quot;:&quot;theme&quot;}}}],&quot;version&quot;:10,&quot;migrationVersion&quot;:10.03,&quot;id&quot;:&quot;9b27c67c-7340-4e50-bfc5-d76342b5224a&quot;,&quot;sharedModel&quot;:{&quot;background&quot;:{&quot;backgroundColor&quot;:&quot;background_light&quot;,&quot;backgroundStyle&quot;:&quot;backgroundLight&quot;},&quot;textContent&quot;:[{&quot;mainText&quot;:{&quot;text&quot;:&quot;Section\n2 — Sales Performance &amp; Trends&quot;,&quot;textStyle&quot;:&quot;headline&quot;},&quot;secondaryTexts&quot;:[]}],&quot;callouts&quot;:{&quot;elements&quot;:[],&quot;snapToGrid&quot;:false,&quot;collectionColor&quot;:&quot;theme&quot;,&quot;connections&quot;:{&quot;items&quot;:[],&quot;collectionColor&quot;:&quot;theme&quot;}}},&quot;animations&quot;:{&quot;general&quot;:{&quot;migrated&quot;:true}}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itle&quot;,&quot;presentationId&quot;:&quot;e7b796fc-2df2-44b9-b695-38cd67bf3958&quot;,&quot;template_version&quot;:1,&quot;layout&quot;:{&quot;headerPosition&quot;:&quot;top&quot;,&quot;showFooter&quot;:&quot;theme&quot;},&quot;states&quot;:[{&quot;primary&quot;:{&quot;showFooter&quot;:false,&quot;accentColor&quot;:&quot;theme&quot;,&quot;backdropPadding&quot;:40,&quot;verticalAlign&quot;:&quot;middle&quot;,&quot;text&quot;:{&quot;blocks&quot;:[{&quot;id&quot;:&quot;e051bae2-8607-48c9-b94a-a1ff9a4f71db&quot;,&quot;html&quot;:&quot;Product\nSales &amp;amp; Profitability Analysis&quot;,&quot;type&quot;:&quot;text&quot;,&quot;textStyle&quot;:&quot;heading&quot;,&quot;indent&quot;:0,&quot;blockBounds&quot;:{&quot;left&quot;:0,&quot;top&quot;:-12.324999809265137,&quot;width&quot;:776,&quot;height&quot;:178.90000915527344},&quot;textStyles&quot;:{&quot;fontFamily&quot;:&quot;geist&quot;,&quot;baseFontSize&quot;:9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40,&quot;maxLines&quot;:9999,&quot;evenBreak&quot;:true,&quot;listDecorationStyle&quot;:&quot;theme&quot;,&quot;allowFancyNumberedDecorations&quot;:false,&quot;hasEmphasized&quot;:false,&quot;blockInset&quot;:0,&quot;isRTL&quot;:false,&quot;fontScale&quot;:1,&quot;fontSize&quot;:90,&quot;textAlign&quot;:&quot;center&quot;,&quot;color&quot;:&quot;rgb(51, 51, 51)&quot;,&quot;emphasizedColor&quot;:&quot;rgb(72, 220, 146)&quot;,&quot;hyperlinkColor&quot;:&quot;rgb(17, 169, 226)&quot;,&quot;boldStyles&quot;:{&quot;fontColor&quot;:&quot;slide&quot;},&quot;accentColor&quot;:&quot;theme&quot;,&quot;defaultColor&quot;:&quot;rgb(51, 51, 51)&quot;},&quot;blockMargin&quot;:{&quot;top&quot;:-12.329999999999995,&quot;bottom&quot;:0,&quot;left&quot;:0,&quot;right&quot;:0},&quot;topSpace&quot;:12.329999999999995,&quot;bottomSpace&quot;:13.230000000000004,&quot;fontColor&quot;:&quot;primary&quot;},{&quot;id&quot;:&quot;96b50b2b-f15f-47ff-af72-210a426ea541&quot;,&quot;type&quot;:&quot;text&quot;,&quot;html&quot;:&quot;Sales\nPerformance Dashboard Insights    &quot;,&quot;textStyle&quot;:&quot;body&quot;,&quot;indent&quot;:0,&quot;blockBounds&quot;:{&quot;left&quot;:0,&quot;top&quot;:184.85000610351562,&quot;width&quot;:776,&quot;height&quot;:36.41250228881836},&quot;textStyles&quot;:{&quot;fontFamily&quot;:&quot;geist&quot;,&quot;baseFontSize&quot;:27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4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center&quot;,&quot;color&quot;:&quot;rgb(51, 51, 51)&quot;,&quot;emphasizedColor&quot;:&quot;rgb(51, 51, 51)&quot;,&quot;hyperlinkColor&quot;:&quot;rgb(17, 169, 226)&quot;,&quot;defaultColor&quot;:&quot;rgba(0, 0, 0, 0.65)&quot;},&quot;blockMargin&quot;:{&quot;top&quot;:18.2785,&quot;bottom&quot;:-8.761499999999998,&quot;left&quot;:0,&quot;right&quot;:0},&quot;topSpace&quot;:8.491499999999997,&quot;bottomSpace&quot;:8.761499999999998,&quot;fontColor&quot;:&quot;primary&quot;}]},&quot;presenters&quot;:{&quot;items&quot;:[{&quot;title&quot;:&quot;&quot;,&quot;id&quot;:&quot;2eddd5dd-9868-41c4-88ab-393b362faa52&quot;,&quot;text&quot;:{&quot;blocks&quot;:[{&quot;id&quot;:&quot;a1aa2291-5bdb-4e34-8ae3-1748b2a2ed7c&quot;,&quot;html&quot;:&quot;Aishwaray Shinde    &quot;,&quot;type&quot;:&quot;text&quot;,&quot;textStyle&quot;:&quot;title&quot;,&quot;indent&quot;:0,&quot;blockBounds&quot;:{&quot;left&quot;:0,&quot;top&quot;:-4.150000095367432,&quot;width&quot;:178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2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left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],&quot;collectionColor&quot;:&quot;theme&quot;,&quot;horizontalAlign&quot;:&quot;left&quot;},&quot;showPresenters&quot;:true},&quot;callouts&quot;:{&quot;snapToGrid&quot;:false,&quot;collectionColor&quot;:&quot;theme&quot;,&quot;connections&quot;:{&quot;items&quot;:[],&quot;collectionColor&quot;:&quot;theme&quot;}}}],&quot;version&quot;:10,&quot;migrationVersion&quot;:10.03,&quot;id&quot;:&quot;e50e77a4-a844-41e1-b683-30c8909fbebe&quot;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extlist&quot;,&quot;presentationId&quot;:&quot;52091531-6924-4627-926b-15ecda938a71&quot;,&quot;template_version&quot;:1,&quot;layout&quot;:{&quot;headerPosition&quot;:&quot;left&quot;,&quot;showFooter&quot;:&quot;off&quot;,&quot;elementTextBlockPosition&quot;:&quot;none&quot;},&quot;states&quot;:[{&quot;header&quot;:{&quot;text&quot;:{&quot;blocks&quot;:[{&quot;id&quot;:&quot;40350959-c14d-486d-ae9e-05edf28fee76&quot;,&quot;html&quot;:&quot;Table\nof Content&quot;,&quot;type&quot;:&quot;text&quot;,&quot;textStyle&quot;:&quot;heading&quot;,&quot;indent&quot;:0,&quot;blockBounds&quot;:{&quot;left&quot;:0,&quot;top&quot;:-6.849999904632568,&quot;width&quot;:180.66250610351562,&quot;height&quot;:99.4000015258789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left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listStyle&quot;:&quot;bullets&quot;,&quot;autoDistributeBullets&quot;:true,&quot;autoArrangeColumnsCount&quot;:2,&quot;showColumnHeaders&quot;:false,&quot;startNum&quot;:1,&quot;items&quot;:[{&quot;text&quot;:{&quot;blocks&quot;:[{&quot;id&quot;:&quot;6863b7c0-8197-4b68-a100-2d6b9d5607e6&quot;,&quot;type&quot;:&quot;text&quot;,&quot;textStyle&quot;:&quot;bulleted&quot;,&quot;listStyle&quot;:&quot;bullets&quot;,&quot;html&quot;:&quot;Objective&quot;,&quot;indent&quot;:0,&quot;blockBounds&quot;:{&quot;left&quot;:0,&quot;top&quot;:-7.487500190734863,&quot;width&quot;:760,&quot;height&quot;:40.88750076293945},&quot;textStyles&quot;:{&quot;fontFamily&quot;:&quot;geist&quot;,&quot;baseFontSize&quot;:36,&quot;fontColor&quot;:&quot;primary&quot;,&quot;bulletColor&quot;:&quot;slide&quot;,&quot;bulletScale&quot;:1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20,&quot;paragraphSpacing&quot;:5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6,&quot;textAlign&quot;:&quot;left&quot;,&quot;color&quot;:&quot;rgb(51, 51, 51)&quot;,&quot;emphasizedColor&quot;:&quot;rgb(72, 220, 146)&quot;,&quot;hyperlinkColor&quot;:&quot;rgb(17, 169, 226)&quot;},&quot;blockMargin&quot;:{&quot;top&quot;:-7.488000000000001,&quot;bottom&quot;:0,&quot;left&quot;:0,&quot;right&quot;:0},&quot;topSpace&quot;:7.488000000000001,&quot;bottomSpace&quot;:7.847999999999999},{&quot;id&quot;:&quot;fb556620-c65f-4026-ba11-bf723476fe31&quot;,&quot;type&quot;:&quot;text&quot;,&quot;html&quot;:&quot;Sales Performance &amp;amp; Trends      &quot;,&quot;textStyle&quot;:&quot;bulleted&quot;,&quot;listStyle&quot;:&quot;bullets&quot;,&quot;indent&quot;:0,&quot;blockBounds&quot;:{&quot;left&quot;:0,&quot;top&quot;:68.0625,&quot;width&quot;:760,&quot;height&quot;:40.88750076293945},&quot;textStyles&quot;:{&quot;fontFamily&quot;:&quot;geist&quot;,&quot;baseFontSize&quot;:36,&quot;fontColor&quot;:&quot;primary&quot;,&quot;bulletColor&quot;:&quot;slide&quot;,&quot;bulletScale&quot;:1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20,&quot;paragraphSpacing&quot;:5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6,&quot;textAlign&quot;:&quot;left&quot;,&quot;color&quot;:&quot;rgb(51, 51, 51)&quot;,&quot;emphasizedColor&quot;:&quot;rgb(72, 220, 146)&quot;,&quot;hyperlinkColor&quot;:&quot;rgb(17, 169, 226)&quot;},&quot;blockMargin&quot;:{&quot;top&quot;:34.664,&quot;bottom&quot;:0,&quot;left&quot;:0,&quot;right&quot;:0},&quot;topSpace&quot;:7.488000000000001,&quot;bottomSpace&quot;:7.847999999999999},{&quot;id&quot;:&quot;215cf79a-c21b-47d8-85a8-7a47833241a1&quot;,&quot;type&quot;:&quot;text&quot;,&quot;html&quot;:&quot;Store &amp;amp; Regional Analysis      &quot;,&quot;textStyle&quot;:&quot;bulleted&quot;,&quot;listStyle&quot;:&quot;bullets&quot;,&quot;indent&quot;:0,&quot;blockBounds&quot;:{&quot;left&quot;:0,&quot;top&quot;:143.6125030517578,&quot;width&quot;:760,&quot;height&quot;:40.88750076293945},&quot;textStyles&quot;:{&quot;fontFamily&quot;:&quot;geist&quot;,&quot;baseFontSize&quot;:36,&quot;fontColor&quot;:&quot;primary&quot;,&quot;bulletColor&quot;:&quot;slide&quot;,&quot;bulletScale&quot;:1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20,&quot;paragraphSpacing&quot;:5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6,&quot;textAlign&quot;:&quot;left&quot;,&quot;color&quot;:&quot;rgb(51, 51, 51)&quot;,&quot;emphasizedColor&quot;:&quot;rgb(72, 220, 146)&quot;,&quot;hyperlinkColor&quot;:&quot;rgb(17, 169, 226)&quot;},&quot;blockMargin&quot;:{&quot;top&quot;:34.664,&quot;bottom&quot;:0,&quot;left&quot;:0,&quot;right&quot;:0},&quot;topSpace&quot;:7.488000000000001,&quot;bottomSpace&quot;:7.847999999999999},{&quot;id&quot;:&quot;338ade84-e5d3-4d99-8ec9-a2c48f013831&quot;,&quot;type&quot;:&quot;text&quot;,&quot;html&quot;:&quot;Customer Insights      &quot;,&quot;textStyle&quot;:&quot;bulleted&quot;,&quot;listStyle&quot;:&quot;bullets&quot;,&quot;indent&quot;:0,&quot;blockBounds&quot;:{&quot;left&quot;:0,&quot;top&quot;:219.16250610351562,&quot;width&quot;:760,&quot;height&quot;:40.88750076293945},&quot;textStyles&quot;:{&quot;fontFamily&quot;:&quot;geist&quot;,&quot;baseFontSize&quot;:36,&quot;fontColor&quot;:&quot;primary&quot;,&quot;bulletColor&quot;:&quot;slide&quot;,&quot;bulletScale&quot;:1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20,&quot;paragraphSpacing&quot;:5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6,&quot;textAlign&quot;:&quot;left&quot;,&quot;color&quot;:&quot;rgb(51, 51, 51)&quot;,&quot;emphasizedColor&quot;:&quot;rgb(72, 220, 146)&quot;,&quot;hyperlinkColor&quot;:&quot;rgb(17, 169, 226)&quot;},&quot;blockMargin&quot;:{&quot;top&quot;:34.664,&quot;bottom&quot;:0,&quot;left&quot;:0,&quot;right&quot;:0},&quot;topSpace&quot;:7.488000000000001,&quot;bottomSpace&quot;:7.847999999999999},{&quot;id&quot;:&quot;2103f519-96a5-4e9e-9c28-b3791bff6445&quot;,&quot;type&quot;:&quot;text&quot;,&quot;html&quot;:&quot;Strategic Recommendations      &quot;,&quot;textStyle&quot;:&quot;bulleted&quot;,&quot;listStyle&quot;:&quot;bullets&quot;,&quot;indent&quot;:0,&quot;blockBounds&quot;:{&quot;left&quot;:0,&quot;top&quot;:294.7124938964844,&quot;width&quot;:760,&quot;height&quot;:40.88750076293945},&quot;textStyles&quot;:{&quot;fontFamily&quot;:&quot;geist&quot;,&quot;baseFontSize&quot;:36,&quot;fontColor&quot;:&quot;primary&quot;,&quot;bulletColor&quot;:&quot;slide&quot;,&quot;bulletScale&quot;:1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20,&quot;paragraphSpacing&quot;:5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6,&quot;textAlign&quot;:&quot;left&quot;,&quot;color&quot;:&quot;rgb(51, 51, 51)&quot;,&quot;emphasizedColor&quot;:&quot;rgb(72, 220, 146)&quot;,&quot;hyperlinkColor&quot;:&quot;rgb(17, 169, 226)&quot;},&quot;blockMargin&quot;:{&quot;top&quot;:34.664,&quot;bottom&quot;:0,&quot;left&quot;:0,&quot;right&quot;:0},&quot;topSpace&quot;:7.488000000000001,&quot;bottomSpace&quot;:7.847999999999999},{&quot;id&quot;:&quot;3bc3c986-cc4a-4d96-a9c3-afdc67988554&quot;,&quot;type&quot;:&quot;text&quot;,&quot;html&quot;:&quot;Conclusion      &quot;,&quot;textStyle&quot;:&quot;bulleted&quot;,&quot;listStyle&quot;:&quot;bullets&quot;,&quot;indent&quot;:0,&quot;blockBounds&quot;:{&quot;left&quot;:0,&quot;top&quot;:370.26251220703125,&quot;width&quot;:760,&quot;height&quot;:40.88750076293945},&quot;textStyles&quot;:{&quot;fontFamily&quot;:&quot;geist&quot;,&quot;baseFontSize&quot;:36,&quot;fontColor&quot;:&quot;primary&quot;,&quot;bulletColor&quot;:&quot;slide&quot;,&quot;bulletScale&quot;:1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20,&quot;paragraphSpacing&quot;:5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6,&quot;textAlign&quot;:&quot;left&quot;,&quot;color&quot;:&quot;rgb(51, 51, 51)&quot;,&quot;emphasizedColor&quot;:&quot;rgb(72, 220, 146)&quot;,&quot;hyperlinkColor&quot;:&quot;rgb(17, 169, 226)&quot;},&quot;blockMargin&quot;:{&quot;top&quot;:34.664,&quot;bottom&quot;:-7.847999999999999,&quot;left&quot;:0,&quot;right&quot;:0},&quot;topSpace&quot;:7.488000000000001,&quot;bottomSpace&quot;:7.847999999999999}]},&quot;id&quot;:&quot;2a4490ac-58f7-4c67-8791-b0187958dd3b&quot;}],&quot;collectionColor&quot;:&quot;theme&quot;,&quot;columnHeader0&quot;:{&quot;blocks&quot;:[{&quot;id&quot;:&quot;f2c3d516-ab89-48ec-9305-6a17ac05701d&quot;,&quot;html&quot;:&quot;&quot;,&quot;type&quot;:&quot;text&quot;,&quot;textStyle&quot;:&quot;_use_styles_&quot;,&quot;indent&quot;:0,&quot;blockBounds&quot;:{&quot;left&quot;:0,&quot;top&quot;:-4.099999904632568,&quot;width&quot;:810,&quot;height&quot;:29.8125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6em&quot;,&quot;lineHeight&quot;:0.9939999999999998,&quot;textTransform&quot;:&quot;none&quot;,&quot;spaceBelow&quot;:0,&quot;spaceAbove&quot;:0,&quot;blockSpacing&quot;:20,&quot;boldStyles&quot;:{&quot;fontColor&quot;:&quot;slide&quot;},&quot;maxLines&quot;:3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-4.109999999999998,&quot;bottom&quot;:-4.409999999999997,&quot;left&quot;:0,&quot;right&quot;:0},&quot;topSpace&quot;:4.109999999999998,&quot;bottomSpace&quot;:4.409999999999997}]}},&quot;callouts&quot;:{&quot;elements&quot;:[],&quot;snapToGrid&quot;:false,&quot;collectionColor&quot;:&quot;theme&quot;,&quot;connections&quot;:{&quot;items&quot;:[],&quot;collectionColor&quot;:&quot;theme&quot;}},&quot;elementTextBlock&quot;:{&quot;elementTextBlock&quot;:{&quot;blocks&quot;:[{&quot;type&quot;:&quot;text&quot;,&quot;textStyle&quot;:&quot;title&quot;,&quot;evenBreak&quot;:true,&quot;id&quot;:&quot;90e70d0c-7cd9-44c5-897d-3571bc9c81cb&quot;,&quot;html&quot;:&quot;&quot;,&quot;indent&quot;:0,&quot;blockBounds&quot;:{&quot;left&quot;:0,&quot;top&quot;:-6.237500190734863,&quot;width&quot;:1180,&quot;height&quot;:34.07500076293945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30,&quot;textAlign&quot;:&quot;center&quot;,&quot;color&quot;:&quot;rgb(51, 51, 51)&quot;,&quot;emphasizedColor&quot;:&quot;rgb(72, 220, 146)&quot;,&quot;hyperlinkColor&quot;:&quot;rgb(17, 169, 226)&quot;},&quot;blockMargin&quot;:{&quot;top&quot;:-6.239999999999998,&quot;bottom&quot;:-6.540000000000003,&quot;left&quot;:0,&quot;right&quot;:0},&quot;topSpace&quot;:6.239999999999998,&quot;bottomSpace&quot;:6.540000000000003}]},&quot;color&quot;:&quot;background_accent&quot;}}],&quot;version&quot;:10,&quot;migrationVersion&quot;:10.03,&quot;id&quot;:&quot;d25cb6ef-f428-416b-9bfc-cfb9aa1abb92&quot;,&quot;sharedModel&quot;:{&quot;header&quot;:{&quot;text&quot;:{&quot;blocks&quot;:[{&quot;id&quot;:&quot;40350959-c14d-486d-ae9e-05edf28fee76&quot;,&quot;html&quot;:&quot;Table\nof Content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textContent&quot;:[{&quot;listStyle&quot;:&quot;bullets&quot;,&quot;mainText&quot;:{&quot;text&quot;:&quot;Objective&quot;,&quot;textStyle&quot;:&quot;bulleted&quot;},&quot;secondaryTexts&quot;:[]}],&quot;collectionColor&quot;:&quot;theme&quot;,&quot;callouts&quot;:{&quot;elements&quot;:[],&quot;snapToGrid&quot;:false,&quot;collectionColor&quot;:&quot;theme&quot;,&quot;connections&quot;:{&quot;items&quot;:[],&quot;collectionColor&quot;:&quot;theme&quot;}}},&quot;modifiedAt&quot;:1756110333550,&quot;animations&quot;:{&quot;general&quot;:{&quot;migrated&quot;:true,&quot;arrangementType&quot;:&quot;sequential&quot;}}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ext&quot;,&quot;presentationId&quot;:&quot;9299957a-9892-4204-8891-78aa09cc4111&quot;,&quot;template_version&quot;:1,&quot;layout&quot;:{&quot;headerPosition&quot;:&quot;top&quot;,&quot;showFooter&quot;:&quot;off&quot;},&quot;states&quot;:[{&quot;header&quot;:{&quot;text&quot;:{&quot;blocks&quot;:[{&quot;id&quot;:&quot;68e33051-c56d-4140-bd2f-322aa6c3a33f&quot;,&quot;html&quot;:&quot;Objective\n&amp;amp; Scope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textAlign&quot;:&quot;left&quot;,&quot;text&quot;:{&quot;blocks&quot;:[{&quot;id&quot;:&quot;8fb5701e-c71d-415f-a903-8935d73d7c7d&quot;,&quot;html&quot;:&quot;Objective:&quot;,&quot;type&quot;:&quot;text&quot;,&quot;textStyle&quot;:&quot;bulleted&quot;,&quot;indent&quot;:0,&quot;blockBounds&quot;:{&quot;left&quot;:0,&quot;top&quot;:-6.237500190734863,&quot;width&quot;:1120,&quot;height&quot;:34.07500076293945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-6.239999999999998,&quot;bottom&quot;:0,&quot;left&quot;:0,&quot;right&quot;:0},&quot;topSpace&quot;:6.239999999999998,&quot;bottomSpace&quot;:6.540000000000003,&quot;listStyle&quot;:&quot;bullets&quot;},{&quot;id&quot;:&quot;d35b3dbe-9877-4ad3-9a39-368d1b7c26b9&quot;,&quot;html&quot;:&quot;To analyze product sales,\nprofitability, customer demographics, and store performance to derive\nactionable insights and recommend strategies for business growth.      &quot;,&quot;type&quot;:&quot;text&quot;,&quot;textStyle&quot;:&quot;body&quot;,&quot;indent&quot;:0,&quot;blockBounds&quot;:{&quot;left&quot;:0,&quot;top&quot;:43.73749923706055,&quot;width&quot;:1120,&quot;height&quot;:64.75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left&quot;,&quot;color&quot;:&quot;rgba(0, 0, 0, 0.65)&quot;,&quot;emphasizedColor&quot;:&quot;rgb(0, 0, 0)&quot;,&quot;hyperlinkColor&quot;:&quot;rgb(17, 169, 226)&quot;},&quot;blockMargin&quot;:{&quot;top&quot;:15.911999999999999,&quot;bottom&quot;:0,&quot;left&quot;:0,&quot;right&quot;:0},&quot;topSpace&quot;:7.547999999999998,&quot;bottomSpace&quot;:7.788},{&quot;id&quot;:&quot;ca436b8f-9821-4a45-b9b8-402de929010f&quot;,&quot;type&quot;:&quot;text&quot;,&quot;textStyle&quot;:&quot;bulleted&quot;,&quot;html&quot;:&quot;Scope:      &quot;,&quot;indent&quot;:0,&quot;blockBounds&quot;:{&quot;left&quot;:0,&quot;top&quot;:134.4499969482422,&quot;width&quot;:1120,&quot;height&quot;:34.07500076293945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5.972000000000005,&quot;bottom&quot;:0,&quot;left&quot;:0,&quot;right&quot;:0},&quot;topSpace&quot;:6.239999999999998,&quot;bottomSpace&quot;:6.540000000000003,&quot;listStyle&quot;:&quot;bullets&quot;},{&quot;id&quot;:&quot;178329b4-b38b-4454-88e0-78f4a34c208f&quot;,&quot;type&quot;:&quot;text&quot;,&quot;textStyle&quot;:&quot;body&quot;,&quot;html&quot;:&quot;Evaluate overall sales and profit trends.&quot;,&quot;indent&quot;:0,&quot;blockBounds&quot;:{&quot;left&quot;:0,&quot;top&quot;:184.4250030517578,&quot;width&quot;:1120,&quot;height&quot;:32.375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left&quot;,&quot;color&quot;:&quot;rgba(0, 0, 0, 0.65)&quot;,&quot;emphasizedColor&quot;:&quot;rgb(0, 0, 0)&quot;,&quot;hyperlinkColor&quot;:&quot;rgb(17, 169, 226)&quot;},&quot;blockMargin&quot;:{&quot;top&quot;:15.911999999999999,&quot;bottom&quot;:0,&quot;left&quot;:0,&quot;right&quot;:0},&quot;topSpace&quot;:7.547999999999998,&quot;bottomSpace&quot;:7.788},{&quot;id&quot;:&quot;4bf5f4d9-9dd6-4dad-8e54-c5112287b8d6&quot;,&quot;type&quot;:&quot;text&quot;,&quot;textStyle&quot;:&quot;body&quot;,&quot;html&quot;:&quot;Analyze top-performing and underperforming products.&quot;,&quot;indent&quot;:0,&quot;blockBounds&quot;:{&quot;left&quot;:0,&quot;top&quot;:231.46250915527344,&quot;width&quot;:1120,&quot;height&quot;:32.375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left&quot;,&quot;color&quot;:&quot;rgba(0, 0, 0, 0.65)&quot;,&quot;emphasizedColor&quot;:&quot;rgb(0, 0, 0)&quot;,&quot;hyperlinkColor&quot;:&quot;rgb(17, 169, 226)&quot;},&quot;blockMargin&quot;:{&quot;top&quot;:14.664000000000001,&quot;bottom&quot;:0,&quot;left&quot;:0,&quot;right&quot;:0},&quot;topSpace&quot;:7.547999999999998,&quot;bottomSpace&quot;:7.788},{&quot;id&quot;:&quot;5f33dac3-f305-4a9d-a429-92366ab6f88f&quot;,&quot;type&quot;:&quot;text&quot;,&quot;textStyle&quot;:&quot;body&quot;,&quot;html&quot;:&quot;Study customer purchasing behavior.&quot;,&quot;indent&quot;:0,&quot;blockBounds&quot;:{&quot;left&quot;:0,&quot;top&quot;:278.5,&quot;width&quot;:1120,&quot;height&quot;:32.375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left&quot;,&quot;color&quot;:&quot;rgba(0, 0, 0, 0.65)&quot;,&quot;emphasizedColor&quot;:&quot;rgb(0, 0, 0)&quot;,&quot;hyperlinkColor&quot;:&quot;rgb(17, 169, 226)&quot;},&quot;blockMargin&quot;:{&quot;top&quot;:14.664000000000001,&quot;bottom&quot;:0,&quot;left&quot;:0,&quot;right&quot;:0},&quot;topSpace&quot;:7.547999999999998,&quot;bottomSpace&quot;:7.788},{&quot;id&quot;:&quot;21821799-3089-4e77-a1a8-9bd0da63b752&quot;,&quot;type&quot;:&quot;text&quot;,&quot;textStyle&quot;:&quot;body&quot;,&quot;html&quot;:&quot;Assess store &amp;amp; regional performance.&quot;,&quot;indent&quot;:0,&quot;blockBounds&quot;:{&quot;left&quot;:0,&quot;top&quot;:325.5375061035156,&quot;width&quot;:1120,&quot;height&quot;:32.375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left&quot;,&quot;color&quot;:&quot;rgba(0, 0, 0, 0.65)&quot;,&quot;emphasizedColor&quot;:&quot;rgb(0, 0, 0)&quot;,&quot;hyperlinkColor&quot;:&quot;rgb(17, 169, 226)&quot;},&quot;blockMargin&quot;:{&quot;top&quot;:14.664000000000001,&quot;bottom&quot;:0,&quot;left&quot;:0,&quot;right&quot;:0},&quot;topSpace&quot;:7.547999999999998,&quot;bottomSpace&quot;:7.788},{&quot;id&quot;:&quot;880f211e-e48f-4c0d-a50f-f761faa1b954&quot;,&quot;type&quot;:&quot;text&quot;,&quot;textStyle&quot;:&quot;body&quot;,&quot;html&quot;:&quot;Provide strategic recommendations for improving revenue and\nprofitability .&quot;,&quot;indent&quot;:0,&quot;blockBounds&quot;:{&quot;left&quot;:0,&quot;top&quot;:372.57501220703125,&quot;width&quot;:1120,&quot;height&quot;:32.375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left&quot;,&quot;color&quot;:&quot;rgba(0, 0, 0, 0.65)&quot;,&quot;emphasizedColor&quot;:&quot;rgb(0, 0, 0)&quot;,&quot;hyperlinkColor&quot;:&quot;rgb(17, 169, 226)&quot;},&quot;blockMargin&quot;:{&quot;top&quot;:14.664000000000001,&quot;bottom&quot;:-7.788,&quot;left&quot;:0,&quot;right&quot;:0},&quot;topSpace&quot;:7.547999999999998,&quot;bottomSpace&quot;:7.788}]}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6080094a-5672-4a10-b6fd-a916e8c2ec55&quot;,&quot;modifiedAt&quot;:1756204255364,&quot;animations&quot;:{&quot;general&quot;:{&quot;migrated&quot;:true}}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itle&quot;,&quot;presentationId&quot;:&quot;549229f0-f208-4762-b6fe-28cb8aa01a6a&quot;,&quot;template_version&quot;:1,&quot;layout&quot;:{&quot;headerPosition&quot;:&quot;top&quot;,&quot;showFooter&quot;:&quot;theme&quot;,&quot;backgroundColor&quot;:&quot;background_light&quot;,&quot;backgroundStyle&quot;:&quot;backgroundLight&quot;},&quot;states&quot;:[{&quot;primary&quot;:{&quot;verticalAlign&quot;:&quot;middle&quot;,&quot;text&quot;:{&quot;blocks&quot;:[{&quot;id&quot;:&quot;4fd70c72-8001-4111-9d4d-40ad87de62b6&quot;,&quot;html&quot;:&quot;Section\n2 — Sales Performance &amp;amp; Trends&quot;,&quot;type&quot;:&quot;text&quot;,&quot;textStyle&quot;:&quot;heading&quot;,&quot;indent&quot;:0,&quot;blockBounds&quot;:{&quot;left&quot;:0,&quot;top&quot;:-9.237500190734863,&quot;width&quot;:1185,&quot;height&quot;:67.0875015258789},&quot;textStyles&quot;:{&quot;fontFamily&quot;:&quot;geist&quot;,&quot;baseFontSize&quot;:90,&quot;fontColor&quot;:&quot;primary&quot;,&quot;bulletScale&quot;:1,&quot;bulletSpacing&quot;:2.5,&quot;bulletIndent&quot;:50,&quot;fontScaling&quot;:100,&quot;fontWeight&quot;:600,&quot;letterSpacing&quot;:&quot;-0.06em&quot;,&quot;lineHeight&quot;:0.994,&quot;textTransform&quot;:&quot;none&quot;,&quot;spaceBelow&quot;:0,&quot;spaceAbove&quot;:0,&quot;blockSpacing&quot;:40,&quot;maxLines&quot;:9999,&quot;evenBreak&quot;:true,&quot;listDecorationStyle&quot;:&quot;theme&quot;,&quot;allowFancyNumberedDecorations&quot;:false,&quot;hasEmphasized&quot;:false,&quot;blockInset&quot;:0,&quot;isRTL&quot;:false,&quot;fontScale&quot;:0.75,&quot;fontSize&quot;:67.5,&quot;textAlign&quot;:&quot;center&quot;,&quot;color&quot;:&quot;rgb(51, 51, 51)&quot;,&quot;emphasizedColor&quot;:&quot;rgb(57, 216, 193)&quot;,&quot;hyperlinkColor&quot;:&quot;rgb(17, 169, 226)&quot;,&quot;boldStyles&quot;:{&quot;fontColor&quot;:&quot;slide&quot;},&quot;accentColor&quot;:&quot;accent1&quot;},&quot;blockMargin&quot;:{&quot;top&quot;:-9.247500000000002,&quot;bottom&quot;:-9.9225,&quot;left&quot;:0,&quot;right&quot;:0},&quot;topSpace&quot;:9.247500000000002,&quot;bottomSpace&quot;:9.9225}],&quot;blockFontScales&quot;:{&quot;heading&quot;:0.75}},&quot;backdropPadding&quot;:40,&quot;showFooter&quot;:false,&quot;accentColor&quot;:&quot;accent1&quot;,&quot;decoration&quot;:&quot;left_border&quot;,&quot;userWidth&quot;:1315.677397919496},&quot;callouts&quot;:{&quot;snapToGrid&quot;:false,&quot;collectionColor&quot;:&quot;theme&quot;,&quot;connections&quot;:{&quot;items&quot;:[],&quot;collectionColor&quot;:&quot;theme&quot;}}}],&quot;version&quot;:10,&quot;migrationVersion&quot;:10.03,&quot;id&quot;:&quot;9b27c67c-7340-4e50-bfc5-d76342b5224a&quot;,&quot;sharedModel&quot;:{&quot;background&quot;:{&quot;backgroundColor&quot;:&quot;background_light&quot;,&quot;backgroundStyle&quot;:&quot;backgroundLight&quot;},&quot;textContent&quot;:[{&quot;mainText&quot;:{&quot;text&quot;:&quot;Section\n2 — Sales Performance &amp; Trends&quot;,&quot;textStyle&quot;:&quot;headline&quot;},&quot;secondaryTexts&quot;:[]}],&quot;callouts&quot;:{&quot;elements&quot;:[],&quot;snapToGrid&quot;:false,&quot;collectionColor&quot;:&quot;theme&quot;,&quot;connections&quot;:{&quot;items&quot;:[],&quot;collectionColor&quot;:&quot;theme&quot;}}},&quot;animations&quot;:{&quot;general&quot;:{&quot;migrated&quot;:true}}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line&quot;,&quot;presentationId&quot;:&quot;d2248d7d-92e8-4096-9520-8e3cd3856b4d&quot;,&quot;template_version&quot;:1,&quot;layout&quot;:{&quot;headerPosition&quot;:&quot;top&quot;,&quot;showFooter&quot;:&quot;off&quot;,&quot;backgroundStyle&quot;:&quot;backgroundLight&quot;,&quot;backgroundColor&quot;:&quot;background_light&quot;,&quot;slideColor&quot;:&quot;theme&quot;,&quot;showElementAttribution&quot;:false},&quot;states&quot;:[{&quot;header&quot;:{&quot;text&quot;:{&quot;blocks&quot;:[{&quot;id&quot;:&quot;71b28d47-4580-4872-8c70-68224187f91f&quot;,&quot;html&quot;:&quot;Overall\nSales &amp;amp; Profit Trends    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Total Sales&quot;,&quot;type&quot;:&quot;line&quot;,&quot;data&quot;:[{&quot;y&quot;:45539.69,&quot;pt&quot;:true},{&quot;y&quot;:44058.79,&quot;pt&quot;:true},{&quot;y&quot;:50029.87,&quot;pt&quot;:true},{&quot;y&quot;:42878.25,&quot;pt&quot;:true},{&quot;y&quot;:44456.29,&quot;pt&quot;:true},{&quot;y&quot;:45331.73,&quot;pt&quot;:true},{&quot;y&quot;:50246.88,&quot;pt&quot;:true},{&quot;y&quot;:46199.04,&quot;pt&quot;:true},{&quot;y&quot;:43825.97},{&quot;y&quot;:42342.27},{&quot;y&quot;:53363.71},{&quot;y&quot;:56965.64}],&quot;colorName&quot;:&quot;chart2&quot;,&quot;marker&quot;:&quot;none&quot;,&quot;zones&quot;:[{&quot;style&quot;:&quot;default&quot;}]},{&quot;id&quot;:&quot;series1756206077148&quot;,&quot;name&quot;:&quot;Total Profit&quot;,&quot;type&quot;:&quot;line&quot;,&quot;data&quot;:[{&quot;y&quot;:27173.83,&quot;pt&quot;:true},{&quot;y&quot;:26265.96,&quot;pt&quot;:true},{&quot;y&quot;:29827.04,&quot;pt&quot;:true},{&quot;y&quot;:25568.09,&quot;pt&quot;:true},{&quot;y&quot;:26497.52,&quot;pt&quot;:true},{&quot;y&quot;:27059.81,&quot;pt&quot;:true},{&quot;y&quot;:30005.09,&quot;pt&quot;:true},{&quot;y&quot;:27522.96,&quot;pt&quot;:true},{&quot;y&quot;:26159.69},{&quot;y&quot;:25209.98},{&quot;y&quot;:31837.2},{&quot;y&quot;:33998.31}],&quot;colorName&quot;:&quot;theme&quot;,&quot;marker&quot;:&quot;none&quot;,&quot;zones&quot;:[{&quot;style&quot;:&quot;default&quot;}]}],&quot;xAxis&quot;:{&quot;visible&quot;:true,&quot;showFirstLabel&quot;:true,&quot;showLastLabel&quot;:true,&quot;endOnTick&quot;:true,&quot;categories&quot;:[&quot;January&quot;,&quot;February&quot;,&quot;March&quot;,&quot;April&quot;,&quot;May&quot;,&quot;June\r&quot;,&quot;July&quot;,&quot;August&quot;,&quot;September&quot;,&quot;October&quot;,&quot;   November&quot;,&quot;December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legendPosition&quot;:&quot;bottom&quot;,&quot;chartAnnotations&quot;:{&quot;items&quot;:[],&quot;connections&quot;:{&quot;items&quot;:[],&quot;collectionColor&quot;:&quot;theme&quot;},&quot;collectionColor&quot;:&quot;theme&quot;},&quot;legendReverse&quot;:true},&quot;id&quot;:&quot;a8095d07-b92a-48c8-9db5-c693efb12e2a&quot;,&quot;showTitle&quot;:&quot;above&quot;,&quot;char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Total Sales&quot;,&quot;type&quot;:&quot;line&quot;,&quot;data&quot;:[{&quot;y&quot;:45539.69,&quot;pt&quot;:true},{&quot;y&quot;:44058.79,&quot;pt&quot;:true},{&quot;y&quot;:50029.87,&quot;pt&quot;:true},{&quot;y&quot;:42878.25,&quot;pt&quot;:true},{&quot;y&quot;:44456.29,&quot;pt&quot;:true},{&quot;y&quot;:45331.73,&quot;pt&quot;:true},{&quot;y&quot;:50246.88,&quot;pt&quot;:true},{&quot;y&quot;:46199.04,&quot;pt&quot;:true},{&quot;y&quot;:43825.97},{&quot;y&quot;:42342.27},{&quot;y&quot;:53363.71},{&quot;y&quot;:56965.64}],&quot;colorName&quot;:&quot;chart2&quot;,&quot;marker&quot;:&quot;none&quot;,&quot;zones&quot;:[{&quot;style&quot;:&quot;default&quot;}]},{&quot;id&quot;:&quot;series1756206077148&quot;,&quot;name&quot;:&quot;Total Profit&quot;,&quot;type&quot;:&quot;line&quot;,&quot;data&quot;:[{&quot;y&quot;:27173.83,&quot;pt&quot;:true},{&quot;y&quot;:26265.96,&quot;pt&quot;:true},{&quot;y&quot;:29827.04,&quot;pt&quot;:true},{&quot;y&quot;:25568.09,&quot;pt&quot;:true},{&quot;y&quot;:26497.52,&quot;pt&quot;:true},{&quot;y&quot;:27059.81,&quot;pt&quot;:true},{&quot;y&quot;:30005.09,&quot;pt&quot;:true},{&quot;y&quot;:27522.96,&quot;pt&quot;:true},{&quot;y&quot;:26159.69},{&quot;y&quot;:25209.98},{&quot;y&quot;:31837.2},{&quot;y&quot;:33998.31}],&quot;colorName&quot;:&quot;theme&quot;,&quot;marker&quot;:&quot;none&quot;,&quot;zones&quot;:[{&quot;style&quot;:&quot;default&quot;}]}],&quot;xAxis&quot;:{&quot;visible&quot;:true,&quot;showFirstLabel&quot;:true,&quot;showLastLabel&quot;:true,&quot;endOnTick&quot;:true,&quot;categories&quot;:[&quot;January&quot;,&quot;February&quot;,&quot;March&quot;,&quot;April&quot;,&quot;May&quot;,&quot;June\r&quot;,&quot;July&quot;,&quot;August&quot;,&quot;September&quot;,&quot;October&quot;,&quot;   November&quot;,&quot;December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chartAnnotations&quot;:{&quot;items&quot;:[],&quot;connections&quot;:{&quot;items&quot;:[],&quot;collectionColor&quot;:&quot;theme&quot;},&quot;collectionColor&quot;:&quot;theme&quot;}},&quot;chartTitle&quot;:{&quot;chartTitle&quot;:{&quot;blocks&quot;:[{&quot;id&quot;:&quot;e8c4d96c-c4d7-4be6-b9c2-1c4347fa0094&quot;,&quot;html&quot;:&quot;Sales Trend Over Time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,&quot;cellColor&quot;:&quot;none&quot;},{&quot;id&quot;:&quot;4161756207034358&quot;,&quot;componentType&quot;:&quot;TextAndImage&quot;,&quot;childElement&quot;:{&quot;text&quot;:{&quot;blocks&quot;:[{&quot;id&quot;:&quot;6fc5f132-69d2-4e8f-99c6-db871a393e2a&quot;,&quot;html&quot;:&quot;Total Sales = $565K, Profit\n= $337K\n&quot;,&quot;type&quot;:&quot;text&quot;,&quot;textStyle&quot;:&quot;bulleted&quot;,&quot;indent&quot;:0,&quot;blockBounds&quot;:{&quot;left&quot;:0,&quot;top&quot;:-6.237500190734863,&quot;width&quot;:508,&quot;height&quot;:34.07500076293945},&quot;textStyles&quot;:{&quot;fontFamily&quot;:&quot;geist&quot;,&quot;baseFontSize&quot;:30,&quot;fontColor&quot;:&quot;primary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,&quot;bulletColor&quot;:&quot;slide&quot;},&quot;blockMargin&quot;:{&quot;top&quot;:-6.239999999999998,&quot;bottom&quot;:0,&quot;left&quot;:0,&quot;right&quot;:0},&quot;topSpace&quot;:6.239999999999998,&quot;bottomSpace&quot;:6.540000000000003,&quot;listStyle&quot;:&quot;bullets&quot;,&quot;bulletColor&quot;:&quot;theme&quot;},{&quot;id&quot;:&quot;820e7b61-e999-47c6-821b-e53fb6da7c96&quot;,&quot;html&quot;:&quot;Q4\nleads\nwith highest sales $153K and profit $91K&quot;,&quot;type&quot;:&quot;text&quot;,&quot;textStyle&quot;:&quot;bulleted&quot;,&quot;listStyle&quot;:&quot;bullets&quot;,&quot;indent&quot;:0,&quot;blockBounds&quot;:{&quot;left&quot;:0,&quot;top&quot;:55.04999923706055,&quot;width&quot;:508,&quot;height&quot;:68.1500015258789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0,&quot;left&quot;:0,&quot;right&quot;:0},&quot;topSpace&quot;:6.239999999999998,&quot;bottomSpace&quot;:6.540000000000003,&quot;bulletColor&quot;:&quot;theme&quot;},{&quot;id&quot;:&quot;7416e7d0-ee8d-4d05-bcea-af664fee932f&quot;,&quot;html&quot;:&quot;December\nrecords peak monthly performance\n&quot;,&quot;type&quot;:&quot;text&quot;,&quot;textStyle&quot;:&quot;bulleted&quot;,&quot;listStyle&quot;:&quot;bullets&quot;,&quot;indent&quot;:0,&quot;blockBounds&quot;:{&quot;left&quot;:0,&quot;top&quot;:150.41250610351562,&quot;width&quot;:508,&quot;height&quot;:68.1500015258789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0,&quot;left&quot;:0,&quot;right&quot;:0},&quot;topSpace&quot;:6.239999999999998,&quot;bottomSpace&quot;:6.540000000000003,&quot;bulletColor&quot;:&quot;theme&quot;},{&quot;id&quot;:&quot;20a6c6f9-490e-469e-926c-a8208974391d&quot;,&quot;html&quot;:&quot;Steady sales growth observed\ntowards year-end      &quot;,&quot;type&quot;:&quot;text&quot;,&quot;textStyle&quot;:&quot;bulleted&quot;,&quot;listStyle&quot;:&quot;bullets&quot;,&quot;indent&quot;:0,&quot;blockBounds&quot;:{&quot;left&quot;:0,&quot;top&quot;:245.77500915527344,&quot;width&quot;:508,&quot;height&quot;:68.1500015258789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-6.540000000000003,&quot;left&quot;:0,&quot;right&quot;:0},&quot;topSpace&quot;:6.239999999999998,&quot;bottomSpace&quot;:6.540000000000003,&quot;bulletColor&quot;:&quot;theme&quot;}]},&quot;backdropPadding&quot;:30,&quot;verticalAlign&quot;:&quot;middle&quot;,&quot;textAlign&quot;:&quot;left&quot;},&quot;showTitle&quot;:false,&quot;cellColor&quot;:&quot;none&quot;},{&quot;id&quot;:&quot;19561756207665418&quot;,&quot;cellColor&quot;:&quot;none&quot;,&quot;componentType&quot;:&quot;TextAndImage&quot;,&quot;childElement&quot;:{&quot;backdropPadding&quot;:30,&quot;verticalAlign&quot;:&quot;middle&quot;,&quot;boxHAlign&quot;:&quot;center&quot;,&quot;textAlign&quot;:&quot;center&quot;,&quot;text&quot;:{&quot;blocks&quot;:[{&quot;type&quot;:&quot;text&quot;,&quot;textStyle&quot;:&quot;headline&quot;,&quot;html&quot;:&quot;565K&quot;,&quot;id&quot;:&quot;2014c599-192e-4fb3-88e4-54e1931f0392&quot;,&quot;indent&quot;:0,&quot;blockBounds&quot;:{&quot;left&quot;:0,&quot;top&quot;:-9.050000190734863,&quot;width&quot;:129,&quot;height&quot;:55.91250228881836},&quot;textStyles&quot;:{&quot;fontFamily&quot;:&quot;geist&quot;,&quot;baseFontSize&quot;:75,&quot;fontColor&quot;:&quot;primary&quot;,&quot;bulletScale&quot;:1,&quot;bulletSpacing&quot;:2.5,&quot;bulletIndent&quot;:50,&quot;fontScaling&quot;:100,&quot;fontWeight&quot;:600,&quot;letterSpacing&quot;:&quot;-0.06em&quot;,&quot;lineHeight&quot;:1.065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52.5,&quot;textAlign&quot;:&quot;center&quot;,&quot;color&quot;:&quot;rgb(51, 51, 51)&quot;,&quot;emphasizedColor&quot;:&quot;rgb(72, 220, 146)&quot;,&quot;hyperlinkColor&quot;:&quot;rgb(17, 169, 226)&quot;},&quot;blockMargin&quot;:{&quot;top&quot;:-9.056249999999999,&quot;bottom&quot;:0,&quot;left&quot;:0,&quot;right&quot;:0},&quot;topSpace&quot;:9.056249999999999,&quot;bottomSpace&quot;:9.581249999999997},{&quot;type&quot;:&quot;text&quot;,&quot;textStyle&quot;:&quot;title&quot;,&quot;html&quot;:&quot;Total Sales&quot;,&quot;id&quot;:&quot;449e4614-9448-4d8a-b246-372d527ced2e&quot;,&quot;indent&quot;:0,&quot;blockBounds&quot;:{&quot;left&quot;:0,&quot;top&quot;:53.91250228881836,&quot;width&quot;:129,&quot;height&quot;:23.850000381469727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0000000000001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1,&quot;textAlign&quot;:&quot;center&quot;,&quot;color&quot;:&quot;rgb(51, 51, 51)&quot;,&quot;emphasizedColor&quot;:&quot;rgb(72, 220, 146)&quot;,&quot;hyperlinkColor&quot;:&quot;rgb(17, 169, 226)&quot;},&quot;blockMargin&quot;:{&quot;top&quot;:7.050750000000001,&quot;bottom&quot;:-4.578000000000003,&quot;left&quot;:0,&quot;right&quot;:0},&quot;topSpace&quot;:4.368,&quot;bottomSpace&quot;:4.578000000000003}]}},&quot;showTitle&quot;:false},{&quot;id&quot;:&quot;20471756207743201&quot;,&quot;cellColor&quot;:&quot;none&quot;,&quot;componentType&quot;:&quot;TextAndImage&quot;,&quot;childElement&quot;:{&quot;backdropPadding&quot;:30,&quot;verticalAlign&quot;:&quot;middle&quot;,&quot;text&quot;:{&quot;blocks&quot;:[{&quot;type&quot;:&quot;text&quot;,&quot;textStyle&quot;:&quot;headline&quot;,&quot;html&quot;:&quot;337K&quot;,&quot;id&quot;:&quot;1d875304-6d4d-4744-8988-db1e7ba7e5c9&quot;,&quot;indent&quot;:0,&quot;blockBounds&quot;:{&quot;left&quot;:0,&quot;top&quot;:-9.050000190734863,&quot;width&quot;:120,&quot;height&quot;:55.91250228881836},&quot;textStyles&quot;:{&quot;fontFamily&quot;:&quot;geist&quot;,&quot;baseFontSize&quot;:75,&quot;fontColor&quot;:&quot;primary&quot;,&quot;bulletScale&quot;:1,&quot;bulletSpacing&quot;:2.5,&quot;bulletIndent&quot;:50,&quot;fontScaling&quot;:100,&quot;fontWeight&quot;:600,&quot;letterSpacing&quot;:&quot;-0.06em&quot;,&quot;lineHeight&quot;:1.065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52.5,&quot;textAlign&quot;:&quot;center&quot;,&quot;color&quot;:&quot;rgb(51, 51, 51)&quot;,&quot;emphasizedColor&quot;:&quot;rgb(72, 220, 146)&quot;,&quot;hyperlinkColor&quot;:&quot;rgb(17, 169, 226)&quot;},&quot;blockMargin&quot;:{&quot;top&quot;:-9.056249999999999,&quot;bottom&quot;:0,&quot;left&quot;:0,&quot;right&quot;:0},&quot;topSpace&quot;:9.056249999999999,&quot;bottomSpace&quot;:9.581249999999997},{&quot;type&quot;:&quot;text&quot;,&quot;textStyle&quot;:&quot;title&quot;,&quot;html&quot;:&quot;Total Profit&quot;,&quot;id&quot;:&quot;25a7278f-3c61-4691-81bb-d2ef54ebe420&quot;,&quot;indent&quot;:0,&quot;blockBounds&quot;:{&quot;left&quot;:0,&quot;top&quot;:53.91250228881836,&quot;width&quot;:120,&quot;height&quot;:23.850000381469727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0000000000001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1,&quot;textAlign&quot;:&quot;center&quot;,&quot;color&quot;:&quot;rgb(51, 51, 51)&quot;,&quot;emphasizedColor&quot;:&quot;rgb(72, 220, 146)&quot;,&quot;hyperlinkColor&quot;:&quot;rgb(17, 169, 226)&quot;},&quot;blockMargin&quot;:{&quot;top&quot;:7.050750000000001,&quot;bottom&quot;:-4.578000000000003,&quot;left&quot;:0,&quot;right&quot;:0},&quot;topSpace&quot;:4.368,&quot;bottomSpace&quot;:4.578000000000003}]},&quot;boxHAlign&quot;:&quot;center&quot;,&quot;textAlign&quot;:&quot;center&quot;},&quot;showTitle&quot;:false}],&quot;layoutEngineType&quot;:&quot;dashboard&quot;,&quot;cellFrameType&quot;:&quot;none&quot;,&quot;gridLayout&quot;:{&quot;cols&quot;:12,&quot;rows&quot;:12,&quot;cells&quot;:[{&quot;x&quot;:0,&quot;y&quot;:3,&quot;width&quot;:6,&quot;height&quot;:9},{&quot;x&quot;:6,&quot;y&quot;:0,&quot;width&quot;:6,&quot;height&quot;:12},{&quot;x&quot;:0,&quot;y&quot;:0,&quot;width&quot;:3,&quot;height&quot;:3},{&quot;x&quot;:3,&quot;y&quot;:0,&quot;width&quot;:3,&quot;height&quot;:3}]},&quot;showTitle&quot;:&quot;above&quot;,&quot;borderColor&quot;:&quot;accent3&quot;,&quot;cellColor&quot;:&quot;none&quot;},&quot;callouts&quot;:{&quot;snapToGrid&quot;:false,&quot;collectionColor&quot;:&quot;theme&quot;,&quot;connections&quot;:{&quot;items&quot;:[],&quot;collectionColor&quot;:&quot;theme&quot;}},&quot;elementAttribution&quot;:{&quot;elementAttribution&quot;:{&quot;blocks&quot;:[{&quot;id&quot;:&quot;f3c7f4ad-1737-4e23-9570-2abb21b110f0&quot;,&quot;html&quot;:&quot;&quot;,&quot;type&quot;:&quot;text&quot;,&quot;textStyle&quot;:&quot;body&quot;,&quot;indent&quot;:0,&quot;blockBounds&quot;:{&quot;left&quot;:0,&quot;top&quot;:-5.025000095367432,&quot;width&quot;:1040,&quot;height&quot;:21.575000762939453},&quot;textStyles&quot;:{&quot;fontFamily&quot;:&quot;geist&quot;,&quot;baseFontSize&quot;:16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2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6,&quot;textAlign&quot;:&quot;right&quot;,&quot;color&quot;:&quot;rgba(0, 0, 0, 0.65)&quot;,&quot;emphasizedColor&quot;:&quot;rgb(0, 0, 0)&quot;,&quot;hyperlinkColor&quot;:&quot;rgb(17, 169, 226)&quot;},&quot;blockMargin&quot;:{&quot;top&quot;:-5.032,&quot;bottom&quot;:-5.192,&quot;left&quot;:0,&quot;right&quot;:0},&quot;topSpace&quot;:5.032,&quot;bottomSpace&quot;:5.192}]}}}],&quot;version&quot;:10,&quot;migrationVersion&quot;:10.03,&quot;id&quot;:&quot;4c2031c1-f2e9-4b85-bbfa-51288be7a06a&quot;,&quot;sharedModel&quot;:{&quot;header&quot;:{&quot;text&quot;:{&quot;blocks&quot;:[{&quot;id&quot;:&quot;71b28d47-4580-4872-8c70-68224187f91f&quot;,&quot;html&quot;:&quot;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tabularData&quot;:[{&quot;data&quot;:[[&quot;X&quot;,&quot;Jan 1 2025&quot;,&quot;Feb 1 2025&quot;,&quot;Mar 1 2025&quot;,&quot;Apr 1 2025&quot;,&quot;May 1 2025&quot;,&quot;Jun 1 2025&quot;,&quot;Jul 1 2025&quot;,&quot;Aug 1 2025&quot;],[&quot;Data&quot;,10,40,50,30,70,50,90,110]],&quot;categories&quot;:[&quot;Jan 1 2025&quot;,&quot;Feb 1 2025&quot;,&quot;Mar 1 2025&quot;,&quot;Apr 1 2025&quot;,&quot;May 1 2025&quot;,&quot;Jun 1 2025&quot;,&quot;Jul 1 2025&quot;,&quot;Aug 1 2025&quot;],&quot;series&quot;:[{&quot;name&quot;:&quot;Data&quot;,&quot;values&quot;:[10,40,50,30,70,50,90,110]}],&quot;annotations&quot;:{&quot;chart&quot;:{&quot;items&quot;:[],&quot;connections&quot;:{&quot;items&quot;:[],&quot;collectionColor&quot;:&quot;theme&quot;},&quot;collectionColor&quot;:&quot;theme&quot;}}}],&quot;callouts&quot;:{&quot;elements&quot;:[{&quot;id&quot;:&quot;22641756207849953&quot;,&quot;fitToText&quot;:true,&quot;type&quot;:&quot;callout&quot;,&quot;calloutType&quot;:&quot;text&quot;,&quot;width&quot;:130,&quot;height&quot;:38,&quot;x&quot;:575,&quot;y&quot;:285,&quot;name&quot;:&quot;Callout #1&quot;,&quot;isLocked&quot;:false,&quot;opacity&quot;:100,&quot;groupIds&quot;:[],&quot;text&quot;:{&quot;blocks&quot;:[{&quot;id&quot;:&quot;a0ea3a99-5a29-4ed9-82d0-2e2670423b4c&quot;,&quot;html&quot;:&quot;&quot;,&quot;type&quot;:&quot;text&quot;,&quot;textStyle&quot;:&quot;title&quot;,&quot;indent&quot;:0,&quot;blockBounds&quot;:{&quot;left&quot;:0,&quot;top&quot;:-4.987500190734863,&quot;width&quot;:110,&quot;height&quot;:27.262500762939453},&quot;textStyles&quot;:{&quot;fontFamily&quot;:&quot;geist&quot;,&quot;baseFontSize&quot;:24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center&quot;,&quot;color&quot;:&quot;rgb(51, 51, 51)&quot;,&quot;emphasizedColor&quot;:&quot;rgb(72, 220, 146)&quot;,&quot;hyperlinkColor&quot;:&quot;rgb(17, 169, 226)&quot;},&quot;blockMargin&quot;:{&quot;top&quot;:-4.991999999999997,&quot;bottom&quot;:-5.231999999999999,&quot;left&quot;:0,&quot;right&quot;:0},&quot;topSpace&quot;:4.991999999999997,&quot;bottomSpace&quot;:5.231999999999999}]}}],&quot;snapToGrid&quot;:false,&quot;collectionColor&quot;:&quot;theme&quot;,&quot;connections&quot;:{&quot;items&quot;:[],&quot;collectionColor&quot;:&quot;theme&quot;}}},&quot;modifiedAt&quot;:1756207284434,&quot;animations&quot;:{&quot;general&quot;:{&quot;migrated&quot;:true}}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column&quot;,&quot;presentationId&quot;:&quot;0d602163-431e-41c3-a065-53f6b7b79fc1&quot;,&quot;template_version&quot;:1,&quot;layout&quot;:{&quot;headerPosition&quot;:&quot;top&quot;,&quot;showFooter&quot;:&quot;off&quot;,&quot;backgroundStyle&quot;:&quot;backgroundLight&quot;,&quot;backgroundColor&quot;:&quot;background_light&quot;},&quot;states&quot;:[{&quot;header&quot;:{&quot;text&quot;:{&quot;blocks&quot;:[{&quot;id&quot;:&quot;1790d4ad-d2e6-4e42-af00-45dc2859aa18&quot;,&quot;html&quot;:&quot;Top\n5 Products by Sales    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Carlson Head Cheese&quot;,&quot;type&quot;:&quot;column&quot;,&quot;data&quot;:[{&quot;y&quot;:821.7900000000012,&quot;pt&quot;:true},{&quot;y&quot;:835.3799999999995},{&quot;y&quot;:845.2400000000008},{&quot;y&quot;:853.5199999999991},{&quot;y&quot;:922.540000000001}],&quot;colorName&quot;:&quot;chart2&quot;,&quot;marker&quot;:&quot;none&quot;,&quot;zones&quot;:[{&quot;style&quot;:&quot;default&quot;}],&quot;showDataLabels&quot;:true}],&quot;xAxis&quot;:{&quot;visible&quot;:true,&quot;showFirstLabel&quot;:true,&quot;showLastLabel&quot;:true,&quot;endOnTick&quot;:true,&quot;categories&quot;:[&quot;Carlson Head Cheese&quot;,&quot;Washington Apple Drink&quot;,&quot;Urban Small Eggs&quot;,&quot;Just Right Rice Soup&quot;,&quot;Hermanos Green Pepper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legendPosition&quot;:&quot;off&quot;,&quot;chartAnnotations&quot;:{&quot;items&quot;:[],&quot;connections&quot;:{&quot;items&quot;:[],&quot;collectionColor&quot;:&quot;theme&quot;},&quot;collectionColor&quot;:&quot;theme&quot;},&quot;legendReverse&quot;:true},&quot;id&quot;:&quot;1d963e3f-e3f6-498c-9056-88ce8723c7e7&quot;,&quot;showTitle&quot;:&quot;above&quot;,&quot;chartTitle&quot;:{&quot;chartTitle&quot;:{&quot;blocks&quot;:[{&quot;id&quot;:&quot;bb98047f-55c1-471d-9c74-31164f528a61&quot;,&quot;html&quot;:&quot;Top 5 Products as per Total Sales  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,&quot;cellColor&quot;:&quot;background_light&quot;},{&quot;id&quot;:&quot;3591756210620241&quot;,&quot;cellColor&quot;:&quot;background_light&quot;,&quot;componentType&quot;:&quot;TextAndImage&quot;,&quot;childElement&quot;:{&quot;backdropPadding&quot;:30,&quot;verticalAlign&quot;:&quot;middle&quot;,&quot;text&quot;:{&quot;blocks&quot;:[{&quot;type&quot;:&quot;text&quot;,&quot;textStyle&quot;:&quot;bulleted&quot;,&quot;indent&quot;:0,&quot;html&quot;:&quot;Hermanos\nGreen Pepper dominates with the highest total sales (923),\nshowing the strong demand.      &quot;,&quot;id&quot;:&quot;22c489f3-a743-491c-8108-180c9fffb489&quot;,&quot;blockBounds&quot;:{&quot;left&quot;:0,&quot;top&quot;:-5.612500190734863,&quot;width&quot;:520,&quot;height&quot;:91.98750305175781},&quot;textStyles&quot;:{&quot;fontFamily&quot;:&quot;geist&quot;,&quot;baseFontSize&quot;:30,&quot;fontColor&quot;:&quot;primary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,&quot;bulletColor&quot;:&quot;slide&quot;},&quot;blockMargin&quot;:{&quot;top&quot;:-5.616,&quot;bottom&quot;:0,&quot;left&quot;:0,&quot;right&quot;:0},&quot;topSpace&quot;:5.616,&quot;bottomSpace&quot;:5.885999999999999,&quot;listStyle&quot;:&quot;bullets&quot;,&quot;bulletColor&quot;:&quot;accent1&quot;},{&quot;id&quot;:&quot;4dd82714-e643-40fe-a4bf-b19e093f3c11&quot;,&quot;type&quot;:&quot;text&quot;,&quot;listStyle&quot;:&quot;bullets&quot;,&quot;textStyle&quot;:&quot;bulleted&quot;,&quot;html&quot;:&quot;Just\nRight Rice Soup (854) and Urban Small Eggs (845) are also high-volume sellers.      &quot;,&quot;indent&quot;:0,&quot;blockBounds&quot;:{&quot;left&quot;:0,&quot;top&quot;:110.86250305175781,&quot;width&quot;:520,&quot;height&quot;:91.9875030517578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24.498,&quot;bottom&quot;:0,&quot;left&quot;:0,&quot;right&quot;:0},&quot;topSpace&quot;:5.616,&quot;bottomSpace&quot;:5.885999999999999,&quot;bulletColor&quot;:&quot;accent1&quot;},{&quot;id&quot;:&quot;6181b175-48e8-47b9-b3be-195f42c853df&quot;,&quot;type&quot;:&quot;text&quot;,&quot;listStyle&quot;:&quot;bullets&quot;,&quot;textStyle&quot;:&quot;bulleted&quot;,&quot;html&quot;:&quot;Washington\nApple Drink (835) and Carlson Head Cheese (822) maintain steady sales performance.      &quot;,&quot;indent&quot;:0,&quot;blockBounds&quot;:{&quot;left&quot;:0,&quot;top&quot;:227.33750915527344,&quot;width&quot;:520,&quot;height&quot;:91.9875030517578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24.498,&quot;bottom&quot;:0,&quot;left&quot;:0,&quot;right&quot;:0},&quot;topSpace&quot;:5.616,&quot;bottomSpace&quot;:5.885999999999999,&quot;bulletColor&quot;:&quot;accent1&quot;},{&quot;id&quot;:&quot;476d1c7a-aa99-4f60-bef9-030e68ece4f0&quot;,&quot;type&quot;:&quot;text&quot;,&quot;listStyle&quot;:&quot;bullets&quot;,&quot;textStyle&quot;:&quot;bulleted&quot;,&quot;html&quot;:&quot;High\nsales volume of these products indicates customer preference and strong market\ndemand.      &quot;,&quot;indent&quot;:0,&quot;blockBounds&quot;:{&quot;left&quot;:0,&quot;top&quot;:343.8125,&quot;width&quot;:520,&quot;height&quot;:91.9875030517578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24.498,&quot;bottom&quot;:-5.885999999999999,&quot;left&quot;:0,&quot;right&quot;:0},&quot;topSpace&quot;:5.616,&quot;bottomSpace&quot;:5.885999999999999,&quot;bulletColor&quot;:&quot;accent1&quot;}]},&quot;boxHAlign&quot;:&quot;center&quot;,&quot;textAlign&quot;:&quot;center&quot;},&quot;showTitle&quot;:false}],&quot;layoutEngineType&quot;:&quot;dashboard&quot;,&quot;cellFrameType&quot;:&quot;none&quot;,&quot;gridLayout&quot;:{&quot;cols&quot;:12,&quot;rows&quot;:12,&quot;cells&quot;:[{&quot;x&quot;:0,&quot;y&quot;:0,&quot;width&quot;:6,&quot;height&quot;:12},{&quot;x&quot;:6,&quot;y&quot;:0,&quot;width&quot;:6,&quot;height&quot;:12}]},&quot;showTitle&quot;:&quot;above&quot;,&quot;borderColor&quot;:&quot;accent4&quot;,&quot;cellColor&quot;:&quot;background_light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cc6bb540-1b17-4e63-b89f-98434c4be38b&quot;,&quot;animations&quot;:{&quot;general&quot;:{&quot;migrated&quot;:true}}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column&quot;,&quot;presentationId&quot;:&quot;fe07a12c-9383-4d36-901d-bf8965e9ebfe&quot;,&quot;template_version&quot;:1,&quot;layout&quot;:{&quot;headerPosition&quot;:&quot;top&quot;,&quot;showFooter&quot;:&quot;off&quot;},&quot;states&quot;:[{&quot;header&quot;:{&quot;text&quot;:{&quot;blocks&quot;:[{&quot;id&quot;:&quot;4ea9c760-03d7-4232-afb2-61035297a612&quot;,&quot;html&quot;:&quot;Top\n5 Products by Total Profit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TextAndImage&quot;,&quot;childElement&quot;:{&quot;backdropPadding&quot;:30,&quot;verticalAlign&quot;:&quot;middle&quot;,&quot;text&quot;:{&quot;blocks&quot;:[{&quot;type&quot;:&quot;text&quot;,&quot;textStyle&quot;:&quot;bulleted&quot;,&quot;listStyle&quot;:&quot;bullets&quot;,&quot;indent&quot;:0,&quot;html&quot;:&quot;Hermanos\nGreen Pepper again tops the list with the highest total profit (619),\nshowing both strong demand and profitability. &quot;,&quot;id&quot;:&quot;31492cad-e580-40a5-a688-8ca47d29d615&quot;,&quot;blockBounds&quot;:{&quot;left&quot;:0,&quot;top&quot;:-5.300000190734863,&quot;width&quot;:519,&quot;height&quot;:86.88750457763672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-5.304000000000002,&quot;bottom&quot;:0,&quot;left&quot;:0,&quot;right&quot;:0},&quot;topSpace&quot;:5.304000000000002,&quot;bottomSpace&quot;:5.559000000000001,&quot;bulletColor&quot;:&quot;accent3&quot;},{&quot;type&quot;:&quot;text&quot;,&quot;textStyle&quot;:&quot;bulleted&quot;,&quot;listStyle&quot;:&quot;bullets&quot;,&quot;indent&quot;:0,&quot;html&quot;:&quot;Special\nWheat Puffs (513) and Imagine Waffles (510) contribute moderately to profit. &quot;,&quot;id&quot;:&quot;4dc10889-01a7-42a1-889f-19fbacba6f38&quot;,&quot;blockBounds&quot;:{&quot;left&quot;:0,&quot;top&quot;:104.7125015258789,&quot;width&quot;:519,&quot;height&quot;:86.88750457763672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0,&quot;left&quot;:0,&quot;right&quot;:0},&quot;topSpace&quot;:5.304000000000002,&quot;bottomSpace&quot;:5.559000000000001,&quot;bulletColor&quot;:&quot;accent3&quot;},{&quot;type&quot;:&quot;text&quot;,&quot;textStyle&quot;:&quot;bulleted&quot;,&quot;listStyle&quot;:&quot;bullets&quot;,&quot;indent&quot;:0,&quot;html&quot;:&quot;National\nEgg Substitute (501) and Gauss Monthly Sports Magazine (494) round out the top five. &quot;,&quot;id&quot;:&quot;ddc38ea8-618b-4f64-8797-68684599d164&quot;,&quot;blockBounds&quot;:{&quot;left&quot;:0,&quot;top&quot;:214.72500610351562,&quot;width&quot;:519,&quot;height&quot;:86.88750457763672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0,&quot;left&quot;:0,&quot;right&quot;:0},&quot;topSpace&quot;:5.304000000000002,&quot;bottomSpace&quot;:5.559000000000001,&quot;bulletColor&quot;:&quot;accent3&quot;},{&quot;type&quot;:&quot;text&quot;,&quot;textStyle&quot;:&quot;bulleted&quot;,&quot;listStyle&quot;:&quot;bullets&quot;,&quot;indent&quot;:0,&quot;html&quot;:&quot;While\nsome of these may not have the highest margins,\ntheir sales\nvolume drives strong total profits.&amp;nbsp; &amp;nbsp; &amp;nbsp;&amp;nbsp;&quot;,&quot;id&quot;:&quot;1adc674f-6982-4433-aca4-cd80944a4e9c&quot;,&quot;blockBounds&quot;:{&quot;left&quot;:0,&quot;top&quot;:324.7375183105469,&quot;width&quot;:519,&quot;height&quot;:86.88750457763672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-5.559000000000001,&quot;left&quot;:0,&quot;right&quot;:0},&quot;topSpace&quot;:5.304000000000002,&quot;bottomSpace&quot;:5.559000000000001,&quot;bulletColor&quot;:&quot;accent3&quot;}]},&quot;boxHAlign&quot;:&quot;center&quot;,&quot;textAlign&quot;:&quot;center&quot;},&quot;id&quot;:&quot;921756211352652&quot;,&quot;showTitle&quot;:false,&quot;cellColor&quot;:&quot;none&quot;},{&quot;id&quot;:&quot;fb6db0d8-fe91-4f78-b7ad-3438c4d6bda4&quot;,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Data&quot;,&quot;type&quot;:&quot;column&quot;,&quot;data&quot;:[{&quot;y&quot;:494.00000000000057},{&quot;y&quot;:501.4100000000005},{&quot;y&quot;:509.9600000000006},{&quot;y&quot;:512.6400000000008},{&quot;y&quot;:619.0100000000006}],&quot;colorName&quot;:&quot;accent3&quot;,&quot;marker&quot;:&quot;none&quot;,&quot;zones&quot;:[{&quot;style&quot;:&quot;default&quot;}],&quot;showDataLabels&quot;:true}],&quot;xAxis&quot;:{&quot;visible&quot;:true,&quot;showFirstLabel&quot;:true,&quot;showLastLabel&quot;:true,&quot;endOnTick&quot;:true,&quot;categories&quot;:[&quot;Gauss Monthly Sports Magazine&quot;,&quot;National Egg Substitute&quot;,&quot;Imagine Waffles&quot;,&quot;Special Wheat Puffs&quot;,&quot;Hermanos Green Pepper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chartAnnotations&quot;:{&quot;items&quot;:[],&quot;connections&quot;:{&quot;items&quot;:[],&quot;collectionColor&quot;:&quot;theme&quot;},&quot;collectionColor&quot;:&quot;theme&quot;}},&quot;showTitle&quot;:&quot;above&quot;,&quot;chartTitle&quot;:{&quot;chartTitle&quot;:{&quot;blocks&quot;:[{&quot;id&quot;:&quot;e13a11a2-bea9-4f08-b5a7-b2d3ab9e73c0&quot;,&quot;html&quot;:&quot;Top 5 Products as per Total Profit      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],&quot;layoutEngineType&quot;:&quot;dashboard&quot;,&quot;cellFrameType&quot;:&quot;none&quot;,&quot;gridLayout&quot;:{&quot;cols&quot;:12,&quot;rows&quot;:12,&quot;cells&quot;:[{&quot;x&quot;:0,&quot;y&quot;:0,&quot;width&quot;:6,&quot;height&quot;:12},{&quot;x&quot;:6,&quot;y&quot;:0,&quot;width&quot;:6,&quot;height&quot;:12}]},&quot;showTitle&quot;:&quot;above&quot;,&quot;borderColor&quot;:&quot;accent3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282889e2-214f-47ca-9f70-98540842b5b7&quot;,&quot;modifiedAt&quot;:1756211521769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column&quot;,&quot;presentationId&quot;:&quot;8d05a5c4-2123-4ad5-a27b-6b5c35047099&quot;,&quot;template_version&quot;:1,&quot;layout&quot;:{&quot;headerPosition&quot;:&quot;top&quot;,&quot;showFooter&quot;:&quot;off&quot;},&quot;states&quot;:[{&quot;header&quot;:{&quot;text&quot;:{&quot;blocks&quot;:[{&quot;id&quot;:&quot;d0890be1-da1f-4f44-9a83-16245f531df8&quot;,&quot;html&quot;:&quot;Top\n5 Products by Profit Margin %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Data&quot;,&quot;type&quot;:&quot;column&quot;,&quot;data&quot;:[{&quot;y&quot;:0.71},{&quot;y&quot;:0.7},{&quot;y&quot;:0.7},{&quot;y&quot;:0.7},{&quot;y&quot;:0.7}],&quot;colorName&quot;:&quot;chart1&quot;,&quot;marker&quot;:&quot;none&quot;,&quot;zones&quot;:[{&quot;style&quot;:&quot;default&quot;}],&quot;showDataLabels&quot;:true}],&quot;xAxis&quot;:{&quot;visible&quot;:true,&quot;showFirstLabel&quot;:true,&quot;showLastLabel&quot;:true,&quot;endOnTick&quot;:true,&quot;categories&quot;:[&quot;Landslide Sesame Oil &quot;,&quot;Sunset Scented Tissue &quot;,&quot;Skinner Cream Soda&quot;,&quot;High Quality Glass Cleaner&quot;,&quot;Club Chocolate Milk&quot;],&quot;dateFormatting&quot;:&quot;MMM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chartAnnotations&quot;:{&quot;items&quot;:[],&quot;connections&quot;:{&quot;items&quot;:[],&quot;collectionColor&quot;:&quot;theme&quot;},&quot;collectionColor&quot;:&quot;theme&quot;}},&quot;id&quot;:&quot;0261d462-07da-46f6-8820-b602b5ef6543&quot;,&quot;showTitle&quot;:&quot;above&quot;,&quot;chartTitle&quot;:{&quot;chartTitle&quot;:{&quot;blocks&quot;:[{&quot;id&quot;:&quot;8d158cf0-39be-4e95-a0f9-983f6dc6c17f&quot;,&quot;html&quot;:&quot;Top 5 Products as per Profit Margin %      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,{&quot;id&quot;:&quot;1241756218550797&quot;,&quot;cellColor&quot;:&quot;background_light&quot;,&quot;componentType&quot;:&quot;TextAndImage&quot;,&quot;childElement&quot;:{&quot;backdropPadding&quot;:30,&quot;verticalAlign&quot;:&quot;middle&quot;,&quot;text&quot;:{&quot;blocks&quot;:[{&quot;type&quot;:&quot;text&quot;,&quot;textStyle&quot;:&quot;bulleted&quot;,&quot;listStyle&quot;:&quot;bullets&quot;,&quot;indent&quot;:0,&quot;html&quot;:&quot;Landslide\nSesame Oil leads with the highest profit margin at 0.71, indicating strong\nprofitability. &quot;,&quot;id&quot;:&quot;faf7b8ba-116f-4ac6-bc25-7094210c7ab9&quot;,&quot;blockBounds&quot;:{&quot;left&quot;:0,&quot;top&quot;:-5.300000190734863,&quot;width&quot;:522,&quot;height&quot;:86.88750457763672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-5.304000000000002,&quot;bottom&quot;:0,&quot;left&quot;:0,&quot;right&quot;:0},&quot;topSpace&quot;:5.304000000000002,&quot;bottomSpace&quot;:5.559000000000001},{&quot;type&quot;:&quot;text&quot;,&quot;textStyle&quot;:&quot;bulleted&quot;,&quot;listStyle&quot;:&quot;bullets&quot;,&quot;indent&quot;:0,&quot;html&quot;:&quot;Club\nChocolate Milk, High Quality Glass Cleaner, Skinner Cream Soda, and Sunset\nScented Tissue follow closely with margins of 0.70 each. &quot;,&quot;id&quot;:&quot;c4564941-cb51-4ba8-b6e0-a88e3ea0f14f&quot;,&quot;blockBounds&quot;:{&quot;left&quot;:0,&quot;top&quot;:104.7125015258789,&quot;width&quot;:522,&quot;height&quot;:115.849998474121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0,&quot;left&quot;:0,&quot;right&quot;:0},&quot;topSpace&quot;:5.304000000000002,&quot;bottomSpace&quot;:5.559000000000001},{&quot;type&quot;:&quot;text&quot;,&quot;textStyle&quot;:&quot;bulleted&quot;,&quot;listStyle&quot;:&quot;bullets&quot;,&quot;indent&quot;:0,&quot;html&quot;:&quot;These\nproducts have consistently high margins, making them significant contributors\nto profitability despite their sales volumes. &quot;,&quot;id&quot;:&quot;6f22f780-ae6e-4765-9839-8da97845b3c0&quot;,&quot;blockBounds&quot;:{&quot;left&quot;:0,&quot;top&quot;:243.6875,&quot;width&quot;:522,&quot;height&quot;:115.849998474121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0,&quot;left&quot;:0,&quot;right&quot;:0},&quot;topSpace&quot;:5.304000000000002,&quot;bottomSpace&quot;:5.559000000000001},{&quot;type&quot;:&quot;text&quot;,&quot;textStyle&quot;:&quot;bulleted&quot;,&quot;listStyle&quot;:&quot;bullets&quot;,&quot;indent&quot;:0,&quot;html&quot;:&quot;Focusing\non these items can enhance overall profitability strategies.&amp;nbsp; &amp;nbsp; &amp;nbsp;&amp;nbsp;&quot;,&quot;id&quot;:&quot;d04daf8e-ff1f-4255-9ce7-3f580616c41a&quot;,&quot;blockBounds&quot;:{&quot;left&quot;:0,&quot;top&quot;:382.6625061035156,&quot;width&quot;:522,&quot;height&quot;:57.92499923706055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-5.559000000000001,&quot;left&quot;:0,&quot;right&quot;:0},&quot;topSpace&quot;:5.304000000000002,&quot;bottomSpace&quot;:5.559000000000001}]},&quot;boxHAlign&quot;:&quot;center&quot;,&quot;textAlign&quot;:&quot;center&quot;},&quot;showTitle&quot;:false}],&quot;layoutEngineType&quot;:&quot;dashboard&quot;,&quot;cellFrameType&quot;:&quot;none&quot;,&quot;gridLayout&quot;:{&quot;cols&quot;:12,&quot;rows&quot;:12,&quot;cells&quot;:[{&quot;x&quot;:0,&quot;y&quot;:0,&quot;width&quot;:6,&quot;height&quot;:12},{&quot;x&quot;:6,&quot;y&quot;:0,&quot;width&quot;:6,&quot;height&quot;:12}]},&quot;showTitle&quot;:&quot;above&quot;,&quot;borderColor&quot;:&quot;accent3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5a968255-122d-4762-9289-e59b4ca282b2&quot;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able-v2&quot;,&quot;presentationId&quot;:&quot;1d734e7a-3edf-4b1b-b2ef-97d94009368f&quot;,&quot;template_version&quot;:1,&quot;layout&quot;:{&quot;headerPosition&quot;:&quot;top&quot;,&quot;showFooter&quot;:&quot;off&quot;},&quot;states&quot;:[{&quot;header&quot;:{&quot;text&quot;:{&quot;blocks&quot;:[{&quot;id&quot;:&quot;1e2fc5b2-291d-4686-92bd-bb3529ebbfa0&quot;,&quot;html&quot;:&quot;Top\n10 High-Margin Products Table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Table&quot;,&quot;childElement&quot;:{&quot;tableWidth&quot;:1,&quot;tableHeight&quot;:1,&quot;showTopLeftCell&quot;:true,&quot;showColGridLines&quot;:false,&quot;showRowGridLines&quot;:true,&quot;showHeaderRow&quot;:true,&quot;showHeaderCol&quot;:true,&quot;showBorder&quot;:true,&quot;cells&quot;:[{&quot;row&quot;:0,&quot;col&quot;:0,&quot;id&quot;:&quot;0:0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Product Name&quot;},&quot;cellStyle&quot;:&quot;none&quot;,&quot;cellColor&quot;:&quot;none&quot;,&quot;fontSize&quot;:19},{&quot;row&quot;:1,&quot;col&quot;:0,&quot;id&quot;:&quot;1:0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italic&quot;:false,&quot;cellText&quot;:{&quot;text&quot;:&quot;Landslide Sesame Oil&quot;},&quot;cellStyle&quot;:&quot;none&quot;,&quot;cellColor&quot;:&quot;none&quot;,&quot;fontSize&quot;:19},{&quot;row&quot;:2,&quot;col&quot;:0,&quot;id&quot;:&quot;2:0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cellText&quot;:{&quot;text&quot;:&quot;Sunset Scented Tissue&quot;},&quot;cellStyle&quot;:&quot;none&quot;,&quot;cellColor&quot;:&quot;none&quot;,&quot;fontSize&quot;:18},{&quot;row&quot;:3,&quot;col&quot;:0,&quot;id&quot;:&quot;3:0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cellText&quot;:{&quot;text&quot;:&quot;Skinner Cream Soda&quot;},&quot;cellStyle&quot;:&quot;none&quot;,&quot;cellColor&quot;:&quot;none&quot;,&quot;fontSize&quot;:19},{&quot;row&quot;:4,&quot;col&quot;:0,&quot;id&quot;:&quot;4:0&quot;,&quot;cellText&quot;:{&quot;text&quot;:&quot;High Quality Glass Cleaner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cellStyle&quot;:&quot;none&quot;,&quot;cellColor&quot;:&quot;none&quot;,&quot;fontSize&quot;:19},{&quot;row&quot;:5,&quot;col&quot;:0,&quot;id&quot;:&quot;5:0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cellText&quot;:{&quot;text&quot;:&quot;Club Chocolate Milk&quot;},&quot;cellStyle&quot;:&quot;none&quot;,&quot;cellColor&quot;:&quot;none&quot;,&quot;fontSize&quot;:19},{&quot;row&quot;:6,&quot;col&quot;:0,&quot;id&quot;:&quot;6:0&quot;,&quot;cellText&quot;:{&quot;text&quot;:&quot;Carrington Frozen Pancakes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cellStyle&quot;:&quot;none&quot;,&quot;cellColor&quot;:&quot;none&quot;,&quot;fontSize&quot;:19},{&quot;row&quot;:7,&quot;col&quot;:0,&quot;id&quot;:&quot;7:0&quot;,&quot;cellText&quot;:{&quot;text&quot;:&quot;Monarch Thai Rice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cellStyle&quot;:&quot;none&quot;,&quot;cellColor&quot;:&quot;none&quot;,&quot;fontSize&quot;:19},{&quot;row&quot;:8,&quot;col&quot;:0,&quot;id&quot;:&quot;8:0&quot;,&quot;cellText&quot;:{&quot;text&quot;:&quot;Imagine Popsicles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cellStyle&quot;:&quot;none&quot;,&quot;cellColor&quot;:&quot;none&quot;,&quot;fontSize&quot;:19},{&quot;row&quot;:9,&quot;col&quot;:0,&quot;id&quot;:&quot;9:0&quot;,&quot;cellText&quot;:{&quot;text&quot;:&quot;American Turkey Hot Dogs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cellStyle&quot;:&quot;none&quot;,&quot;cellColor&quot;:&quot;none&quot;,&quot;fontSize&quot;:19},{&quot;row&quot;:10,&quot;col&quot;:0,&quot;id&quot;:&quot;10:0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cellText&quot;:{&quot;text&quot;:&quot;Club Head Cheese&quot;},&quot;cellStyle&quot;:&quot;none&quot;,&quot;cellColor&quot;:&quot;none&quot;,&quot;fontSize&quot;:19},{&quot;row&quot;:0,&quot;col&quot;:1,&quot;id&quot;:&quot;0:1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Retail Price&quot;},&quot;cellStyle&quot;:&quot;none&quot;,&quot;cellColor&quot;:&quot;none&quot;,&quot;fontSize&quot;:19},{&quot;row&quot;:1,&quot;col&quot;:1,&quot;id&quot;:&quot;1:1&quot;,&quot;cellText&quot;:{&quot;text&quot;:&quot;0.58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row&quot;:2,&quot;col&quot;:1,&quot;id&quot;:&quot;2:1&quot;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1.78&quot;},&quot;cellStyle&quot;:&quot;none&quot;,&quot;cellColor&quot;:&quot;none&quot;,&quot;fontSize&quot;:19},{&quot;row&quot;:3,&quot;col&quot;:1,&quot;id&quot;:&quot;3:1&quot;,&quot;cellText&quot;:{&quot;text&quot;:&quot;1.71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row&quot;:4,&quot;col&quot;:1,&quot;id&quot;:&quot;4:1&quot;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1.91&quot;},&quot;cellStyle&quot;:&quot;none&quot;,&quot;cellColor&quot;:&quot;none&quot;,&quot;fontSize&quot;:19},{&quot;row&quot;:5,&quot;col&quot;:1,&quot;id&quot;:&quot;5:1&quot;,&quot;cellText&quot;:{&quot;text&quot;:&quot;2.31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row&quot;:6,&quot;col&quot;:1,&quot;id&quot;:&quot;6:1&quot;,&quot;cellText&quot;:{&quot;text&quot;:&quot;1.8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row&quot;:7,&quot;col&quot;:1,&quot;id&quot;:&quot;7:1&quot;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3.11&quot;},&quot;cellStyle&quot;:&quot;none&quot;,&quot;cellColor&quot;:&quot;none&quot;,&quot;fontSize&quot;:19},{&quot;row&quot;:8,&quot;col&quot;:1,&quot;id&quot;:&quot;8:1&quot;,&quot;cellText&quot;:{&quot;text&quot;:&quot;3.81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cellText&quot;:{&quot;text&quot;:&quot;2.7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9,&quot;col&quot;:1,&quot;id&quot;:&quot;9:1&quot;,&quot;cellStyle&quot;:&quot;none&quot;,&quot;cellColor&quot;:&quot;none&quot;,&quot;fontSize&quot;:19},{&quot;cellText&quot;:{&quot;text&quot;:&quot;1.47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10,&quot;col&quot;:1,&quot;id&quot;:&quot;10:1&quot;,&quot;cellStyle&quot;:&quot;none&quot;,&quot;cellColor&quot;:&quot;none&quot;,&quot;fontSize&quot;:19},{&quot;row&quot;:0,&quot;col&quot;:2,&quot;id&quot;:&quot;0:2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Product Cost&quot;},&quot;cellStyle&quot;:&quot;none&quot;,&quot;cellColor&quot;:&quot;none&quot;,&quot;fontSize&quot;:19},{&quot;row&quot;:1,&quot;col&quot;:2,&quot;id&quot;:&quot;1:2&quot;,&quot;cellText&quot;:{&quot;text&quot;:&quot;0.17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row&quot;:2,&quot;col&quot;:2,&quot;id&quot;:&quot;2:2&quot;,&quot;cellText&quot;:{&quot;text&quot;:&quot;0.53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row&quot;:3,&quot;col&quot;:2,&quot;id&quot;:&quot;3:2&quot;,&quot;cellText&quot;:{&quot;text&quot;:&quot;0.51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cellText&quot;:{&quot;text&quot;:&quot;0.57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4,&quot;col&quot;:2,&quot;id&quot;:&quot;4:2&quot;,&quot;cellStyle&quot;:&quot;none&quot;,&quot;cellColor&quot;:&quot;none&quot;,&quot;fontSize&quot;:19},{&quot;cellText&quot;:{&quot;text&quot;:&quot;0.69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5,&quot;col&quot;:2,&quot;id&quot;:&quot;5:2&quot;,&quot;cellStyle&quot;:&quot;none&quot;,&quot;cellColor&quot;:&quot;none&quot;,&quot;fontSize&quot;:19},{&quot;cellText&quot;:{&quot;text&quot;:&quot;0.55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6,&quot;col&quot;:2,&quot;id&quot;:&quot;6:2&quot;,&quot;cellStyle&quot;:&quot;none&quot;,&quot;cellColor&quot;:&quot;none&quot;,&quot;fontSize&quot;:19},{&quot;cellText&quot;:{&quot;text&quot;:&quot;0.93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7,&quot;col&quot;:2,&quot;id&quot;:&quot;7:2&quot;,&quot;cellStyle&quot;:&quot;none&quot;,&quot;cellColor&quot;:&quot;none&quot;,&quot;fontSize&quot;:19},{&quot;cellText&quot;:{&quot;text&quot;:&quot;1.1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8,&quot;col&quot;:2,&quot;id&quot;:&quot;8:2&quot;,&quot;cellStyle&quot;:&quot;none&quot;,&quot;cellColor&quot;:&quot;none&quot;,&quot;fontSize&quot;:19},{&quot;cellText&quot;:{&quot;text&quot;:&quot;0.82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9,&quot;col&quot;:2,&quot;id&quot;:&quot;9:2&quot;,&quot;cellStyle&quot;:&quot;none&quot;,&quot;cellColor&quot;:&quot;none&quot;,&quot;fontSize&quot;:19},{&quot;cellText&quot;:{&quot;text&quot;:&quot;0.4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10,&quot;col&quot;:2,&quot;id&quot;:&quot;10:2&quot;,&quot;cellStyle&quot;:&quot;none&quot;,&quot;cellColor&quot;:&quot;none&quot;,&quot;fontSize&quot;:19},{&quot;row&quot;:0,&quot;col&quot;:3,&quot;id&quot;:&quot;0:3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Unit Profit&quot;},&quot;cellStyle&quot;:&quot;none&quot;,&quot;cellColor&quot;:&quot;none&quot;,&quot;fontSize&quot;:19},{&quot;row&quot;:1,&quot;col&quot;:3,&quot;id&quot;:&quot;1:3&quot;,&quot;cellText&quot;:{&quot;text&quot;:&quot;0.41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row&quot;:2,&quot;col&quot;:3,&quot;id&quot;:&quot;2:3&quot;,&quot;format&quot;:&quot;number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1.25&quot;},&quot;cellStyle&quot;:&quot;none&quot;,&quot;cellColor&quot;:&quot;none&quot;,&quot;fontSize&quot;:19},{&quot;row&quot;:3,&quot;col&quot;:3,&quot;id&quot;:&quot;3:3&quot;,&quot;format&quot;:&quot;number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1.2&quot;},&quot;cellStyle&quot;:&quot;none&quot;,&quot;cellColor&quot;:&quot;none&quot;,&quot;fontSize&quot;:19},{&quot;cellText&quot;:{&quot;text&quot;:&quot;1.3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4,&quot;col&quot;:3,&quot;id&quot;:&quot;4:3&quot;,&quot;cellStyle&quot;:&quot;none&quot;,&quot;cellColor&quot;:&quot;none&quot;,&quot;fontSize&quot;:19},{&quot;cellText&quot;:{&quot;text&quot;:&quot;1.62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5,&quot;col&quot;:3,&quot;id&quot;:&quot;5:3&quot;,&quot;cellStyle&quot;:&quot;none&quot;,&quot;cellColor&quot;:&quot;none&quot;,&quot;fontSize&quot;:19},{&quot;cellText&quot;:{&quot;text&quot;:&quot;1.29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6,&quot;col&quot;:3,&quot;id&quot;:&quot;6:3&quot;,&quot;cellStyle&quot;:&quot;none&quot;,&quot;cellColor&quot;:&quot;none&quot;,&quot;fontSize&quot;:19},{&quot;cellText&quot;:{&quot;text&quot;:&quot;2.18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7,&quot;col&quot;:3,&quot;id&quot;:&quot;7:3&quot;,&quot;cellStyle&quot;:&quot;none&quot;,&quot;cellColor&quot;:&quot;none&quot;,&quot;fontSize&quot;:19},{&quot;cellText&quot;:{&quot;text&quot;:&quot;2.67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8,&quot;col&quot;:3,&quot;id&quot;:&quot;8:3&quot;,&quot;cellStyle&quot;:&quot;none&quot;,&quot;cellColor&quot;:&quot;none&quot;,&quot;fontSize&quot;:19},{&quot;cellText&quot;:{&quot;text&quot;:&quot;1.92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9,&quot;col&quot;:3,&quot;id&quot;:&quot;9:3&quot;,&quot;cellStyle&quot;:&quot;none&quot;,&quot;cellColor&quot;:&quot;none&quot;,&quot;fontSize&quot;:19},{&quot;cellText&quot;:{&quot;text&quot;:&quot;1.03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10,&quot;col&quot;:3,&quot;id&quot;:&quot;10:3&quot;,&quot;cellStyle&quot;:&quot;none&quot;,&quot;cellColor&quot;:&quot;none&quot;,&quot;fontSize&quot;:19},{&quot;row&quot;:0,&quot;col&quot;:4,&quot;id&quot;:&quot;0:4&quot;,&quot;cellText&quot;:{&quot;text&quot;:&quot;Profit Margin %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left&quot;},&quot;cellStyle&quot;:&quot;none&quot;,&quot;cellColor&quot;:&quot;none&quot;,&quot;fontSize&quot;:19},{&quot;row&quot;:1,&quot;col&quot;:4,&quot;id&quot;:&quot;1:4&quot;,&quot;cellText&quot;:{&quot;text&quot;:&quot;2.41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row&quot;:2,&quot;col&quot;:4,&quot;id&quot;:&quot;2:4&quot;,&quot;cellText&quot;:{&quot;text&quot;:&quot;2.36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row&quot;:3,&quot;col&quot;:4,&quot;id&quot;:&quot;3:4&quot;,&quot;cellText&quot;:{&quot;text&quot;:&quot;2.35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Style&quot;:&quot;none&quot;,&quot;cellColor&quot;:&quot;none&quot;,&quot;fontSize&quot;:19},{&quot;cellText&quot;:{&quot;text&quot;:&quot;2.35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4,&quot;col&quot;:4,&quot;id&quot;:&quot;4:4&quot;,&quot;cellStyle&quot;:&quot;none&quot;,&quot;cellColor&quot;:&quot;none&quot;,&quot;fontSize&quot;:19},{&quot;cellText&quot;:{&quot;text&quot;:&quot;2.35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5,&quot;col&quot;:4,&quot;id&quot;:&quot;5:4&quot;,&quot;cellStyle&quot;:&quot;none&quot;,&quot;cellColor&quot;:&quot;none&quot;,&quot;fontSize&quot;:19},{&quot;cellText&quot;:{&quot;text&quot;:&quot;2.35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6,&quot;col&quot;:4,&quot;id&quot;:&quot;6:4&quot;,&quot;cellStyle&quot;:&quot;none&quot;,&quot;cellColor&quot;:&quot;none&quot;,&quot;fontSize&quot;:19},{&quot;cellText&quot;:{&quot;text&quot;:&quot;2.3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7,&quot;col&quot;:4,&quot;id&quot;:&quot;7:4&quot;,&quot;cellStyle&quot;:&quot;none&quot;,&quot;cellColor&quot;:&quot;none&quot;,&quot;fontSize&quot;:19},{&quot;cellText&quot;:{&quot;text&quot;:&quot;2.3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8,&quot;col&quot;:4,&quot;id&quot;:&quot;8:4&quot;,&quot;cellStyle&quot;:&quot;none&quot;,&quot;cellColor&quot;:&quot;none&quot;,&quot;fontSize&quot;:19},{&quot;cellText&quot;:{&quot;text&quot;:&quot;2.3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9,&quot;col&quot;:4,&quot;id&quot;:&quot;9:4&quot;,&quot;cellStyle&quot;:&quot;none&quot;,&quot;cellColor&quot;:&quot;none&quot;,&quot;fontSize&quot;:19},{&quot;cellText&quot;:{&quot;text&quot;:&quot;2.34\r&quot;},&quot;format&quot;:&quot;number&quot;,&quot;formatOptions&quot;:{&quot;decimal&quot;:3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10,&quot;col&quot;:4,&quot;id&quot;:&quot;10:4&quot;,&quot;cellStyle&quot;:&quot;none&quot;,&quot;cellColor&quot;:&quot;none&quot;,&quot;fontSize&quot;:19}],&quot;cols&quot;:[{&quot;index&quot;:0,&quot;style&quot;:&quot;headerCol&quot;,&quot;break&quot;:false,&quot;size&quot;:433.36928029072885,&quot;scale&quot;:1},{&quot;index&quot;:1,&quot;style&quot;:&quot;defaultCol&quot;,&quot;break&quot;:false,&quot;size&quot;:139.37198798745894,&quot;scale&quot;:1},{&quot;index&quot;:2,&quot;style&quot;:&quot;defaultCol&quot;,&quot;break&quot;:false,&quot;size&quot;:152.1957859642314,&quot;scale&quot;:1},{&quot;index&quot;:3,&quot;style&quot;:&quot;defaultCol&quot;,&quot;break&quot;:false,&quot;size&quot;:97.59155361791586,&quot;scale&quot;:1},{&quot;index&quot;:4,&quot;style&quot;:&quot;defaultCol&quot;,&quot;break&quot;:false,&quot;size&quot;:187.14641045021187,&quot;scale&quot;:1}],&quot;rows&quot;:[{&quot;index&quot;:0,&quot;style&quot;:&quot;headerRow&quot;,&quot;break&quot;:false,&quot;size&quot;:95.52699228791775},{&quot;index&quot;:1,&quot;style&quot;:&quot;defaultRow&quot;,&quot;break&quot;:false,&quot;size&quot;:64.47300771208225},{&quot;index&quot;:2,&quot;style&quot;:&quot;defaultRow&quot;,&quot;break&quot;:false,&quot;size&quot;:80},{&quot;index&quot;:3,&quot;style&quot;:&quot;defaultRow&quot;,&quot;break&quot;:false,&quot;size&quot;:80},{&quot;index&quot;:4,&quot;style&quot;:&quot;defaultRow&quot;,&quot;break&quot;:false,&quot;size&quot;:102},{&quot;index&quot;:5,&quot;style&quot;:&quot;defaultRow&quot;,&quot;break&quot;:false,&quot;size&quot;:80},{&quot;index&quot;:6,&quot;style&quot;:&quot;defaultRow&quot;,&quot;break&quot;:false,&quot;size&quot;:80},{&quot;index&quot;:7,&quot;style&quot;:&quot;defaultRow&quot;,&quot;break&quot;:false,&quot;size&quot;:58},{&quot;index&quot;:8,&quot;style&quot;:&quot;defaultRow&quot;,&quot;break&quot;:false,&quot;size&quot;:58},{&quot;index&quot;:9,&quot;style&quot;:&quot;defaultRow&quot;,&quot;break&quot;:false,&quot;size&quot;:80},{&quot;index&quot;:10,&quot;style&quot;:&quot;defaultRow&quot;,&quot;break&quot;:false,&quot;size&quot;:58}],&quot;tableBackgroundColor&quot;:&quot;background_light&quot;,&quot;color&quot;:&quot;theme&quot;},&quot;id&quot;:&quot;5c932a7a-cca4-433a-af54-2ee3138a78c3&quot;,&quot;showTitle&quot;:false,&quot;chartTitle&quot;:{&quot;chartTitle&quot;:{&quot;blocks&quot;:[{&quot;id&quot;:&quot;0cf8953d-33ab-43e8-beba-81af93687ce6&quot;,&quot;html&quot;:&quot;Top 10 Products by Profit Margin %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,{&quot;id&quot;:&quot;1871756220371027&quot;,&quot;cellColor&quot;:&quot;none&quot;,&quot;componentType&quot;:&quot;TextAndImage&quot;,&quot;childElement&quot;:{&quot;backdropPadding&quot;:30,&quot;verticalAlign&quot;:&quot;middle&quot;,&quot;text&quot;:{&quot;blocks&quot;:[{&quot;type&quot;:&quot;text&quot;,&quot;textStyle&quot;:&quot;bulleted&quot;,&quot;listStyle&quot;:&quot;bullets&quot;,&quot;indent&quot;:0,&quot;html&quot;:&quot;The highest-margin products have profit margins between 2.34% and 2.41%. &quot;,&quot;id&quot;:&quot;e5909f03-9782-4cac-9a10-d15aca9fa4b7&quot;,&quot;blockBounds&quot;:{&quot;left&quot;:0,&quot;top&quot;:-5.612500190734863,&quot;width&quot;:516,&quot;height&quot;:61.32500076293945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-5.616,&quot;bottom&quot;:0,&quot;left&quot;:0,&quot;right&quot;:0},&quot;topSpace&quot;:5.616,&quot;bottomSpace&quot;:5.885999999999999},{&quot;type&quot;:&quot;text&quot;,&quot;textStyle&quot;:&quot;bulleted&quot;,&quot;listStyle&quot;:&quot;bullets&quot;,&quot;indent&quot;:0,&quot;html&quot;:&quot;Landslide\nSesame Oil\nleads with the highest margin (2.41%),\nfollowed by Sunset Scented Tissue (2.36%)\nand Skinner Cream Soda (2.35%). &quot;,&quot;id&quot;:&quot;6e5a6bd1-a2c4-4f91-98a3-7aec7ea4ed6c&quot;,&quot;blockBounds&quot;:{&quot;left&quot;:0,&quot;top&quot;:80.20000457763672,&quot;width&quot;:516,&quot;height&quot;:122.6500015258789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24.498,&quot;bottom&quot;:0,&quot;left&quot;:0,&quot;right&quot;:0},&quot;topSpace&quot;:5.616,&quot;bottomSpace&quot;:5.885999999999999},{&quot;type&quot;:&quot;text&quot;,&quot;textStyle&quot;:&quot;bulleted&quot;,&quot;listStyle&quot;:&quot;bullets&quot;,&quot;indent&quot;:0,&quot;html&quot;:&quot;These products achieve better profitability despite having relatively lower retail prices. &quot;,&quot;id&quot;:&quot;c64ec2b3-0ad5-4571-8fce-c2c5e4562633&quot;,&quot;blockBounds&quot;:{&quot;left&quot;:0,&quot;top&quot;:227.33750915527344,&quot;width&quot;:516,&quot;height&quot;:91.9875030517578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24.498,&quot;bottom&quot;:0,&quot;left&quot;:0,&quot;right&quot;:0},&quot;topSpace&quot;:5.616,&quot;bottomSpace&quot;:5.885999999999999},{&quot;type&quot;:&quot;text&quot;,&quot;textStyle&quot;:&quot;bulleted&quot;,&quot;listStyle&quot;:&quot;bullets&quot;,&quot;indent&quot;:0,&quot;html&quot;:&quot;This indicates that focusing on these products can help maximize overall profitability.&amp;nbsp; &amp;nbsp; &amp;nbsp;&amp;nbsp;&quot;,&quot;id&quot;:&quot;e480b10f-f30c-4034-91fc-01fcca36fb2e&quot;,&quot;blockBounds&quot;:{&quot;left&quot;:0,&quot;top&quot;:343.8125,&quot;width&quot;:516,&quot;height&quot;:91.9875030517578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24.498,&quot;bottom&quot;:-5.885999999999999,&quot;left&quot;:0,&quot;right&quot;:0},&quot;topSpace&quot;:5.616,&quot;bottomSpace&quot;:5.885999999999999}]},&quot;boxHAlign&quot;:&quot;center&quot;,&quot;textAlign&quot;:&quot;center&quot;},&quot;showTitle&quot;:false}],&quot;layoutEngineType&quot;:&quot;dashboard&quot;,&quot;cellFrameType&quot;:&quot;none&quot;,&quot;gridLayout&quot;:{&quot;cols&quot;:12,&quot;rows&quot;:12,&quot;cells&quot;:[{&quot;x&quot;:6,&quot;y&quot;:0,&quot;width&quot;:6,&quot;height&quot;:12},{&quot;x&quot;:0,&quot;y&quot;:0,&quot;width&quot;:6,&quot;height&quot;:12}]},&quot;showTitle&quot;:&quot;above&quot;,&quot;borderColor&quot;:&quot;accent3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d768457c-e9d4-4a84-bf12-b554f6124f43&quot;,&quot;modifiedAt&quot;:1756220556746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column&quot;,&quot;presentationId&quot;:&quot;46fdd11b-464c-41be-970f-f41d2e277558&quot;,&quot;template_version&quot;:1,&quot;layout&quot;:{&quot;headerPosition&quot;:&quot;top&quot;,&quot;showFooter&quot;:&quot;off&quot;},&quot;states&quot;:[{&quot;header&quot;:{&quot;text&quot;:{&quot;blocks&quot;:[{&quot;id&quot;:&quot;0c51aa49-003f-411c-b2ed-e5dd27f49f73&quot;,&quot;html&quot;:&quot;Are\nLow-Cost Products Driving Higher Revenue?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Data&quot;,&quot;type&quot;:&quot;column&quot;,&quot;data&quot;:[{&quot;y&quot;:223944.5099999987,&quot;pt&quot;:true},{&quot;y&quot;:216013.73000000318},{&quot;y&quot;:71750.37000000016},{&quot;y&quot;:53529.519999999415}],&quot;colorName&quot;:&quot;chart2&quot;,&quot;marker&quot;:&quot;none&quot;,&quot;zones&quot;:[{&quot;style&quot;:&quot;default&quot;}],&quot;showDataLabels&quot;:true}],&quot;xAxis&quot;:{&quot;visible&quot;:true,&quot;showFirstLabel&quot;:true,&quot;showLastLabel&quot;:true,&quot;endOnTick&quot;:true,&quot;categories&quot;:[&quot;Mid-Low ($0.51–$1.00)&quot;,&quot;Mid-High ($1.01–$1.50)&quot;,&quot;High-Cost (&gt; $1.50)&quot;,&quot;Low-Cost (&lt;= $0.50)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&quot;lower&quot;,&quot;changeStyle&quot;:&quot;none&quot;,&quot;changeColor&quot;:true,&quot;currency&quot;:&quot;$&quot;,&quot;dateFormat&quot;:&quot;MMM Do&quot;,&quot;accountingStyle&quot;:false,&quot;scale&quot;:&quot;ones&quot;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legendPosition&quot;:&quot;off&quot;,&quot;chartAnnotations&quot;:{&quot;items&quot;:[],&quot;connections&quot;:{&quot;items&quot;:[],&quot;collectionColor&quot;:&quot;theme&quot;},&quot;collectionColor&quot;:&quot;theme&quot;},&quot;legendReverse&quot;:false},&quot;id&quot;:&quot;465edf3d-8f6b-48d7-acad-f8fe0847f4de&quot;,&quot;showTitle&quot;:&quot;above&quot;,&quot;chartTitle&quot;:{&quot;chartTitle&quot;:{&quot;blocks&quot;:[{&quot;id&quot;:&quot;42b0d6ac-776d-4202-aa92-ffea85e0cd65&quot;,&quot;html&quot;:&quot;Sales by Cost Category      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,&quot;cellColor&quot;:&quot;none&quot;},{&quot;id&quot;:&quot;1411756221372265&quot;,&quot;cellColor&quot;:&quot;none&quot;,&quot;componentType&quot;:&quot;TextAndImage&quot;,&quot;childElement&quot;:{&quot;backdropPadding&quot;:30,&quot;verticalAlign&quot;:&quot;middle&quot;,&quot;text&quot;:{&quot;blocks&quot;:[{&quot;type&quot;:&quot;text&quot;,&quot;textStyle&quot;:&quot;bulleted&quot;,&quot;listStyle&quot;:&quot;bullets&quot;,&quot;indent&quot;:0,&quot;html&quot;:&quot;Mid-Low\npriced products ($0.51–$1.00) contribute the highest revenue of $224K, making them the top driver of\nsales. &quot;,&quot;id&quot;:&quot;14b78f7f-3bc5-4f26-b7fd-fb3de1538e78&quot;,&quot;blockBounds&quot;:{&quot;left&quot;:0,&quot;top&quot;:-5.300000190734863,&quot;width&quot;:516,&quot;height&quot;:86.88750457763672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-5.304000000000002,&quot;bottom&quot;:0,&quot;left&quot;:0,&quot;right&quot;:0},&quot;topSpace&quot;:5.304000000000002,&quot;bottomSpace&quot;:5.559000000000001,&quot;bulletColor&quot;:&quot;accent2&quot;},{&quot;type&quot;:&quot;text&quot;,&quot;textStyle&quot;:&quot;bulleted&quot;,&quot;listStyle&quot;:&quot;bullets&quot;,&quot;indent&quot;:0,&quot;html&quot;:&quot;Mid-High\npriced products ($1.01–$1.50) follow closely\nwith $216K, showing strong performance as\nwell. &quot;,&quot;id&quot;:&quot;cd86fa1f-f422-4580-9f35-7708d3661a2d&quot;,&quot;blockBounds&quot;:{&quot;left&quot;:0,&quot;top&quot;:104.7125015258789,&quot;width&quot;:516,&quot;height&quot;:86.88750457763672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0,&quot;left&quot;:0,&quot;right&quot;:0},&quot;topSpace&quot;:5.304000000000002,&quot;bottomSpace&quot;:5.559000000000001,&quot;bulletColor&quot;:&quot;accent2&quot;},{&quot;type&quot;:&quot;text&quot;,&quot;textStyle&quot;:&quot;bulleted&quot;,&quot;listStyle&quot;:&quot;bullets&quot;,&quot;indent&quot;:0,&quot;html&quot;:&quot;High-cost\nproducts\n(&amp;gt;$1.50) generate only $72K,\ndespite having higher unit prices, indicating lower\ndemand. &quot;,&quot;id&quot;:&quot;955f4345-f356-45b8-8f0a-a27923d60301&quot;,&quot;blockBounds&quot;:{&quot;left&quot;:0,&quot;top&quot;:214.72500610351562,&quot;width&quot;:516,&quot;height&quot;:86.88750457763672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0,&quot;left&quot;:0,&quot;right&quot;:0},&quot;topSpace&quot;:5.304000000000002,&quot;bottomSpace&quot;:5.559000000000001,&quot;bulletColor&quot;:&quot;accent2&quot;},{&quot;type&quot;:&quot;text&quot;,&quot;textStyle&quot;:&quot;bulleted&quot;,&quot;listStyle&quot;:&quot;bullets&quot;,&quot;indent&quot;:0,&quot;html&quot;:&quot;Low-cost\nproducts\n(≤$0.50) contribute the least revenue\nat $54K, meaning ultra-low prices don’t necessarily drive sales volume.&amp;nbsp; &amp;nbsp; &amp;nbsp;&amp;nbsp;&quot;,&quot;id&quot;:&quot;414ba016-065d-49e8-b421-9d5e0b438cf9&quot;,&quot;blockBounds&quot;:{&quot;left&quot;:0,&quot;top&quot;:324.7375183105469,&quot;width&quot;:516,&quot;height&quot;:115.849998474121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-5.559000000000001,&quot;left&quot;:0,&quot;right&quot;:0},&quot;topSpace&quot;:5.304000000000002,&quot;bottomSpace&quot;:5.559000000000001,&quot;bulletColor&quot;:&quot;accent2&quot;}]},&quot;boxHAlign&quot;:&quot;center&quot;,&quot;textAlign&quot;:&quot;center&quot;},&quot;showTitle&quot;:false}],&quot;layoutEngineType&quot;:&quot;dashboard&quot;,&quot;cellFrameType&quot;:&quot;none&quot;,&quot;gridLayout&quot;:{&quot;cols&quot;:12,&quot;rows&quot;:12,&quot;cells&quot;:[{&quot;x&quot;:0,&quot;y&quot;:0,&quot;width&quot;:6,&quot;height&quot;:12},{&quot;x&quot;:6,&quot;y&quot;:0,&quot;width&quot;:6,&quot;height&quot;:12}]},&quot;borderColor&quot;:&quot;accent3&quot;,&quot;showTitle&quot;:&quot;above&quot;,&quot;cellColor&quot;:&quot;none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362d040b-16d0-4c15-8305-d2964bb9b69d&quot;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itle&quot;,&quot;presentationId&quot;:&quot;03a3398c-4833-4292-ae19-5ba34c3222d2&quot;,&quot;template_version&quot;:1,&quot;layout&quot;:{&quot;headerPosition&quot;:&quot;top&quot;,&quot;showFooter&quot;:&quot;theme&quot;},&quot;states&quot;:[{&quot;primary&quot;:{&quot;showFooter&quot;:false,&quot;accentColor&quot;:&quot;accent2&quot;,&quot;backdropPadding&quot;:40,&quot;verticalAlign&quot;:&quot;middle&quot;,&quot;text&quot;:{&quot;blocks&quot;:[{&quot;id&quot;:&quot;b16178d3-a6cf-48e1-9139-8e3a3520296a&quot;,&quot;html&quot;:&quot;Section\n3 — Store &amp;amp; Regional Analysis&quot;,&quot;type&quot;:&quot;text&quot;,&quot;textStyle&quot;:&quot;heading&quot;,&quot;indent&quot;:0,&quot;blockBounds&quot;:{&quot;left&quot;:0,&quot;top&quot;:-9.237500190734863,&quot;width&quot;:1078,&quot;height&quot;:67.0875015258789},&quot;textStyles&quot;:{&quot;fontFamily&quot;:&quot;geist&quot;,&quot;baseFontSize&quot;:90,&quot;fontColor&quot;:&quot;primary&quot;,&quot;bulletScale&quot;:1,&quot;bulletSpacing&quot;:2.5,&quot;bulletIndent&quot;:50,&quot;fontScaling&quot;:100,&quot;fontWeight&quot;:600,&quot;letterSpacing&quot;:&quot;-0.06em&quot;,&quot;lineHeight&quot;:0.994,&quot;textTransform&quot;:&quot;none&quot;,&quot;spaceBelow&quot;:0,&quot;spaceAbove&quot;:0,&quot;blockSpacing&quot;:4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0.75,&quot;fontSize&quot;:67.5,&quot;textAlign&quot;:&quot;center&quot;,&quot;color&quot;:&quot;rgb(51, 51, 51)&quot;,&quot;accentColor&quot;:&quot;accent2&quot;,&quot;emphasizedColor&quot;:&quot;rgb(56, 216, 230)&quot;,&quot;hyperlinkColor&quot;:&quot;rgb(17, 169, 226)&quot;},&quot;blockMargin&quot;:{&quot;top&quot;:-9.247500000000002,&quot;bottom&quot;:-9.9225,&quot;left&quot;:0,&quot;right&quot;:0},&quot;topSpace&quot;:9.247500000000002,&quot;bottomSpace&quot;:9.9225}],&quot;blockFontScales&quot;:{&quot;heading&quot;:0.75}},&quot;decoration&quot;:&quot;left_border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4bb5a710-50b0-4d24-923f-adb06c0ae45a&quot;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column&quot;,&quot;presentationId&quot;:&quot;dd4f1400-0dc4-4346-a1c5-1cbd3f798eb5&quot;,&quot;template_version&quot;:1,&quot;layout&quot;:{&quot;headerPosition&quot;:&quot;top&quot;,&quot;showFooter&quot;:&quot;off&quot;},&quot;states&quot;:[{&quot;header&quot;:{&quot;text&quot;:{&quot;blocks&quot;:[{&quot;id&quot;:&quot;9c3df389-c005-42b3-beeb-e4fa2987474f&quot;,&quot;html&quot;:&quot;Top\n&amp;amp; Bottom Stores Performance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756231292913&quot;,&quot;name&quot;:&quot;Total Profit&quot;,&quot;type&quot;:&quot;column&quot;,&quot;data&quot;:[{&quot;y&quot;:52026.05,&quot;pt&quot;:true},{&quot;y&quot;:44642.41,&quot;pt&quot;:true},{&quot;y&quot;:32874.22,&quot;pt&quot;:true},{&quot;y&quot;:32552.9,&quot;pt&quot;:true},{&quot;y&quot;:32497.52,&quot;pt&quot;:true},{&quot;y&quot;:31522.79,&quot;pt&quot;:true},{&quot;y&quot;:31350.03,&quot;pt&quot;:true},{&quot;y&quot;:29568.12,&quot;pt&quot;:true},{&quot;y&quot;:27291.82},{&quot;y&quot;:14494.42},{&quot;y&quot;:2824.51},{&quot;y&quot;:2822.45},{&quot;y&quot;:2658.24}],&quot;colorName&quot;:&quot;accent1&quot;,&quot;marker&quot;:&quot;none&quot;,&quot;zones&quot;:[{&quot;style&quot;:&quot;default&quot;}],&quot;stacking&quot;:&quot;normal&quot;,&quot;showDataLabels&quot;:false},{&quot;id&quot;:&quot;series1&quot;,&quot;name&quot;:&quot;Total Sales&quot;,&quot;type&quot;:&quot;column&quot;,&quot;data&quot;:[{&quot;y&quot;:87218.28},{&quot;y&quot;:74843.96},{&quot;y&quot;:55058.79},{&quot;y&quot;:54545.28},{&quot;y&quot;:54431.14},{&quot;y&quot;:52896.3},{&quot;y&quot;:52644.07},{&quot;y&quot;:49634.46},{&quot;y&quot;:45750.24},{&quot;y&quot;:24329.23},{&quot;y&quot;:4739.23},{&quot;y&quot;:4705.97},{&quot;y&quot;:4441.18}],&quot;colorName&quot;:&quot;accent4&quot;,&quot;marker&quot;:&quot;none&quot;,&quot;zones&quot;:[{&quot;style&quot;:&quot;default&quot;}],&quot;stacking&quot;:&quot;normal&quot;,&quot;showDataLabels&quot;:false}],&quot;xAxis&quot;:{&quot;visible&quot;:true,&quot;showFirstLabel&quot;:true,&quot;showLastLabel&quot;:true,&quot;endOnTick&quot;:true,&quot;categories&quot;:[&quot;Store 13&quot;,&quot;Store 17&quot;,&quot;Store 11&quot;,&quot;Store 7&quot;,&quot;Store 24&quot;,&quot;Store 3&quot;,&quot;Store 15&quot;,&quot;Store 16&quot;,&quot;Store 6&quot;,&quot;Store 23&quot;,&quot;Store 2&quot;,&quot;Store 22&quot;,&quot;Store 14&quot;],&quot;dateFormatting&quot;:&quot;MMM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chartAnnotations&quot;:{&quot;items&quot;:[],&quot;connections&quot;:{&quot;items&quot;:[],&quot;collectionColor&quot;:&quot;theme&quot;},&quot;collectionColor&quot;:&quot;theme&quot;},&quot;legendPosition&quot;:&quot;top&quot;,&quot;legendReverse&quot;:false},&quot;id&quot;:&quot;650ac180-35d5-44d8-9857-caf2865e7b9b&quot;,&quot;cellColor&quot;:&quot;none&quot;,&quot;showTitle&quot;:&quot;above&quot;,&quot;chartTitle&quot;:{&quot;chartTitle&quot;:{&quot;blocks&quot;:[{&quot;id&quot;:&quot;10561e82-7855-485e-801b-c14f157490b7&quot;,&quot;html&quot;:&quot;Store Performance  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,{&quot;id&quot;:&quot;541756230660665&quot;,&quot;cellColor&quot;:&quot;none&quot;,&quot;componentType&quot;:&quot;TextAndImage&quot;,&quot;childElement&quot;:{&quot;backdropPadding&quot;:30,&quot;verticalAlign&quot;:&quot;middle&quot;,&quot;text&quot;:{&quot;blocks&quot;:[{&quot;type&quot;:&quot;text&quot;,&quot;textStyle&quot;:&quot;bulleted&quot;,&quot;listStyle&quot;:&quot;bullets&quot;,&quot;indent&quot;:0,&quot;html&quot;:&quot;Top\nPerformers:\nStore 13\nand 17\nlead in both sales and profit, driving overall performance. &quot;,&quot;id&quot;:&quot;52b55398-1b75-4e28-84bb-76fa39d28136&quot;,&quot;blockBounds&quot;:{&quot;left&quot;:0,&quot;top&quot;:-6.237500190734863,&quot;width&quot;:519,&quot;height&quot;:102.224998474121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-6.239999999999998,&quot;bottom&quot;:0,&quot;left&quot;:0,&quot;right&quot;:0},&quot;topSpace&quot;:6.239999999999998,&quot;bottomSpace&quot;:6.540000000000003,&quot;bulletColor&quot;:&quot;accent5&quot;},{&quot;type&quot;:&quot;text&quot;,&quot;textStyle&quot;:&quot;bulleted&quot;,&quot;listStyle&quot;:&quot;bullets&quot;,&quot;indent&quot;:0,&quot;html&quot;:&quot;Mid\nPerformers:\nStores 11,\n7, 24, 3, 15, 16, and 6\ncontribute moderately to revenue. &quot;,&quot;id&quot;:&quot;75b4767e-ac7d-40a4-aa9e-3d74420737bb&quot;,&quot;blockBounds&quot;:{&quot;left&quot;:0,&quot;top&quot;:123.20000457763672,&quot;width&quot;:519,&quot;height&quot;:102.224998474121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0,&quot;left&quot;:0,&quot;right&quot;:0},&quot;topSpace&quot;:6.239999999999998,&quot;bottomSpace&quot;:6.540000000000003,&quot;bulletColor&quot;:&quot;accent5&quot;},{&quot;type&quot;:&quot;text&quot;,&quot;textStyle&quot;:&quot;bulleted&quot;,&quot;listStyle&quot;:&quot;bullets&quot;,&quot;indent&quot;:0,&quot;html&quot;:&quot;Underperformers:\nStores 23,\n2, 22,\nand 14\nshow low\nsales\nand minimal\nprofits,\nrequiring improvement strategies.&amp;nbsp;&amp;nbsp;&quot;,&quot;id&quot;:&quot;a645831d-73ee-4cd8-9550-a3d8d551c6b0&quot;,&quot;blockBounds&quot;:{&quot;left&quot;:0,&quot;top&quot;:252.6374969482422,&quot;width&quot;:519,&quot;height&quot;:136.3000030517578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-6.540000000000003,&quot;left&quot;:0,&quot;right&quot;:0},&quot;topSpace&quot;:6.239999999999998,&quot;bottomSpace&quot;:6.540000000000003,&quot;bulletColor&quot;:&quot;accent5&quot;}]},&quot;boxHAlign&quot;:&quot;center&quot;,&quot;textAlign&quot;:&quot;center&quot;},&quot;showTitle&quot;:false}],&quot;layoutEngineType&quot;:&quot;dashboard&quot;,&quot;cellFrameType&quot;:&quot;none&quot;,&quot;gridLayout&quot;:{&quot;cols&quot;:12,&quot;rows&quot;:12,&quot;cells&quot;:[{&quot;x&quot;:6,&quot;y&quot;:0,&quot;width&quot;:6,&quot;height&quot;:12},{&quot;x&quot;:0,&quot;y&quot;:0,&quot;width&quot;:6,&quot;height&quot;:12}]},&quot;showTitle&quot;:&quot;above&quot;,&quot;borderColor&quot;:&quot;accent3&quot;,&quot;cellColor&quot;:&quot;none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8be2d7d8-4f14-4f84-8e37-cfd15151dc77&quot;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column&quot;,&quot;presentationId&quot;:&quot;09653d04-fe0a-42f3-81ce-80bf53397bfb&quot;,&quot;template_version&quot;:1,&quot;layout&quot;:{&quot;headerPosition&quot;:&quot;top&quot;,&quot;showFooter&quot;:&quot;off&quot;},&quot;states&quot;:[{&quot;header&quot;:{&quot;text&quot;:{&quot;blocks&quot;:[{&quot;id&quot;:&quot;a4c0b1e2-e3d1-4c6e-a27b-0e887a72dee5&quot;,&quot;html&quot;:&quot;District\nContribution Analysis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,&quot;backgroundColor&quot;:&quot;none&quot;},&quot;primary&quot;:{&quot;items&quot;:[{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Total Sales&quot;,&quot;type&quot;:&quot;column&quot;,&quot;data&quot;:[{&quot;y&quot;:100295.52},{&quot;y&quot;:87218.28},{&quot;y&quot;:74843.96},{&quot;y&quot;:55058.79},{&quot;y&quot;:54431.14},{&quot;y&quot;:52896.3},{&quot;y&quot;:52644.07},{&quot;y&quot;:49634.07},{&quot;y&quot;:24329.23},{&quot;y&quot;:4739.23},{&quot;y&quot;:4705.97},{&quot;y&quot;:4441.18}],&quot;colorName&quot;:&quot;accent3&quot;,&quot;marker&quot;:&quot;none&quot;,&quot;zones&quot;:[{&quot;style&quot;:&quot;default&quot;}],&quot;showDataLabels&quot;:true},{&quot;id&quot;:&quot;series1756297139062&quot;,&quot;name&quot;:&quot;Total Profit&quot;,&quot;type&quot;:&quot;line&quot;,&quot;data&quot;:[{&quot;y&quot;:59844.72,&quot;pt&quot;:true},{&quot;y&quot;:52026.05,&quot;pt&quot;:true},{&quot;y&quot;:44642.41,&quot;pt&quot;:true},{&quot;y&quot;:32874.22,&quot;pt&quot;:true},{&quot;y&quot;:32497.52,&quot;pt&quot;:true},{&quot;y&quot;:31522.79,&quot;pt&quot;:true},{&quot;y&quot;:31350.03,&quot;pt&quot;:true},{&quot;y&quot;:29568.12,&quot;pt&quot;:true},{&quot;y&quot;:14494.42,&quot;pt&quot;:true},{&quot;y&quot;:2824.51,&quot;pt&quot;:true},{&quot;y&quot;:2822.45,&quot;pt&quot;:true},{&quot;y&quot;:2658.24,&quot;pt&quot;:true}],&quot;colorName&quot;:&quot;accent2&quot;,&quot;marker&quot;:&quot;none&quot;,&quot;zones&quot;:[{&quot;style&quot;:&quot;default&quot;}]}],&quot;xAxis&quot;:{&quot;visible&quot;:true,&quot;showFirstLabel&quot;:true,&quot;showLastLabel&quot;:true,&quot;endOnTick&quot;:true,&quot;categories&quot;:[&quot;Los Angeles&quot;,&quot;Salem&quot;,&quot;Tacoma&quot;,&quot;Portland&quot;,&quot;San Diego&quot;,&quot;Bremerton&quot;,&quot;Seattle&quot;,&quot;Spokane&quot;,&quot;Yakima&quot;,&quot;Bellingham&quot;,&quot;Walla Walla&quot;,&quot;San Francisco&quot;],&quot;dateFormatting&quot;:&quot;MMM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2,&quot;separator&quot;:true,&quot;abbreviated&quot;:&quot;upper&quot;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,&quot;columnPadding&quot;:0,&quot;groupPadding&quot;:0.1},&quot;legendPosition&quot;:&quot;top&quot;,&quot;chartAnnotations&quot;:{&quot;items&quot;:[],&quot;connections&quot;:{&quot;items&quot;:[],&quot;collectionColor&quot;:&quot;theme&quot;},&quot;collectionColor&quot;:&quot;theme&quot;},&quot;legendReverse&quot;:false},&quot;id&quot;:&quot;5385f8aa-7f61-4f5f-ba9a-e0b0b8be146e&quot;,&quot;showTitle&quot;:&quot;above&quot;,&quot;chartTitle&quot;:{&quot;chartTitle&quot;:{&quot;blocks&quot;:[{&quot;id&quot;:&quot;967ec7ca-9c39-41e9-9fa4-5cd8b38a87c6&quot;,&quot;html&quot;:&quot; District Analysis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,{&quot;cellColor&quot;:&quot;none&quot;,&quot;id&quot;:&quot;2136f9c4-c445-4f73-8070-531d60c9497d&quot;,&quot;componentType&quot;:&quot;TextAndImage&quot;,&quot;childElement&quot;:{&quot;backdropPadding&quot;:30,&quot;verticalAlign&quot;:&quot;middle&quot;,&quot;text&quot;:{&quot;blocks&quot;:[{&quot;type&quot;:&quot;text&quot;,&quot;textStyle&quot;:&quot;title&quot;,&quot;html&quot;:&quot;Top\nDistricts: \n\n\n\n&quot;,&quot;id&quot;:&quot;8462b428-20dd-40de-b518-6cb9c857b1ec&quot;,&quot;indent&quot;:0,&quot;blockBounds&quot;:{&quot;left&quot;:0,&quot;top&quot;:-5.612500190734863,&quot;width&quot;:519,&quot;height&quot;:30.662500381469727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-5.616,&quot;bottom&quot;:0,&quot;left&quot;:0,&quot;right&quot;:0},&quot;topSpace&quot;:5.616,&quot;bottomSpace&quot;:5.885999999999999},{&quot;id&quot;:&quot;5c93cc58-3024-4812-a40b-2a1f5b98de4f&quot;,&quot;type&quot;:&quot;text&quot;,&quot;textStyle&quot;:&quot;bulleted&quot;,&quot;spaceAbove&quot;:-20,&quot;html&quot;:&quot;Los Angeles, Salem,\nand Tacoma\ndrive the highest sales, making them key revenue contributors.     &lt;span style=\&quot;font-weight:normal\&quot;&gt; &lt;/span&gt;&quot;,&quot;indent&quot;:0,&quot;blockBounds&quot;:{&quot;left&quot;:0,&quot;top&quot;:31.537500381469727,&quot;width&quot;:519,&quot;height&quot;:91.9875030517578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6.498000000000001,&quot;bottom&quot;:0,&quot;left&quot;:0,&quot;right&quot;:0},&quot;topSpace&quot;:5.616,&quot;bottomSpace&quot;:5.885999999999999,&quot;listStyle&quot;:&quot;bullets&quot;,&quot;bulletColor&quot;:&quot;collection-colorful&quot;},{&quot;id&quot;:&quot;8db56c94-9ef0-488c-80aa-4dc8a65922b9&quot;,&quot;type&quot;:&quot;text&quot;,&quot;textStyle&quot;:&quot;title&quot;,&quot;spaceAbove&quot;:20,&quot;html&quot;:&quot;Profit\nTrend: &quot;,&quot;indent&quot;:0,&quot;blockBounds&quot;:{&quot;left&quot;:0,&quot;top&quot;:157.0124969482422,&quot;width&quot;:519,&quot;height&quot;:30.662500381469727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33.498000000000005,&quot;bottom&quot;:0,&quot;left&quot;:0,&quot;right&quot;:0},&quot;topSpace&quot;:5.616,&quot;bottomSpace&quot;:5.885999999999999},{&quot;id&quot;:&quot;9727d22f-5b46-489e-8336-8f1532b23e5e&quot;,&quot;type&quot;:&quot;text&quot;,&quot;textStyle&quot;:&quot;bulleted&quot;,&quot;spaceAbove&quot;:-20,&quot;html&quot;:&quot;Total profit decreases consistently as total sales decline, showing a direct link between sales and\nprofitability.      &quot;,&quot;indent&quot;:0,&quot;blockBounds&quot;:{&quot;left&quot;:0,&quot;top&quot;:194.16250610351562,&quot;width&quot;:519,&quot;height&quot;:91.9875030517578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6.498000000000001,&quot;bottom&quot;:0,&quot;left&quot;:0,&quot;right&quot;:0},&quot;topSpace&quot;:5.616,&quot;bottomSpace&quot;:5.885999999999999,&quot;listStyle&quot;:&quot;bullets&quot;,&quot;bulletColor&quot;:&quot;collection-colorful&quot;},{&quot;id&quot;:&quot;09eb1e73-7fa4-4ef5-9d7c-384fd0c02446&quot;,&quot;type&quot;:&quot;text&quot;,&quot;textStyle&quot;:&quot;title&quot;,&quot;spaceAbove&quot;:20,&quot;html&quot;:&quot;Low-Contribution\nDistricts: &quot;,&quot;indent&quot;:0,&quot;blockBounds&quot;:{&quot;left&quot;:0,&quot;top&quot;:319.63751220703125,&quot;width&quot;:519,&quot;height&quot;:30.662500381469727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33.498000000000005,&quot;bottom&quot;:0,&quot;left&quot;:0,&quot;right&quot;:0},&quot;topSpace&quot;:5.616,&quot;bottomSpace&quot;:5.885999999999999},{&quot;id&quot;:&quot;ac41ee3c-17ca-41ad-8d2b-72344f23a5b1&quot;,&quot;type&quot;:&quot;text&quot;,&quot;textStyle&quot;:&quot;bulleted&quot;,&quot;spaceAbove&quot;:-20,&quot;html&quot;:&quot;Bellingham, Walla\nWalla, and San\nFrancisco generate the lowest sales and profits.    &quot;,&quot;indent&quot;:0,&quot;blockBounds&quot;:{&quot;left&quot;:0,&quot;top&quot;:356.7875061035156,&quot;width&quot;:519,&quot;height&quot;:91.9875030517578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6.498000000000001,&quot;bottom&quot;:-5.885999999999999,&quot;left&quot;:0,&quot;right&quot;:0},&quot;topSpace&quot;:5.616,&quot;bottomSpace&quot;:5.885999999999999,&quot;listStyle&quot;:&quot;bullets&quot;,&quot;bulletColor&quot;:&quot;collection-colorful&quot;}]},&quot;boxHAlign&quot;:&quot;center&quot;,&quot;textAlign&quot;:&quot;left&quot;},&quot;showTitle&quot;:false}],&quot;layoutEngineType&quot;:&quot;dashboard&quot;,&quot;cellFrameType&quot;:&quot;none&quot;,&quot;gridLayout&quot;:{&quot;cols&quot;:12,&quot;rows&quot;:12,&quot;cells&quot;:[{&quot;x&quot;:0,&quot;y&quot;:0,&quot;width&quot;:6,&quot;height&quot;:12},{&quot;x&quot;:6,&quot;y&quot;:0,&quot;width&quot;:6,&quot;height&quot;:12}]},&quot;borderColor&quot;:&quot;accent3&quot;,&quot;showTitle&quot;:&quot;above&quot;,&quot;borderShadow&quot;:false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d5640186-40a0-47cd-b139-076362116474&quot;,&quot;modifiedAt&quot;:1756298824546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line&quot;,&quot;presentationId&quot;:&quot;abdfd726-6f8d-4ced-b5d0-3f1e79df3668&quot;,&quot;template_version&quot;:1,&quot;layout&quot;:{&quot;headerPosition&quot;:&quot;top&quot;,&quot;showFooter&quot;:&quot;off&quot;},&quot;states&quot;:[{&quot;header&quot;:{&quot;text&quot;:{&quot;blocks&quot;:[{&quot;id&quot;:&quot;336e776d-0694-48fd-82e5-f6cf6fbca5da&quot;,&quot;html&quot;:&quot;Store\nType Performance    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gridLayout&quot;:{&quot;cols&quot;:12,&quot;rows&quot;:12,&quot;cells&quot;:[{&quot;x&quot;:0,&quot;y&quot;:0,&quot;width&quot;:6,&quot;height&quot;:12},{&quot;x&quot;:6,&quot;y&quot;:0,&quot;width&quot;:6,&quot;height&quot;:12}]},&quot;items&quot;:[{&quot;componentType&quot;:&quot;TextAndImage&quot;,&quot;childElement&quot;:{&quot;backdropPadding&quot;:30,&quot;verticalAlign&quot;:&quot;middle&quot;,&quot;text&quot;:{&quot;blocks&quot;:[{&quot;type&quot;:&quot;text&quot;,&quot;textStyle&quot;:&quot;bulleted&quot;,&quot;listStyle&quot;:&quot;bullets&quot;,&quot;indent&quot;:0,&quot;html&quot;:&quot;Supermarkets\nlead with $319K sales (56.47%)\nand $190K profit. &quot;,&quot;id&quot;:&quot;03495797-8eb4-4146-964f-5be2e38c124a&quot;,&quot;blockBounds&quot;:{&quot;left&quot;:0,&quot;top&quot;:-5.300000190734863,&quot;width&quot;:519,&quot;height&quot;:57.92499923706055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-5.304000000000002,&quot;bottom&quot;:0,&quot;left&quot;:0,&quot;right&quot;:0},&quot;topSpace&quot;:5.304000000000002,&quot;bottomSpace&quot;:5.559000000000001},{&quot;type&quot;:&quot;text&quot;,&quot;textStyle&quot;:&quot;bulleted&quot;,&quot;listStyle&quot;:&quot;bullets&quot;,&quot;indent&quot;:0,&quot;html&quot;:&quot;Deluxe\nSupermarkets rank 2nd\nwith $162K sales (28.67%)\nand $96.6K profit. &quot;,&quot;id&quot;:&quot;c2fa016d-e4ae-4a54-91ec-e8b89ab54a05&quot;,&quot;blockBounds&quot;:{&quot;left&quot;:0,&quot;top&quot;:75.75,&quot;width&quot;:519,&quot;height&quot;:57.92499923706055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0,&quot;left&quot;:0,&quot;right&quot;:0},&quot;topSpace&quot;:5.304000000000002,&quot;bottomSpace&quot;:5.559000000000001},{&quot;type&quot;:&quot;text&quot;,&quot;textStyle&quot;:&quot;bulleted&quot;,&quot;listStyle&quot;:&quot;bullets&quot;,&quot;indent&quot;:0,&quot;html&quot;:&quot;Gourmet\nSupermarkets contribute $45.7K sales (8.09%)\nand have the highest avg. spend\n($6.71). &quot;,&quot;id&quot;:&quot;ac67a9dd-792d-4386-8bf7-a8b3243f5cf8&quot;,&quot;blockBounds&quot;:{&quot;left&quot;:0,&quot;top&quot;:156.8000030517578,&quot;width&quot;:519,&quot;height&quot;:86.88750457763672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0,&quot;left&quot;:0,&quot;right&quot;:0},&quot;topSpace&quot;:5.304000000000002,&quot;bottomSpace&quot;:5.559000000000001},{&quot;type&quot;:&quot;text&quot;,&quot;textStyle&quot;:&quot;bulleted&quot;,&quot;listStyle&quot;:&quot;bullets&quot;,&quot;indent&quot;:0,&quot;html&quot;:&quot;Mid-Size\nGroceries\nshow $24.3K sales (4.3%)\nwith moderate profits. &quot;,&quot;id&quot;:&quot;a849d893-bc48-4006-b668-8020513de0b9&quot;,&quot;blockBounds&quot;:{&quot;left&quot;:0,&quot;top&quot;:266.8125,&quot;width&quot;:519,&quot;height&quot;:57.92499923706055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0,&quot;left&quot;:0,&quot;right&quot;:0},&quot;topSpace&quot;:5.304000000000002,&quot;bottomSpace&quot;:5.559000000000001},{&quot;type&quot;:&quot;text&quot;,&quot;textStyle&quot;:&quot;bulleted&quot;,&quot;listStyle&quot;:&quot;bullets&quot;,&quot;indent&quot;:0,&quot;html&quot;:&quot;Small\nGroceries\nunderperform with $13.8K sales\n(2.46%) and lowest profit ($8.3K).&amp;nbsp;&amp;nbsp;&quot;,&quot;id&quot;:&quot;fd0ba11a-67a4-40ce-9305-5e5dac33e3cd&quot;,&quot;blockBounds&quot;:{&quot;left&quot;:0,&quot;top&quot;:347.8625183105469,&quot;width&quot;:519,&quot;height&quot;:57.92499923706055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5.5,&quot;textAlign&quot;:&quot;left&quot;,&quot;color&quot;:&quot;rgb(51, 51, 51)&quot;,&quot;emphasizedColor&quot;:&quot;rgb(72, 220, 146)&quot;,&quot;hyperlinkColor&quot;:&quot;rgb(17, 169, 226)&quot;},&quot;blockMargin&quot;:{&quot;top&quot;:23.136999999999997,&quot;bottom&quot;:-5.559000000000001,&quot;left&quot;:0,&quot;right&quot;:0},&quot;topSpace&quot;:5.304000000000002,&quot;bottomSpace&quot;:5.559000000000001}]},&quot;boxHAlign&quot;:&quot;center&quot;,&quot;textAlign&quot;:&quot;right&quot;,&quot;textPosition&quot;:&quot;right&quot;},&quot;id&quot;:&quot;2211756232193967&quot;,&quot;showTitle&quot;:false,&quot;cellColor&quot;:&quot;none&quot;},{&quot;id&quot;:&quot;1911756232170514&quot;,&quot;componentType&quot;:&quot;Table&quot;,&quot;childElement&quot;:{&quot;tableWidth&quot;:1,&quot;tableHeight&quot;:1,&quot;showTopLeftCell&quot;:true,&quot;showBorder&quot;:true,&quot;showColGridLines&quot;:true,&quot;showRowGridLines&quot;:true,&quot;cells&quot;:[{&quot;row&quot;:0,&quot;col&quot;:0,&quot;id&quot;:&quot;0:0&quot;,&quot;cellText&quot;:{&quot;text&quot;:&quot;Store Type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1,&quot;col&quot;:0,&quot;id&quot;:&quot;1:0&quot;,&quot;cellText&quot;:{&quot;text&quot;:&quot;Supermarket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2,&quot;col&quot;:0,&quot;id&quot;:&quot;2:0&quot;,&quot;cellText&quot;:{&quot;text&quot;:&quot;Deluxe Supermarket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3,&quot;col&quot;:0,&quot;id&quot;:&quot;3:0&quot;,&quot;cellText&quot;:{&quot;text&quot;:&quot;Gourmet Supermarket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4,&quot;col&quot;:0,&quot;id&quot;:&quot;4:0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width&quot;:1,&quot;height&quot;:1,&quot;isHidden&quot;:false,&quot;cellText&quot;:{&quot;text&quot;:&quot;Mid-Size Grocery&quot;}},{&quot;row&quot;:5,&quot;col&quot;:0,&quot;id&quot;:&quot;5:0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Small Grocery&quot;}},{&quot;row&quot;:0,&quot;col&quot;:1,&quot;id&quot;:&quot;0:1&quot;,&quot;cellText&quot;:{&quot;text&quot;:&quot;Total Sales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1,&quot;col&quot;:1,&quot;id&quot;:&quot;1:1&quot;,&quot;cellText&quot;:{&quot;text&quot;:&quot;319210.0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2,&quot;col&quot;:1,&quot;id&quot;:&quot;2:1&quot;,&quot;cellText&quot;:{&quot;text&quot;:&quot;162062.2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3,&quot;col&quot;:1,&quot;id&quot;:&quot;3:1&quot;,&quot;cellText&quot;:{&quot;text&quot;:&quot;45750.2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4,&quot;col&quot;:1,&quot;id&quot;:&quot;4:1&quot;,&quot;format&quot;:&quot;number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isHidden&quot;:false,&quot;height&quot;:1,&quot;width&quot;:1,&quot;cellText&quot;:{&quot;text&quot;:&quot;24329.23&quot;}},{&quot;row&quot;:5,&quot;col&quot;:1,&quot;id&quot;:&quot;5:1&quot;,&quot;format&quot;:&quot;number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13886.380000000006&quot;}},{&quot;row&quot;:0,&quot;col&quot;:2,&quot;id&quot;:&quot;0:2&quot;,&quot;cellText&quot;:{&quot;text&quot;:&quot;Total Profit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1,&quot;col&quot;:2,&quot;id&quot;:&quot;1:2&quot;,&quot;cellText&quot;:{&quot;text&quot;:&quot;190365.58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2,&quot;col&quot;:2,&quot;id&quot;:&quot;2:2&quot;,&quot;cellText&quot;:{&quot;text&quot;:&quot;96668.46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3,&quot;col&quot;:2,&quot;id&quot;:&quot;3:2&quot;,&quot;cellText&quot;:{&quot;text&quot;:&quot;27291.82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4,&quot;col&quot;:2,&quot;id&quot;:&quot;4:2&quot;,&quot;format&quot;:&quot;number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width&quot;:1,&quot;height&quot;:1,&quot;isHidden&quot;:false,&quot;cellText&quot;:{&quot;text&quot;:&quot;14494.42000000001&quot;}},{&quot;row&quot;:5,&quot;col&quot;:2,&quot;id&quot;:&quot;5:2&quot;,&quot;format&quot;:&quot;number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8305.200000000008&quot;}},{&quot;row&quot;:0,&quot;col&quot;:3,&quot;id&quot;:&quot;0:3&quot;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Avg Spend / Txn&quot;}},{&quot;row&quot;:1,&quot;col&quot;:3,&quot;id&quot;:&quot;1:3&quot;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cellText&quot;:{&quot;text&quot;:&quot;6.68&quot;}},{&quot;col&quot;:3,&quot;row&quot;:2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id&quot;:&quot;2:3&quot;,&quot;cellText&quot;:{&quot;text&quot;:&quot;6.61&quot;}},{&quot;col&quot;:3,&quot;row&quot;:3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id&quot;:&quot;3:3&quot;,&quot;cellText&quot;:{&quot;text&quot;:&quot;6.71&quot;}},{&quot;col&quot;:3,&quot;row&quot;:4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id&quot;:&quot;4:3&quot;,&quot;isHidden&quot;:false,&quot;height&quot;:1,&quot;width&quot;:1,&quot;cellText&quot;:{&quot;text&quot;:&quot;6.66&quot;}},{&quot;col&quot;:3,&quot;row&quot;:5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id&quot;:&quot;5:3&quot;,&quot;cellText&quot;:{&quot;text&quot;:&quot;3.43&quot;}}],&quot;cols&quot;:[{&quot;index&quot;:0,&quot;style&quot;:&quot;headerCol&quot;,&quot;break&quot;:false,&quot;size&quot;:60.550234291092565},{&quot;index&quot;:1,&quot;style&quot;:&quot;defaultCol&quot;,&quot;break&quot;:false,&quot;size&quot;:49.449765708907435},{&quot;index&quot;:2,&quot;style&quot;:&quot;defaultCol&quot;,&quot;break&quot;:false,&quot;size&quot;:60},{&quot;index&quot;:3,&quot;style&quot;:&quot;defaultCol&quot;,&quot;break&quot;:false,&quot;size&quot;:60}],&quot;rows&quot;:[{&quot;index&quot;:0,&quot;style&quot;:&quot;headerRow&quot;,&quot;break&quot;:false,&quot;size&quot;:40},{&quot;index&quot;:1,&quot;style&quot;:&quot;defaultRow&quot;,&quot;break&quot;:false,&quot;size&quot;:30},{&quot;index&quot;:2,&quot;style&quot;:&quot;defaultRow&quot;,&quot;break&quot;:false,&quot;size&quot;:30},{&quot;index&quot;:3,&quot;style&quot;:&quot;defaultRow&quot;,&quot;break&quot;:false,&quot;size&quot;:30},{&quot;index&quot;:4,&quot;break&quot;:false,&quot;style&quot;:&quot;defaultRow&quot;,&quot;size&quot;:30},{&quot;index&quot;:5,&quot;break&quot;:false,&quot;style&quot;:&quot;defaultRow&quot;,&quot;size&quot;:30}],&quot;tableBackgroundColor&quot;:&quot;background_light&quot;,&quot;color&quot;:&quot;theme&quot;},&quot;showTitle&quot;:false}],&quot;layoutEngineType&quot;:&quot;dashboard&quot;,&quot;cellFrameType&quot;:&quot;none&quot;,&quot;showTitle&quot;:&quot;above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4c44a2d2-bbf9-4fbf-ab7f-f7aa1eb75993&quot;,&quot;sharedModel&quot;:{&quot;header&quot;:{&quot;text&quot;:{&quot;blocks&quot;:[{&quot;id&quot;:&quot;336e776d-0694-48fd-82e5-f6cf6fbca5da&quot;,&quot;html&quot;:&quot;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tabularData&quot;:[{&quot;data&quot;:[[&quot;X&quot;,&quot;Jan 1 2025&quot;,&quot;Feb 1 2025&quot;,&quot;Mar 1 2025&quot;,&quot;Apr 1 2025&quot;,&quot;May 1 2025&quot;,&quot;Jun 1 2025&quot;,&quot;Jul 1 2025&quot;,&quot;Aug 1 2025&quot;],[&quot;Data&quot;,10,40,50,30,70,50,90,110]],&quot;categories&quot;:[&quot;Jan 1 2025&quot;,&quot;Feb 1 2025&quot;,&quot;Mar 1 2025&quot;,&quot;Apr 1 2025&quot;,&quot;May 1 2025&quot;,&quot;Jun 1 2025&quot;,&quot;Jul 1 2025&quot;,&quot;Aug 1 2025&quot;],&quot;series&quot;:[{&quot;name&quot;:&quot;Data&quot;,&quot;values&quot;:[10,40,50,30,70,50,90,110]}],&quot;annotations&quot;:{&quot;chart&quot;:{&quot;items&quot;:[],&quot;connections&quot;:{&quot;items&quot;:[],&quot;collectionColor&quot;:&quot;theme&quot;},&quot;collectionColor&quot;:&quot;theme&quot;}}}],&quot;callouts&quot;:{&quot;elements&quot;:[],&quot;snapToGrid&quot;:false,&quot;collectionColor&quot;:&quot;theme&quot;,&quot;connections&quot;:{&quot;items&quot;:[],&quot;collectionColor&quot;:&quot;theme&quot;}}},&quot;animations&quot;:{&quot;general&quot;:{&quot;migrated&quot;:true}},&quot;modifiedAt&quot;:1756232333569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itle&quot;,&quot;presentationId&quot;:&quot;a8612b6e-2e7e-43b3-b053-f3a9f4dc33cf&quot;,&quot;template_version&quot;:1,&quot;layout&quot;:{&quot;headerPosition&quot;:&quot;top&quot;,&quot;showFooter&quot;:&quot;theme&quot;},&quot;states&quot;:[{&quot;primary&quot;:{&quot;showFooter&quot;:false,&quot;accentColor&quot;:&quot;accent3&quot;,&quot;backdropPadding&quot;:40,&quot;verticalAlign&quot;:&quot;middle&quot;,&quot;text&quot;:{&quot;blocks&quot;:[{&quot;id&quot;:&quot;88a4f8ad-4f86-4853-906a-8226952fad29&quot;,&quot;html&quot;:&quot;Section\n4 — Customer Insights&quot;,&quot;type&quot;:&quot;text&quot;,&quot;textStyle&quot;:&quot;heading&quot;,&quot;indent&quot;:0,&quot;blockBounds&quot;:{&quot;left&quot;:0,&quot;top&quot;:-9.237500190734863,&quot;width&quot;:880,&quot;height&quot;:67.0875015258789},&quot;textStyles&quot;:{&quot;fontFamily&quot;:&quot;geist&quot;,&quot;baseFontSize&quot;:90,&quot;fontColor&quot;:&quot;primary&quot;,&quot;bulletScale&quot;:1,&quot;bulletSpacing&quot;:2.5,&quot;bulletIndent&quot;:50,&quot;fontScaling&quot;:100,&quot;fontWeight&quot;:600,&quot;letterSpacing&quot;:&quot;-0.06em&quot;,&quot;lineHeight&quot;:0.994,&quot;textTransform&quot;:&quot;none&quot;,&quot;spaceBelow&quot;:0,&quot;spaceAbove&quot;:0,&quot;blockSpacing&quot;:4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0.75,&quot;fontSize&quot;:67.5,&quot;textAlign&quot;:&quot;center&quot;,&quot;color&quot;:&quot;rgb(51, 51, 51)&quot;,&quot;accentColor&quot;:&quot;accent3&quot;,&quot;emphasizedColor&quot;:&quot;rgb(48, 175, 239)&quot;,&quot;hyperlinkColor&quot;:&quot;rgb(17, 169, 226)&quot;},&quot;blockMargin&quot;:{&quot;top&quot;:-9.247500000000002,&quot;bottom&quot;:-9.9225,&quot;left&quot;:0,&quot;right&quot;:0},&quot;topSpace&quot;:9.247500000000002,&quot;bottomSpace&quot;:9.9225}],&quot;blockFontScales&quot;:{&quot;heading&quot;:0.75}},&quot;decoration&quot;:&quot;left_border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be3fb268-ce34-435c-98f1-d03630fa60be&quot;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column&quot;,&quot;presentationId&quot;:&quot;38a63e6f-84cc-483d-a9fa-1b54f5f44cbf&quot;,&quot;template_version&quot;:1,&quot;layout&quot;:{&quot;headerPosition&quot;:&quot;top&quot;,&quot;showFooter&quot;:&quot;off&quot;},&quot;states&quot;:[{&quot;header&quot;:{&quot;text&quot;:{&quot;blocks&quot;:[{&quot;id&quot;:&quot;0f54f42a-5582-4e49-b7c9-d0058ea5752f&quot;,&quot;html&quot;:&quot;Top\n20 High-Value Customers - Demographic Profile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TextAndImage&quot;,&quot;id&quot;:&quot;816daf0b-02e3-4bff-b5ea-65e667408503&quot;,&quot;cellColor&quot;:&quot;none&quot;,&quot;showTitle&quot;:false,&quot;childElement&quot;:{&quot;backdropPadding&quot;:30,&quot;verticalAlign&quot;:&quot;middle&quot;,&quot;text&quot;:{&quot;blocks&quot;:[{&quot;type&quot;:&quot;text&quot;,&quot;textStyle&quot;:&quot;title&quot;,&quot;html&quot;:&quot;1. Gender Distribution \n\n\n\n&quot;,&quot;id&quot;:&quot;8b163ae4-f4e3-4f13-80e2-dbc2d84293be&quot;,&quot;indent&quot;:0,&quot;blockBounds&quot;:{&quot;left&quot;:0,&quot;top&quot;:-6.237500190734863,&quot;width&quot;:650,&quot;height&quot;:34.07500076293945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-6.239999999999998,&quot;bottom&quot;:0,&quot;left&quot;:0,&quot;right&quot;:0},&quot;topSpace&quot;:6.239999999999998,&quot;bottomSpace&quot;:6.540000000000003},{&quot;id&quot;:&quot;15d3642e-78c7-48a6-8cae-a5a14af21eb7&quot;,&quot;type&quot;:&quot;text&quot;,&quot;textStyle&quot;:&quot;bulleted&quot;,&quot;spaceAbove&quot;:-20,&quot;html&quot;:&quot;High-value\ncustomers are slightly female-dominant.      &quot;,&quot;indent&quot;:0,&quot;blockBounds&quot;:{&quot;left&quot;:0,&quot;top&quot;:35.04999923706055,&quot;width&quot;:650,&quot;height&quot;:68.1500015258789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7.219999999999999,&quot;bottom&quot;:0,&quot;left&quot;:0,&quot;right&quot;:0},&quot;topSpace&quot;:6.239999999999998,&quot;bottomSpace&quot;:6.540000000000003,&quot;listStyle&quot;:&quot;bullets&quot;,&quot;bulletColor&quot;:&quot;collection-colorful&quot;},{&quot;id&quot;:&quot;8e91021b-e688-426a-923f-0b918b674d29&quot;,&quot;type&quot;:&quot;text&quot;,&quot;textStyle&quot;:&quot;title&quot;,&quot;spaceAbove&quot;:20,&quot;html&quot;:&quot;2. Marital Status&amp;nbsp;&quot;,&quot;indent&quot;:0,&quot;blockBounds&quot;:{&quot;left&quot;:0,&quot;top&quot;:140.41250610351562,&quot;width&quot;:650,&quot;height&quot;:34.07500076293945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37.22,&quot;bottom&quot;:0,&quot;left&quot;:0,&quot;right&quot;:0},&quot;topSpace&quot;:6.239999999999998,&quot;bottomSpace&quot;:6.540000000000003},{&quot;id&quot;:&quot;38b54e2f-656f-4a33-85f0-c1cb8d3b5fd4&quot;,&quot;type&quot;:&quot;text&quot;,&quot;textStyle&quot;:&quot;bulleted&quot;,&quot;spaceAbove&quot;:-20,&quot;html&quot;:&quot;Single customers form the largest contributor group.      &quot;,&quot;indent&quot;:0,&quot;blockBounds&quot;:{&quot;left&quot;:0,&quot;top&quot;:181.6999969482422,&quot;width&quot;:650,&quot;height&quot;:68.1500015258789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7.219999999999999,&quot;bottom&quot;:0,&quot;left&quot;:0,&quot;right&quot;:0},&quot;topSpace&quot;:6.239999999999998,&quot;bottomSpace&quot;:6.540000000000003,&quot;listStyle&quot;:&quot;bullets&quot;,&quot;bulletColor&quot;:&quot;collection-colorful&quot;},{&quot;id&quot;:&quot;55ef5974-118e-46ce-ad2e-e2c26a33c219&quot;,&quot;type&quot;:&quot;text&quot;,&quot;textStyle&quot;:&quot;title&quot;,&quot;spaceAbove&quot;:20,&quot;html&quot;:&quot;3. Education Level     &quot;,&quot;indent&quot;:0,&quot;blockBounds&quot;:{&quot;left&quot;:0,&quot;top&quot;:287.0625,&quot;width&quot;:650,&quot;height&quot;:34.07500076293945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37.22,&quot;bottom&quot;:0,&quot;left&quot;:0,&quot;right&quot;:0},&quot;topSpace&quot;:6.239999999999998,&quot;bottomSpace&quot;:6.540000000000003},{&quot;type&quot;:&quot;text&quot;,&quot;textStyle&quot;:&quot;bulleted&quot;,&quot;spaceAbove&quot;:-20,&quot;id&quot;:&quot;a1753c33-63ef-4ced-8d36-e4d5fa4665c2&quot;,&quot;html&quot;:&quot;High-value customers are mostly Partial High School &amp;amp; High-School educated.    &quot;,&quot;indent&quot;:0,&quot;blockBounds&quot;:{&quot;left&quot;:0,&quot;top&quot;:328.3500061035156,&quot;width&quot;:650,&quot;height&quot;:68.1500015258789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7.219999999999999,&quot;bottom&quot;:-6.540000000000003,&quot;left&quot;:0,&quot;right&quot;:0},&quot;topSpace&quot;:6.239999999999998,&quot;bottomSpace&quot;:6.540000000000003,&quot;listStyle&quot;:&quot;bullets&quot;,&quot;bulletColor&quot;:&quot;collection-colorful&quot;}]},&quot;boxHAlign&quot;:&quot;center&quot;,&quot;textAlign&quot;:&quot;left&quot;}},{&quot;id&quot;:&quot;ab5d9a91-1070-437b-9ff3-a75e8ce6812f&quot;,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Customer Count&quot;,&quot;type&quot;:&quot;bar&quot;,&quot;data&quot;:[{&quot;y&quot;:11,&quot;pt&quot;:true},{&quot;y&quot;:9}],&quot;colorName&quot;:&quot;chart2&quot;,&quot;marker&quot;:&quot;none&quot;,&quot;zones&quot;:[{&quot;style&quot;:&quot;default&quot;}],&quot;showDataLabels&quot;:true}],&quot;xAxis&quot;:{&quot;visible&quot;:true,&quot;showFirstLabel&quot;:true,&quot;showLastLabel&quot;:true,&quot;endOnTick&quot;:true,&quot;categories&quot;:[&quot;Female&quot;,&quot;Male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false,&quot;showGridLines&quot;:fals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fals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,&quot;axisType&quot;:&quot;linear&quot;,&quot;prefix&quot;:&quot;&quot;,&quot;suffix&quot;:&quot;&quot;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,&quot;columnPadding&quot;:0.1,&quot;groupPadding&quot;:0.1},&quot;legendPosition&quot;:&quot;off&quot;,&quot;chartAnnotations&quot;:{&quot;items&quot;:[],&quot;connections&quot;:{&quot;items&quot;:[],&quot;collectionColor&quot;:&quot;theme&quot;},&quot;collectionColor&quot;:&quot;theme&quot;}}},{&quot;id&quot;:&quot;216e5240-42c5-4b76-92cf-35855c42e208&quot;,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Customer Count&quot;,&quot;type&quot;:&quot;bar&quot;,&quot;data&quot;:[{&quot;y&quot;:14,&quot;pt&quot;:true},{&quot;y&quot;:6}],&quot;colorName&quot;:&quot;accent3&quot;,&quot;marker&quot;:&quot;none&quot;,&quot;zones&quot;:[{&quot;style&quot;:&quot;default&quot;}],&quot;showDataLabels&quot;:true}],&quot;xAxis&quot;:{&quot;visible&quot;:true,&quot;showFirstLabel&quot;:true,&quot;showLastLabel&quot;:true,&quot;endOnTick&quot;:true,&quot;categories&quot;:[&quot;   Single&quot;,&quot;Married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false,&quot;showGridLines&quot;:fals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fals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chartAnnotations&quot;:{&quot;items&quot;:[],&quot;connections&quot;:{&quot;items&quot;:[],&quot;collectionColor&quot;:&quot;theme&quot;},&quot;collectionColor&quot;:&quot;theme&quot;}}},{&quot;id&quot;:&quot;4491756295783675&quot;,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Customer Count&quot;,&quot;type&quot;:&quot;bar&quot;,&quot;data&quot;:[{&quot;y&quot;:8,&quot;pt&quot;:true},{&quot;y&quot;:7},{&quot;y&quot;:3},{&quot;y&quot;:2}],&quot;colorName&quot;:&quot;accent5&quot;,&quot;marker&quot;:&quot;none&quot;,&quot;zones&quot;:[{&quot;style&quot;:&quot;default&quot;}],&quot;showDataLabels&quot;:true,&quot;yAxis&quot;:0}],&quot;xAxis&quot;:{&quot;visible&quot;:true,&quot;showFirstLabel&quot;:true,&quot;showLastLabel&quot;:true,&quot;endOnTick&quot;:true,&quot;categories&quot;:[&quot;Partial High School&quot;,&quot;High School Degree&quot;,&quot;Bachelors Degree&quot;,&quot;Graduate Degree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false,&quot;showGridLines&quot;:fals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fals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chartAnnotations&quot;:{&quot;items&quot;:[],&quot;connections&quot;:{&quot;items&quot;:[],&quot;collectionColor&quot;:&quot;theme&quot;},&quot;collectionColor&quot;:&quot;theme&quot;}}}],&quot;layoutEngineType&quot;:&quot;dashboard&quot;,&quot;cellFrameType&quot;:&quot;none&quot;,&quot;gridLayout&quot;:{&quot;cols&quot;:12,&quot;rows&quot;:12,&quot;cells&quot;:[{&quot;x&quot;:0,&quot;y&quot;:0,&quot;width&quot;:8,&quot;height&quot;:12},{&quot;x&quot;:8,&quot;y&quot;:0,&quot;width&quot;:4,&quot;height&quot;:4},{&quot;x&quot;:8,&quot;y&quot;:4,&quot;width&quot;:4,&quot;height&quot;:4},{&quot;x&quot;:8,&quot;y&quot;:8,&quot;width&quot;:4,&quot;height&quot;:4}]},&quot;showTitle&quot;:&quot;above&quot;,&quot;borderColor&quot;:&quot;accent3&quot;},&quot;callouts&quot;:{&quot;elements&quot;:[{&quot;id&quot;:&quot;7641756296150283&quot;,&quot;fitToText&quot;:true,&quot;type&quot;:&quot;callout&quot;,&quot;calloutType&quot;:&quot;text&quot;,&quot;width&quot;:377.8027087426001,&quot;height&quot;:38,&quot;x&quot;:1038,&quot;y&quot;:145,&quot;name&quot;:&quot;Callout #1&quot;,&quot;isLocked&quot;:false,&quot;opacity&quot;:100,&quot;groupIds&quot;:[],&quot;text&quot;:{&quot;blocks&quot;:[{&quot;id&quot;:&quot;97592f8e-f703-43cd-bdb1-5c59dce53a8a&quot;,&quot;html&quot;:&quot;High Value Customer Count&quot;,&quot;type&quot;:&quot;text&quot;,&quot;textStyle&quot;:&quot;title&quot;,&quot;indent&quot;:0,&quot;blockBounds&quot;:{&quot;left&quot;:0,&quot;top&quot;:-4.987500190734863,&quot;width&quot;:357.8000183105469,&quot;height&quot;:27.262500762939453},&quot;textStyles&quot;:{&quot;fontFamily&quot;:&quot;geist&quot;,&quot;baseFontSize&quot;:24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center&quot;,&quot;color&quot;:&quot;rgb(51, 51, 51)&quot;,&quot;emphasizedColor&quot;:&quot;rgb(72, 220, 146)&quot;,&quot;hyperlinkColor&quot;:&quot;rgb(17, 169, 226)&quot;},&quot;blockMargin&quot;:{&quot;top&quot;:-4.991999999999997,&quot;bottom&quot;:-5.231999999999999,&quot;left&quot;:0,&quot;right&quot;:0},&quot;topSpace&quot;:4.991999999999997,&quot;bottomSpace&quot;:5.231999999999999}]},&quot;textAlign&quot;:&quot;center&quot;,&quot;textWidth&quot;:447.8027087426001}],&quot;snapToGrid&quot;:false,&quot;collectionColor&quot;:&quot;theme&quot;,&quot;connections&quot;:{&quot;collectionColor&quot;:&quot;theme&quot;}}}],&quot;version&quot;:10,&quot;migrationVersion&quot;:10.03,&quot;id&quot;:&quot;a1bac262-c838-4f81-9476-969c8e299b2d&quot;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bar&quot;,&quot;presentationId&quot;:&quot;208e51f9-0db5-4585-97ff-bbff6fe8999e&quot;,&quot;template_version&quot;:1,&quot;layout&quot;:{&quot;headerPosition&quot;:&quot;top&quot;,&quot;showFooter&quot;:&quot;off&quot;},&quot;states&quot;:[{&quot;header&quot;:{&quot;text&quot;:{&quot;blocks&quot;:[{&quot;id&quot;:&quot;177bb36e-7bbb-4bbd-9dea-7e09d25ea56f&quot;,&quot;html&quot;:&quot;Impact\nof Gender on Purchasing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TextAndImage&quot;,&quot;id&quot;:&quot;fe27b501-1bbd-45e4-8daf-4deb0780547c&quot;,&quot;childElement&quot;:{&quot;backdropPadding&quot;:30,&quot;verticalAlign&quot;:&quot;middle&quot;,&quot;text&quot;:{&quot;blocks&quot;:[{&quot;type&quot;:&quot;text&quot;,&quot;textStyle&quot;:&quot;title&quot;,&quot;indent&quot;:0,&quot;html&quot;:&quot;Customer\nCount:      &quot;,&quot;id&quot;:&quot;1955ca58-d073-4bef-925f-89dbfd037bc8&quot;,&quot;blockBounds&quot;:{&quot;left&quot;:0,&quot;top&quot;:-6.237500190734863,&quot;width&quot;:512,&quot;height&quot;:34.07500076293945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-6.239999999999998,&quot;bottom&quot;:0,&quot;left&quot;:0,&quot;right&quot;:0},&quot;topSpace&quot;:6.239999999999998,&quot;bottomSpace&quot;:6.540000000000003,&quot;bulletColor&quot;:&quot;accent2&quot;},{&quot;id&quot;:&quot;d256446b-a21f-45f4-afd5-ab04eaa58145&quot;,&quot;type&quot;:&quot;text&quot;,&quot;textStyle&quot;:&quot;body&quot;,&quot;html&quot;:&quot;Almost\nequal, but slightly more male customers.      &quot;,&quot;indent&quot;:0,&quot;blockBounds&quot;:{&quot;left&quot;:0,&quot;top&quot;:43.73749923706055,&quot;width&quot;:512,&quot;height&quot;:32.375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left&quot;,&quot;color&quot;:&quot;rgba(0, 0, 0, 0.65)&quot;,&quot;emphasizedColor&quot;:&quot;rgb(0, 0, 0)&quot;,&quot;hyperlinkColor&quot;:&quot;rgb(17, 169, 226)&quot;},&quot;blockMargin&quot;:{&quot;top&quot;:15.911999999999999,&quot;bottom&quot;:0,&quot;left&quot;:0,&quot;right&quot;:0},&quot;topSpace&quot;:7.547999999999998,&quot;bottomSpace&quot;:7.788},{&quot;id&quot;:&quot;4cae291a-cb7a-4567-832e-b2f3004ca902&quot;,&quot;type&quot;:&quot;text&quot;,&quot;textStyle&quot;:&quot;title&quot;,&quot;html&quot;:&quot;Average\nPurchase Value:      &quot;,&quot;indent&quot;:0,&quot;blockBounds&quot;:{&quot;left&quot;:0,&quot;top&quot;:92.07500457763672,&quot;width&quot;:512,&quot;height&quot;:34.07500076293945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15.972000000000001,&quot;bottom&quot;:0,&quot;left&quot;:0,&quot;right&quot;:0},&quot;topSpace&quot;:6.239999999999998,&quot;bottomSpace&quot;:6.540000000000003},{&quot;id&quot;:&quot;7b90e6e9-e5f4-47ca-8e83-f8d6a3af8429&quot;,&quot;type&quot;:&quot;text&quot;,&quot;textStyle&quot;:&quot;body&quot;,&quot;html&quot;:&quot;Females\nspend slightly more per transaction despite having a slightly lower\ncount.      &quot;,&quot;indent&quot;:0,&quot;blockBounds&quot;:{&quot;left&quot;:0,&quot;top&quot;:142.0500030517578,&quot;width&quot;:512,&quot;height&quot;:64.75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left&quot;,&quot;color&quot;:&quot;rgba(0, 0, 0, 0.65)&quot;,&quot;emphasizedColor&quot;:&quot;rgb(0, 0, 0)&quot;,&quot;hyperlinkColor&quot;:&quot;rgb(17, 169, 226)&quot;},&quot;blockMargin&quot;:{&quot;top&quot;:15.911999999999999,&quot;bottom&quot;:0,&quot;left&quot;:0,&quot;right&quot;:0},&quot;topSpace&quot;:7.547999999999998,&quot;bottomSpace&quot;:7.788},{&quot;id&quot;:&quot;8ab66c14-b661-41b0-948c-0f1b310a88f6&quot;,&quot;type&quot;:&quot;text&quot;,&quot;listStyle&quot;:&quot;bullets&quot;,&quot;textStyle&quot;:&quot;bulleted&quot;,&quot;html&quot;:&quot;Marketing campaigns targeting female shoppers could generate higher returns.&lt;span style=\&quot;font-weight:normal\&quot;&gt;  &lt;/span&gt;    &quot;,&quot;indent&quot;:0,&quot;blockBounds&quot;:{&quot;left&quot;:0,&quot;top&quot;:232.7624969482422,&quot;width&quot;:512,&quot;height&quot;:102.224998474121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5.972000000000005,&quot;bottom&quot;:-6.540000000000003,&quot;left&quot;:0,&quot;right&quot;:0},&quot;topSpace&quot;:6.239999999999998,&quot;bottomSpace&quot;:6.540000000000003,&quot;bulletColor&quot;:&quot;accent1&quot;}]},&quot;boxHAlign&quot;:&quot;center&quot;,&quot;textAlign&quot;:&quot;left&quot;},&quot;cellColor&quot;:&quot;none&quot;,&quot;showTitle&quot;:false},{&quot;id&quot;:&quot;a31781e8-edf9-4e76-88ef-9bea0848a5ad&quot;,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Customer Count&quot;,&quot;type&quot;:&quot;bar&quot;,&quot;data&quot;:[{&quot;y&quot;:5184,&quot;pt&quot;:true},{&quot;y&quot;:5097}],&quot;colorName&quot;:&quot;accent2&quot;,&quot;marker&quot;:&quot;none&quot;,&quot;zones&quot;:[{&quot;style&quot;:&quot;default&quot;}],&quot;showDataLabels&quot;:true}],&quot;xAxis&quot;:{&quot;visible&quot;:true,&quot;showFirstLabel&quot;:true,&quot;showLastLabel&quot;:true,&quot;endOnTick&quot;:true,&quot;categories&quot;:[&quot;Male&quot;,&quot;Female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false,&quot;showGridLines&quot;:fals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false},&quot;format&quot;:&quot;number&quot;,&quot;formatOptions&quot;:{&quot;decimal&quot;:2,&quot;separator&quot;:true,&quot;abbreviated&quot;:&quot;lower&quot;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chartAnnotations&quot;:{&quot;items&quot;:[],&quot;connections&quot;:{&quot;items&quot;:[],&quot;collectionColor&quot;:&quot;theme&quot;},&quot;collectionColor&quot;:&quot;theme&quot;}},&quot;char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Data&quot;,&quot;type&quot;:&quot;bar&quot;,&quot;data&quot;:[{&quot;y&quot;:10,&quot;pt&quot;:true},{&quot;y&quot;:40,&quot;pt&quot;:true}],&quot;colorName&quot;:&quot;chart2&quot;,&quot;marker&quot;:&quot;none&quot;,&quot;zones&quot;:[{&quot;style&quot;:&quot;default&quot;}]}],&quot;xAxis&quot;:{&quot;visible&quot;:true,&quot;showFirstLabel&quot;:true,&quot;showLastLabel&quot;:true,&quot;endOnTick&quot;:true,&quot;categories&quot;:[&quot;Male&quot;,&quot;Female&quot;,&quot;   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chartAnnotations&quot;:{&quot;items&quot;:[],&quot;connections&quot;:{&quot;items&quot;:[],&quot;collectionColor&quot;:&quot;theme&quot;},&quot;collectionColor&quot;:&quot;theme&quot;}},&quot;showTitle&quot;:&quot;above&quot;,&quot;chartTitle&quot;:{&quot;chartTitle&quot;:{&quot;blocks&quot;:[{&quot;id&quot;:&quot;05c66837-ebb8-4dcb-8388-707cf4a28f5a&quot;,&quot;html&quot;:&quot;Customer Count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,{&quot;id&quot;:&quot;5641756291849297&quot;,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Avg Spend per Transaction&quot;,&quot;type&quot;:&quot;bar&quot;,&quot;data&quot;:[{&quot;y&quot;:6.54,&quot;pt&quot;:true},{&quot;y&quot;:6.48}],&quot;colorName&quot;:&quot;accent1&quot;,&quot;marker&quot;:&quot;none&quot;,&quot;zones&quot;:[{&quot;style&quot;:&quot;default&quot;}],&quot;showDataLabels&quot;:true}],&quot;xAxis&quot;:{&quot;visible&quot;:true,&quot;showFirstLabel&quot;:true,&quot;showLastLabel&quot;:true,&quot;endOnTick&quot;:true,&quot;categories&quot;:[&quot;Female&quot;,&quot;Male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false,&quot;showGridLines&quot;:fals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false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chartAnnotations&quot;:{&quot;items&quot;:[],&quot;connections&quot;:{&quot;items&quot;:[],&quot;collectionColor&quot;:&quot;theme&quot;},&quot;collectionColor&quot;:&quot;theme&quot;}},&quot;showTitle&quot;:&quot;above&quot;,&quot;chartTitle&quot;:{&quot;chartTitle&quot;:{&quot;blocks&quot;:[{&quot;id&quot;:&quot;2070e427-324d-4f82-942b-0e9943d9de50&quot;,&quot;html&quot;:&quot;Avg Purchase Value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],&quot;layoutEngineType&quot;:&quot;dashboard&quot;,&quot;cellFrameType&quot;:&quot;none&quot;,&quot;gridLayout&quot;:{&quot;cols&quot;:12,&quot;rows&quot;:12,&quot;cells&quot;:[{&quot;x&quot;:0,&quot;y&quot;:0,&quot;width&quot;:6,&quot;height&quot;:12},{&quot;x&quot;:6,&quot;y&quot;:0,&quot;width&quot;:6,&quot;height&quot;:6},{&quot;x&quot;:6,&quot;y&quot;:6,&quot;width&quot;:6,&quot;height&quot;:6}]},&quot;showTitle&quot;:&quot;above&quot;,&quot;borderColor&quot;:&quot;accent3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ad0d9074-08b9-4b50-b1b8-184d3f299ebd&quot;,&quot;sharedModel&quot;:{&quot;background&quot;:{},&quot;header&quot;:{&quot;text&quot;:{&quot;blocks&quot;:[{&quot;id&quot;:&quot;177bb36e-7bbb-4bbd-9dea-7e09d25ea56f&quot;,&quot;html&quot;:&quot;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tabularData&quot;:[{&quot;data&quot;:[[&quot;X&quot;,&quot;Jan 1 2025&quot;,&quot;Feb 1 2025&quot;,&quot;Mar 1 2025&quot;,&quot;Apr 1 2025&quot;,&quot;May 1 2025&quot;,&quot;Jun 1 2025&quot;,&quot;Jul 1 2025&quot;,&quot;Aug 1 2025&quot;],[&quot;Data&quot;,10,40,50,30,70,50,90,110]],&quot;categories&quot;:[&quot;Jan 1 2025&quot;,&quot;Feb 1 2025&quot;,&quot;Mar 1 2025&quot;,&quot;Apr 1 2025&quot;,&quot;May 1 2025&quot;,&quot;Jun 1 2025&quot;,&quot;Jul 1 2025&quot;,&quot;Aug 1 2025&quot;],&quot;series&quot;:[{&quot;name&quot;:&quot;Data&quot;,&quot;values&quot;:[10,40,50,30,70,50,90,110]}],&quot;annotations&quot;:{&quot;chart&quot;:{&quot;items&quot;:[],&quot;connections&quot;:{&quot;items&quot;:[],&quot;collectionColor&quot;:&quot;theme&quot;},&quot;collectionColor&quot;:&quot;theme&quot;}}}],&quot;callouts&quot;:{&quot;elements&quot;:[],&quot;snapToGrid&quot;:false,&quot;collectionColor&quot;:&quot;theme&quot;,&quot;connections&quot;:{&quot;items&quot;:[],&quot;collectionColor&quot;:&quot;theme&quot;}}}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bar&quot;,&quot;presentationId&quot;:&quot;5cfb9d74-0f35-4e28-a3ed-2c29a51c97fa&quot;,&quot;template_version&quot;:1,&quot;layout&quot;:{&quot;headerPosition&quot;:&quot;top&quot;,&quot;showFooter&quot;:&quot;off&quot;},&quot;states&quot;:[{&quot;header&quot;:{&quot;text&quot;:{&quot;blocks&quot;:[{&quot;id&quot;:&quot;00310c68-ec50-4866-9e92-38f3676f4d69&quot;,&quot;html&quot;:&quot;Impact\nof Marital Status on Purchasing    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TextAndImage&quot;,&quot;id&quot;:&quot;5fc57817-e393-41fd-9766-3e71435bd323&quot;,&quot;cellColor&quot;:&quot;none&quot;,&quot;showTitle&quot;:false,&quot;childElement&quot;:{&quot;backdropPadding&quot;:30,&quot;verticalAlign&quot;:&quot;middle&quot;,&quot;boxHAlign&quot;:&quot;center&quot;,&quot;textAlign&quot;:&quot;left&quot;,&quot;text&quot;:{&quot;blocks&quot;:[{&quot;type&quot;:&quot;text&quot;,&quot;textStyle&quot;:&quot;title&quot;,&quot;html&quot;:&quot;Transaction\nCount:      &quot;,&quot;id&quot;:&quot;5f88dd33-eaa9-475c-b883-5b21b2fdd920&quot;,&quot;indent&quot;:0,&quot;blockBounds&quot;:{&quot;left&quot;:0,&quot;top&quot;:-5.612500190734863,&quot;width&quot;:520,&quot;height&quot;:30.662500381469727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-5.616,&quot;bottom&quot;:0,&quot;left&quot;:0,&quot;right&quot;:0},&quot;topSpace&quot;:5.616,&quot;bottomSpace&quot;:5.885999999999999},{&quot;id&quot;:&quot;4be1f472-82cc-43ac-bad0-dedc3921d645&quot;,&quot;type&quot;:&quot;text&quot;,&quot;textStyle&quot;:&quot;body&quot;,&quot;html&quot;:&quot;Almost\nequal, but singles make slightly more purchases.      &quot;,&quot;indent&quot;:0,&quot;blockBounds&quot;:{&quot;left&quot;:0,&quot;top&quot;:39.36249923706055,&quot;width&quot;:520,&quot;height&quot;:58.275001525878906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1.6,&quot;textAlign&quot;:&quot;left&quot;,&quot;color&quot;:&quot;rgba(0, 0, 0, 0.65)&quot;,&quot;emphasizedColor&quot;:&quot;rgb(0, 0, 0)&quot;,&quot;hyperlinkColor&quot;:&quot;rgb(17, 169, 226)&quot;,&quot;boldStyles&quot;:{&quot;fontColor&quot;:&quot;primary&quot;}},&quot;blockMargin&quot;:{&quot;top&quot;:14.320800000000002,&quot;bottom&quot;:0,&quot;left&quot;:0,&quot;right&quot;:0},&quot;topSpace&quot;:6.7932,&quot;bottomSpace&quot;:7.0092,&quot;emphasized&quot;:false},{&quot;id&quot;:&quot;f5017766-1de0-4688-b358-464a8dc05288&quot;,&quot;type&quot;:&quot;text&quot;,&quot;textStyle&quot;:&quot;title&quot;,&quot;html&quot;:&quot;Average Spend:&quot;,&quot;indent&quot;:0,&quot;blockBounds&quot;:{&quot;left&quot;:0,&quot;top&quot;:112,&quot;width&quot;:520,&quot;height&quot;:30.662500381469727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14.3748,&quot;bottom&quot;:0,&quot;left&quot;:0,&quot;right&quot;:0},&quot;topSpace&quot;:5.616,&quot;bottomSpace&quot;:5.885999999999999},{&quot;id&quot;:&quot;1ccd8527-a85b-4cf8-9f3f-e0b50dca7606&quot;,&quot;type&quot;:&quot;text&quot;,&quot;textStyle&quot;:&quot;body&quot;,&quot;html&quot;:&quot;Married customers have a marginally higher average spend.    &quot;,&quot;indent&quot;:0,&quot;blockBounds&quot;:{&quot;left&quot;:0,&quot;top&quot;:156.97500610351562,&quot;width&quot;:520,&quot;height&quot;:58.275001525878906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1.6,&quot;textAlign&quot;:&quot;left&quot;,&quot;color&quot;:&quot;rgba(0, 0, 0, 0.65)&quot;,&quot;emphasizedColor&quot;:&quot;rgb(0, 0, 0)&quot;,&quot;hyperlinkColor&quot;:&quot;rgb(17, 169, 226)&quot;,&quot;boldStyles&quot;:{&quot;fontColor&quot;:&quot;primary&quot;}},&quot;blockMargin&quot;:{&quot;top&quot;:14.320800000000002,&quot;bottom&quot;:0,&quot;left&quot;:0,&quot;right&quot;:0},&quot;topSpace&quot;:6.7932,&quot;bottomSpace&quot;:7.0092,&quot;emphasized&quot;:false},{&quot;id&quot;:&quot;ff72a0e8-64e9-44ad-8720-111f29d04158&quot;,&quot;type&quot;:&quot;text&quot;,&quot;textStyle&quot;:&quot;title&quot;,&quot;html&quot;:&quot;Insight:&quot;,&quot;indent&quot;:0,&quot;blockBounds&quot;:{&quot;left&quot;:0,&quot;top&quot;:229.6125030517578,&quot;width&quot;:520,&quot;height&quot;:30.662500381469727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14.3748,&quot;bottom&quot;:0,&quot;left&quot;:0,&quot;right&quot;:0},&quot;topSpace&quot;:5.616,&quot;bottomSpace&quot;:5.885999999999999},{&quot;type&quot;:&quot;text&quot;,&quot;textStyle&quot;:&quot;bulleted&quot;,&quot;id&quot;:&quot;a2d177ab-8a41-47f2-9dc4-8b7ee4e4d398&quot;,&quot;html&quot;:&quot;Singles\ncontribute slightly more to sales\nvolume. &quot;,&quot;indent&quot;:0,&quot;blockBounds&quot;:{&quot;left&quot;:0,&quot;top&quot;:284.76251220703125,&quot;width&quot;:520,&quot;height&quot;:61.32500076293945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24.498,&quot;bottom&quot;:0,&quot;left&quot;:0,&quot;right&quot;:0},&quot;topSpace&quot;:5.616,&quot;bottomSpace&quot;:5.885999999999999,&quot;listStyle&quot;:&quot;bullets&quot;,&quot;bulletColor&quot;:&quot;accent2&quot;},{&quot;type&quot;:&quot;text&quot;,&quot;textStyle&quot;:&quot;bulleted&quot;,&quot;id&quot;:&quot;25435be6-2b7a-4d71-9158-1d2ef58687e8&quot;,&quot;html&quot;:&quot;Married\ncustomers\ncontribute slightly more to value\nper purchase.      &quot;,&quot;listStyle&quot;:&quot;bullets&quot;,&quot;indent&quot;:0,&quot;blockBounds&quot;:{&quot;left&quot;:0,&quot;top&quot;:370.57501220703125,&quot;width&quot;:520,&quot;height&quot;:61.32500076293945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7,&quot;textAlign&quot;:&quot;left&quot;,&quot;color&quot;:&quot;rgb(51, 51, 51)&quot;,&quot;emphasizedColor&quot;:&quot;rgb(72, 220, 146)&quot;,&quot;hyperlinkColor&quot;:&quot;rgb(17, 169, 226)&quot;},&quot;blockMargin&quot;:{&quot;top&quot;:24.498,&quot;bottom&quot;:-5.885999999999999,&quot;left&quot;:0,&quot;right&quot;:0},&quot;topSpace&quot;:5.616,&quot;bottomSpace&quot;:5.885999999999999,&quot;bulletColor&quot;:&quot;accent2&quot;}]}}},{&quot;id&quot;:&quot;e2d036c9-c642-4e11-868f-0b250dbb8b66&quot;,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2&quot;,&quot;name&quot;:&quot;&quot;,&quot;type&quot;:&quot;bar&quot;,&quot;data&quot;:[{&quot;y&quot;:42812,&quot;pt&quot;:true},{&quot;y&quot;:44025}],&quot;colorName&quot;:&quot;accent3&quot;,&quot;marker&quot;:&quot;none&quot;,&quot;zones&quot;:[{&quot;style&quot;:&quot;default&quot;}],&quot;showDataLabels&quot;:true}],&quot;xAxis&quot;:{&quot;visible&quot;:true,&quot;showFirstLabel&quot;:true,&quot;showLastLabel&quot;:true,&quot;endOnTick&quot;:true,&quot;categories&quot;:[&quot;Married&quot;,&quot;Single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,&quot;showGridLines&quot;:false},&quot;yAxis&quot;:{&quot;visible&quot;:true,&quot;showFirstLabel&quot;:true,&quot;showLastLabel&quot;:true,&quot;endOnTick&quot;:true,&quot;showAxisLine&quot;:false,&quot;showGridLines&quot;:fals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false},&quot;format&quot;:&quot;number&quot;,&quot;formatOptions&quot;:{&quot;decimal&quot;:0,&quot;separator&quot;:false,&quot;abbreviated&quot;:&quot;lower&quot;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legendPosition&quot;:&quot;off&quot;,&quot;chartAnnotations&quot;:{&quot;items&quot;:[],&quot;connections&quot;:{&quot;items&quot;:[],&quot;collectionColor&quot;:&quot;theme&quot;},&quot;collectionColor&quot;:&quot;theme&quot;},&quot;legendReverse&quot;:false},&quot;showTitle&quot;:&quot;above&quot;,&quot;chartTitle&quot;:{&quot;chartTitle&quot;:{&quot;blocks&quot;:[{&quot;id&quot;:&quot;042a5e77-8944-45c2-babf-1607225d0787&quot;,&quot;html&quot;:&quot;Transaction Count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,{&quot;id&quot;:&quot;9f342669-3152-4f94-a4d6-0fae86688b2b&quot;,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Data&quot;,&quot;type&quot;:&quot;bar&quot;,&quot;data&quot;:[{&quot;y&quot;:6.52},{&quot;y&quot;:6.5}],&quot;colorName&quot;:&quot;accent2&quot;,&quot;marker&quot;:&quot;none&quot;,&quot;zones&quot;:[{&quot;style&quot;:&quot;default&quot;}],&quot;showDataLabels&quot;:true,&quot;yAxis&quot;:0}],&quot;xAxis&quot;:{&quot;visible&quot;:true,&quot;showFirstLabel&quot;:true,&quot;showLastLabel&quot;:true,&quot;endOnTick&quot;:true,&quot;categories&quot;:[&quot;Married&quot;,&quot;Single&quot;],&quot;dateFormatting&quot;:&quot;MMM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,&quot;showGridLines&quot;:false},&quot;yAxis&quot;:{&quot;visible&quot;:true,&quot;showFirstLabel&quot;:true,&quot;showLastLabel&quot;:true,&quot;endOnTick&quot;:true,&quot;showAxisLine&quot;:false,&quot;showGridLines&quot;:fals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false},&quot;format&quot;:&quot;number&quot;,&quot;formatOptions&quot;:{&quot;decimal&quot;:2,&quot;separator&quot;:false,&quot;abbreviated&quot;:&quot;lower&quot;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,&quot;columnPadding&quot;:0,&quot;groupPadding&quot;:0.1},&quot;legendPosition&quot;:&quot;off&quot;,&quot;chartAnnotations&quot;:{&quot;connections&quot;:{&quot;collectionColor&quot;:&quot;theme&quot;},&quot;collectionColor&quot;:&quot;theme&quot;}},&quot;showTitle&quot;:&quot;above&quot;,&quot;chartTitle&quot;:{&quot;chartTitle&quot;:{&quot;blocks&quot;:[{&quot;id&quot;:&quot;815a71d3-8f0b-48d9-be80-3bdc7137dd4b&quot;,&quot;html&quot;:&quot;Average Spend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],&quot;layoutEngineType&quot;:&quot;dashboard&quot;,&quot;cellFrameType&quot;:&quot;none&quot;,&quot;gridLayout&quot;:{&quot;cols&quot;:12,&quot;rows&quot;:12,&quot;cells&quot;:[{&quot;x&quot;:0,&quot;y&quot;:0,&quot;width&quot;:6,&quot;height&quot;:12},{&quot;x&quot;:6,&quot;y&quot;:0,&quot;width&quot;:6,&quot;height&quot;:6},{&quot;x&quot;:6,&quot;y&quot;:6,&quot;width&quot;:6,&quot;height&quot;:6}]},&quot;borderColor&quot;:&quot;accent3&quot;,&quot;showTitle&quot;:&quot;above&quot;},&quot;callouts&quot;:{&quot;snapToGrid&quot;:false,&quot;collectionColor&quot;:&quot;theme&quot;,&quot;connections&quot;:{&quot;items&quot;:[],&quot;collectionColor&quot;:&quot;theme&quot;}}}],&quot;version&quot;:10,&quot;migrationVersion&quot;:10.03,&quot;id&quot;:&quot;f459dec5-3579-4bea-8c46-dfed811a49d4&quot;,&quot;modifiedAt&quot;:1756282590343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column&quot;,&quot;presentationId&quot;:&quot;e5f1a47f-24cf-4897-a5f1-a1be6ec4c1c9&quot;,&quot;template_version&quot;:1,&quot;layout&quot;:{&quot;headerPosition&quot;:&quot;top&quot;,&quot;showFooter&quot;:&quot;off&quot;},&quot;states&quot;:[{&quot;header&quot;:{&quot;text&quot;:{&quot;blocks&quot;:[{&quot;id&quot;:&quot;b71f8703-77fd-4e5d-9079-bc5f736ce793&quot;,&quot;html&quot;:&quot;Impact\nof Education on Purchasing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,&quot;blockFontScales&quot;:{&quot;heading&quot;:1}}},&quot;primary&quot;:{&quot;items&quot;:[{&quot;componentType&quot;:&quot;TextAndImage&quot;,&quot;childElement&quot;:{&quot;text&quot;:{&quot;blocks&quot;:[{&quot;id&quot;:&quot;aa625890-7ef5-434b-bfbf-36df454b3303&quot;,&quot;html&quot;:&quot;Insight :&quot;,&quot;type&quot;:&quot;text&quot;,&quot;textStyle&quot;:&quot;title&quot;,&quot;indent&quot;:0,&quot;blockBounds&quot;:{&quot;left&quot;:0,&quot;top&quot;:-6.237500190734863,&quot;width&quot;:513,&quot;height&quot;:34.07500076293945},&quot;textStyles&quot;:{&quot;fontFamily&quot;:&quot;geist&quot;,&quot;baseFontSize&quot;:3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3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-6.239999999999998,&quot;bottom&quot;:0,&quot;left&quot;:0,&quot;right&quot;:0},&quot;topSpace&quot;:6.239999999999998,&quot;bottomSpace&quot;:6.540000000000003},{&quot;id&quot;:&quot;034c38b5-5402-4a2f-bbcc-fb6d9c173ca2&quot;,&quot;type&quot;:&quot;text&quot;,&quot;textStyle&quot;:&quot;bulleted&quot;,&quot;html&quot;:&quot; Customers with a High School Degree\nand Partial College education have the highest average spending. &quot;,&quot;indent&quot;:0,&quot;blockBounds&quot;:{&quot;left&quot;:0,&quot;top&quot;:55.04999923706055,&quot;width&quot;:513,&quot;height&quot;:136.3000030517578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0,&quot;left&quot;:0,&quot;right&quot;:0},&quot;topSpace&quot;:6.239999999999998,&quot;bottomSpace&quot;:6.540000000000003,&quot;listStyle&quot;:&quot;bullets&quot;,&quot;bulletColor&quot;:&quot;accent2&quot;},{&quot;id&quot;:&quot;37682ab3-27fc-4e4b-9409-9d9c4d3fd6f6&quot;,&quot;type&quot;:&quot;text&quot;,&quot;textStyle&quot;:&quot;bulleted&quot;,&quot;html&quot;:&quot;Graduate degree holders spend the\nleast per transaction, possibly indicating more price-conscious\nbehavior.&amp;nbsp; &amp;nbsp; &amp;nbsp;&amp;nbsp;&quot;,&quot;indent&quot;:0,&quot;blockBounds&quot;:{&quot;left&quot;:0,&quot;top&quot;:218.5625,&quot;width&quot;:513,&quot;height&quot;:136.3000030517578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-6.540000000000003,&quot;left&quot;:0,&quot;right&quot;:0},&quot;topSpace&quot;:6.239999999999998,&quot;bottomSpace&quot;:6.540000000000003,&quot;listStyle&quot;:&quot;bullets&quot;,&quot;bulletColor&quot;:&quot;accent2&quot;}]},&quot;backdropPadding&quot;:30,&quot;verticalAlign&quot;:&quot;middle&quot;,&quot;textAlign&quot;:&quot;left&quot;,&quot;frameType&quot;:&quot;none&quot;,&quot;frameScale&quot;:0.9},&quot;id&quot;:&quot;4631756280859974&quot;,&quot;showTitle&quot;:false,&quot;cellColor&quot;:&quot;none&quot;},{&quot;id&quot;:&quot;00f7d9e3-f57a-477b-a09a-158cd3367554&quot;,&quot;componentType&quot;:&quot;Chart&quot;,&quot;childElement&quot;:{&quot;showLegend&quot;:false,&quot;showXAxis&quot;:true,&quot;showYAxis&quot;:true,&quot;showAxisLabels&quot;:false,&quot;showXGridLines&quot;:true,&quot;showYGridLines&quot;:true,&quot;groupData&quot;:false,&quot;chartData&quot;:{&quot;series&quot;:[{&quot;id&quot;:&quot;series1&quot;,&quot;name&quot;:&quot;Avg Spend per Transaction&quot;,&quot;type&quot;:&quot;column&quot;,&quot;data&quot;:[{&quot;y&quot;:6.55,&quot;pt&quot;:true},{&quot;y&quot;:6.54},{&quot;y&quot;:6.49},{&quot;y&quot;:6.48},{&quot;y&quot;:6.47}],&quot;colorName&quot;:&quot;accent2&quot;,&quot;marker&quot;:&quot;none&quot;,&quot;zones&quot;:[{&quot;style&quot;:&quot;default&quot;}],&quot;showDataLabels&quot;:true,&quot;yAxis&quot;:0}],&quot;xAxis&quot;:{&quot;visible&quot;:true,&quot;showFirstLabel&quot;:true,&quot;showLastLabel&quot;:true,&quot;endOnTick&quot;:true,&quot;categories&quot;:[&quot;High School Degree&quot;,&quot;Partial College&quot;,&quot;Bachelors Degree&quot;,&quot;Partial High School&quot;,&quot;Graduate Degree&quot;],&quot;dateFormatting&quot;:&quot;none&quot;,&quot;showAxisLine&quot;:true,&quot;showGridLine&quot;:false,&quot;showMajorTicks&quot;:false,&quot;showMinorTicks&quot;:false,&quot;axisTitle&quot;:false,&quot;axisTitleText&quot;:&quot;Title&quot;,&quot;labelInterval&quot;:1,&quot;type&quot;:&quot;linear&quot;,&quot;autoType&quot;:&quot;linear&quot;,&quot;categoryType&quot;:&quot;auto&quot;,&quot;labels&quot;:{&quot;enabled&quot;:true},&quot;zeroAxisPadding&quot;:false},&quot;yAxis&quot;:{&quot;visibl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}},&quot;yAxis2&quot;:{&quot;visible&quot;:false,&quot;opposite&quot;:true,&quot;showFirstLabel&quot;:true,&quot;showLastLabel&quot;:true,&quot;endOnTick&quot;:true,&quot;showAxisLine&quot;:true,&quot;showGridLines&quot;:true,&quot;showMajorTicks&quot;:false,&quot;showMinorTicks&quot;:false,&quot;labelAbbreviation&quot;:false,&quot;labelCurrency&quot;:&quot;none&quot;,&quot;labelFormat&quot;:&quot;ones&quot;,&quot;axisTitle&quot;:&quot;none&quot;,&quot;axisTitleText&quot;:&quot;Title&quot;,&quot;labels&quot;:{&quot;enabled&quot;:true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}},&quot;legend&quot;:{&quot;enabled&quot;:false}},&quot;legendPosition&quot;:&quot;bottom&quot;,&quot;chartAnnotations&quot;:{&quot;items&quot;:[],&quot;connections&quot;:{&quot;items&quot;:[],&quot;collectionColor&quot;:&quot;theme&quot;},&quot;collectionColor&quot;:&quot;theme&quot;}},&quot;showTitle&quot;:&quot;above&quot;,&quot;chartTitle&quot;:{&quot;chartTitle&quot;:{&quot;blocks&quot;:[{&quot;id&quot;:&quot;aa0df56a-4873-4a8c-b748-e9fbc04b6d60&quot;,&quot;html&quot;:&quot;Purchasing at Education Level&quot;,&quot;type&quot;:&quot;text&quot;,&quot;textStyle&quot;:&quot;_use_styles_&quot;,&quot;indent&quot;:0,&quot;blockBounds&quot;:{&quot;left&quot;:0,&quot;top&quot;:-4.150000095367432,&quot;width&quot;:542.5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],&quot;layoutEngineType&quot;:&quot;dashboard&quot;,&quot;cellFrameType&quot;:&quot;none&quot;,&quot;gridLayout&quot;:{&quot;cols&quot;:12,&quot;rows&quot;:12,&quot;cells&quot;:[{&quot;x&quot;:6,&quot;y&quot;:0,&quot;width&quot;:6,&quot;height&quot;:12},{&quot;x&quot;:0,&quot;y&quot;:0,&quot;width&quot;:6,&quot;height&quot;:12}]},&quot;showTitle&quot;:&quot;above&quot;,&quot;borderColor&quot;:&quot;accent3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89ad4ecd-80e0-444d-8b75-969b0aa8e414&quot;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chart_column&quot;,&quot;presentationId&quot;:&quot;89c32400-d351-4f46-9a55-e516435a80eb&quot;,&quot;template_version&quot;:1,&quot;layout&quot;:{&quot;headerPosition&quot;:&quot;top&quot;,&quot;showFooter&quot;:&quot;off&quot;},&quot;states&quot;:[{&quot;header&quot;:{&quot;text&quot;:{&quot;blocks&quot;:[{&quot;id&quot;:&quot;4c1553dc-925f-437e-aa2f-b33fb8814df0&quot;,&quot;html&quot;:&quot;Member\nCard Distribution &amp;amp; Performance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items&quot;:[{&quot;componentType&quot;:&quot;TextAndImage&quot;,&quot;childElement&quot;:{&quot;backdropPadding&quot;:30,&quot;verticalAlign&quot;:&quot;middle&quot;,&quot;text&quot;:{&quot;blocks&quot;:[{&quot;type&quot;:&quot;text&quot;,&quot;textStyle&quot;:&quot;bulleted&quot;,&quot;listStyle&quot;:&quot;bullets&quot;,&quot;indent&quot;:0,&quot;html&quot;:&quot;Bronze\ncard dominates with 55.47% customers, generating the highest revenue ($313K). &quot;,&quot;id&quot;:&quot;b7d23315-5f99-4ee3-a7ca-00d4294ab8a4&quot;,&quot;blockBounds&quot;:{&quot;left&quot;:0,&quot;top&quot;:-6.237500190734863,&quot;width&quot;:422.9125061035156,&quot;height&quot;:136.3000030517578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-6.239999999999998,&quot;bottom&quot;:0,&quot;left&quot;:0,&quot;right&quot;:0},&quot;topSpace&quot;:6.239999999999998,&quot;bottomSpace&quot;:6.540000000000003},{&quot;type&quot;:&quot;text&quot;,&quot;textStyle&quot;:&quot;bulleted&quot;,&quot;listStyle&quot;:&quot;bullets&quot;,&quot;indent&quot;:0,&quot;html&quot;:&quot;Normal\ncards contribute 23.54% customers and $132.7K sales. &quot;,&quot;id&quot;:&quot;f9662489-0629-4789-8898-021a6658bccc&quot;,&quot;blockBounds&quot;:{&quot;left&quot;:0,&quot;top&quot;:157.27500915527344,&quot;width&quot;:422.9125061035156,&quot;height&quot;:102.2249984741211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0,&quot;left&quot;:0,&quot;right&quot;:0},&quot;topSpace&quot;:6.239999999999998,&quot;bottomSpace&quot;:6.540000000000003},{&quot;type&quot;:&quot;text&quot;,&quot;textStyle&quot;:&quot;bulleted&quot;,&quot;listStyle&quot;:&quot;bullets&quot;,&quot;indent&quot;:0,&quot;html&quot;:&quot;Golden\nand Silver\nhave fewer holders but higher avg. spend per customer (~$60 for Golden).&amp;nbsp; &amp;nbsp; &amp;nbsp;&amp;nbsp;&quot;,&quot;id&quot;:&quot;f7393e41-6f7c-4588-9113-564e9c3a7d6d&quot;,&quot;blockBounds&quot;:{&quot;left&quot;:0,&quot;top&quot;:286.7124938964844,&quot;width&quot;:422.9125061035156,&quot;height&quot;:136.3000030517578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-6.540000000000003,&quot;left&quot;:0,&quot;right&quot;:0},&quot;topSpace&quot;:6.239999999999998,&quot;bottomSpace&quot;:6.540000000000003}]},&quot;boxHAlign&quot;:&quot;center&quot;,&quot;textAlign&quot;:&quot;center&quot;,&quot;userWidth&quot;:472.37788178833705},&quot;id&quot;:&quot;1181756279191457&quot;,&quot;showTitle&quot;:false,&quot;cellColor&quot;:&quot;none&quot;},{&quot;id&quot;:&quot;871756279180206&quot;,&quot;componentType&quot;:&quot;Table&quot;,&quot;childElement&quot;:{&quot;tableWidth&quot;:1,&quot;tableHeight&quot;:1,&quot;showTopLeftCell&quot;:true,&quot;showBorder&quot;:true,&quot;showColGridLines&quot;:true,&quot;showRowGridLines&quot;:true,&quot;cells&quot;:[{&quot;row&quot;:0,&quot;col&quot;:0,&quot;id&quot;:&quot;0:0&quot;,&quot;cellText&quot;:{&quot;text&quot;:&quot;Member Card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1,&quot;col&quot;:0,&quot;id&quot;:&quot;1:0&quot;,&quot;cellText&quot;:{&quot;text&quot;:&quot;Silver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2,&quot;col&quot;:0,&quot;id&quot;:&quot;2:0&quot;,&quot;cellText&quot;:{&quot;text&quot;:&quot;Golden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3,&quot;col&quot;:0,&quot;id&quot;:&quot;3:0&quot;,&quot;cellText&quot;:{&quot;text&quot;:&quot;Normal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4,&quot;col&quot;:0,&quot;id&quot;:&quot;4:0&quot;,&quot;cellText&quot;:{&quot;text&quot;:&quot;Bronze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0,&quot;col&quot;:1,&quot;id&quot;:&quot;0:1&quot;,&quot;cellText&quot;:{&quot;text&quot;:&quot;Total Sales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1,&quot;col&quot;:1,&quot;id&quot;:&quot;1:1&quot;,&quot;cellText&quot;:{&quot;text&quot;:&quot;47137.45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2,&quot;col&quot;:1,&quot;id&quot;:&quot;2:1&quot;,&quot;cellText&quot;:{&quot;text&quot;:&quot;72199.65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3,&quot;col&quot;:1,&quot;id&quot;:&quot;3:1&quot;,&quot;cellText&quot;:{&quot;text&quot;:&quot;132721.46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4,&quot;col&quot;:1,&quot;id&quot;:&quot;4:1&quot;,&quot;cellText&quot;:{&quot;text&quot;:&quot;313179.57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0,&quot;col&quot;:2,&quot;id&quot;:&quot;0:2&quot;,&quot;cellText&quot;:{&quot;text&quot;:&quot;Avg Spend / Txn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1,&quot;col&quot;:2,&quot;id&quot;:&quot;1:2&quot;,&quot;cellText&quot;:{&quot;text&quot;:&quot;6.5&quot;},&quot;format&quot;:&quot;number&quot;,&quot;formatOptions&quot;:{&quot;decimal&quot;:1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2,&quot;col&quot;:2,&quot;id&quot;:&quot;2:2&quot;,&quot;cellText&quot;:{&quot;text&quot;:&quot;6.69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3,&quot;col&quot;:2,&quot;id&quot;:&quot;3:2&quot;,&quot;cellText&quot;:{&quot;text&quot;:&quot;6.47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4,&quot;col&quot;:2,&quot;id&quot;:&quot;4:2&quot;,&quot;cellText&quot;:{&quot;text&quot;:&quot;6.48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0,&quot;col&quot;:3,&quot;id&quot;:&quot;0:3&quot;,&quot;cellText&quot;:{&quot;text&quot;:&quot;Avg Txn / Customer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1,&quot;col&quot;:3,&quot;id&quot;:&quot;1:3&quot;,&quot;cellText&quot;:{&quot;text&quot;:&quot;8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2,&quot;col&quot;:3,&quot;id&quot;:&quot;2:3&quot;,&quot;cellText&quot;:{&quot;text&quot;:&quot;9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3,&quot;col&quot;:3,&quot;id&quot;:&quot;3:3&quot;,&quot;cellText&quot;:{&quot;text&quot;:&quot;8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4,&quot;col&quot;:3,&quot;id&quot;:&quot;4:3&quot;,&quot;cellText&quot;:{&quot;text&quot;:&quot;8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0,&quot;col&quot;:4,&quot;id&quot;:&quot;0:4&quot;,&quot;cellText&quot;:{&quot;text&quot;:&quot;Customer Count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1,&quot;col&quot;:4,&quot;id&quot;:&quot;1:4&quot;,&quot;cellText&quot;:{&quot;text&quot;:&quot;960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2,&quot;col&quot;:4,&quot;id&quot;:&quot;2:4&quot;,&quot;cellText&quot;:{&quot;text&quot;:&quot;1198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row&quot;:3,&quot;col&quot;:4,&quot;id&quot;:&quot;3:4&quot;,&quot;cellText&quot;:{&quot;text&quot;:&quot;2420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},{&quot;cellText&quot;:{&quot;text&quot;:&quot;5703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4,&quot;col&quot;:4,&quot;id&quot;:&quot;4:4&quot;},{&quot;cellText&quot;:{&quot;text&quot;:&quot;Txn Count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0,&quot;col&quot;:5,&quot;id&quot;:&quot;0:5&quot;},{&quot;cellText&quot;:{&quot;text&quot;:&quot;7252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1,&quot;col&quot;:5,&quot;id&quot;:&quot;1:5&quot;},{&quot;cellText&quot;:{&quot;text&quot;:&quot;10789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2,&quot;col&quot;:5,&quot;id&quot;:&quot;2:5&quot;},{&quot;cellText&quot;:{&quot;text&quot;:&quot;20501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3,&quot;col&quot;:5,&quot;id&quot;:&quot;3:5&quot;},{&quot;cellText&quot;:{&quot;text&quot;:&quot;48295&quot;},&quot;format&quot;:&quot;number&quot;,&quot;formatOptions&quot;:{&quot;decimal&quot;:0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4,&quot;col&quot;:5,&quot;id&quot;:&quot;4:5&quot;},{&quot;cellText&quot;:{&quot;text&quot;:&quot;Avg Sales / Customer&quot;},&quot;format&quot;:&quot;text&quot;,&quot;formatOptions&quot;:{&quot;decimal&quot;:&quot;auto&quot;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0,&quot;col&quot;:6,&quot;id&quot;:&quot;0:6&quot;},{&quot;cellText&quot;:{&quot;text&quot;:&quot;49.10151041666661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1,&quot;col&quot;:6,&quot;id&quot;:&quot;1:6&quot;},{&quot;cellText&quot;:{&quot;text&quot;:&quot;60.26681969949902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2,&quot;col&quot;:6,&quot;id&quot;:&quot;2:6&quot;},{&quot;cellText&quot;:{&quot;text&quot;:&quot;54.84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3,&quot;col&quot;:6,&quot;id&quot;:&quot;3:6&quot;},{&quot;cellText&quot;:{&quot;text&quot;:&quot;54.91&quot;},&quot;format&quot;:&quot;number&quot;,&quot;formatOptions&quot;:{&quot;decimal&quot;:2,&quot;separator&quot;:true,&quot;abbreviated&quot;:false,&quot;changeStyle&quot;:&quot;none&quot;,&quot;changeColor&quot;:true,&quot;currency&quot;:&quot;$&quot;,&quot;dateFormat&quot;:&quot;MMM Do&quot;,&quot;accountingStyle&quot;:false,&quot;textAlign&quot;:&quot;center&quot;},&quot;row&quot;:4,&quot;col&quot;:6,&quot;id&quot;:&quot;4:6&quot;}],&quot;cols&quot;:[{&quot;index&quot;:0,&quot;style&quot;:&quot;headerCol&quot;,&quot;break&quot;:false,&quot;size&quot;:199.6201040412746,&quot;scale&quot;:1},{&quot;index&quot;:1,&quot;style&quot;:&quot;defaultCol&quot;,&quot;break&quot;:false,&quot;size&quot;:249.85490206224102,&quot;scale&quot;:1},{&quot;index&quot;:2,&quot;style&quot;:&quot;defaultCol&quot;,&quot;break&quot;:false,&quot;size&quot;:222.8197684268046,&quot;scale&quot;:1},{&quot;index&quot;:3,&quot;style&quot;:&quot;defaultCol&quot;,&quot;break&quot;:false,&quot;size&quot;:244.95743165640283,&quot;scale&quot;:1},{&quot;index&quot;:4,&quot;style&quot;:&quot;defaultCol&quot;,&quot;break&quot;:false,&quot;size&quot;:230.09763363543647,&quot;scale&quot;:1},{&quot;index&quot;:5,&quot;style&quot;:&quot;defaultCol&quot;,&quot;break&quot;:false,&quot;scale&quot;:1,&quot;size&quot;:178.0501693331139},{&quot;index&quot;:6,&quot;style&quot;:&quot;defaultCol&quot;,&quot;break&quot;:false,&quot;scale&quot;:1,&quot;size&quot;:269.96250915527344}],&quot;rows&quot;:[{&quot;index&quot;:0,&quot;style&quot;:&quot;headerRow&quot;,&quot;break&quot;:false,&quot;size&quot;:40},{&quot;index&quot;:1,&quot;style&quot;:&quot;defaultRow&quot;,&quot;break&quot;:false,&quot;size&quot;:36},{&quot;index&quot;:2,&quot;style&quot;:&quot;defaultRow&quot;,&quot;break&quot;:false,&quot;size&quot;:36},{&quot;index&quot;:3,&quot;style&quot;:&quot;defaultRow&quot;,&quot;break&quot;:false,&quot;size&quot;:36},{&quot;index&quot;:4,&quot;style&quot;:&quot;defaultRow&quot;,&quot;break&quot;:false,&quot;size&quot;:36}],&quot;tableBackgroundColor&quot;:&quot;background_light&quot;,&quot;color&quot;:&quot;theme&quot;},&quot;showTitle&quot;:&quot;above&quot;,&quot;chartTitle&quot;:{&quot;chartTitle&quot;:{&quot;blocks&quot;:[{&quot;id&quot;:&quot;95813909-9f13-4015-8d14-e150a724af00&quot;,&quot;html&quot;:&quot;Member Card Holder Performance&quot;,&quot;type&quot;:&quot;text&quot;,&quot;textStyle&quot;:&quot;_use_styles_&quot;,&quot;indent&quot;:0,&quot;blockBounds&quot;:{&quot;left&quot;:0,&quot;top&quot;:-4.150000095367432,&quot;width&quot;:642.0750122070312,&quot;height&quot;:22.712499618530273},&quot;textStyles&quot;:{&quot;fontFamily&quot;:&quot;geist&quot;,&quot;baseFontSize&quot;:20,&quot;fontColor&quot;:&quot;primary&quot;,&quot;bulletScale&quot;:1,&quot;bulletSpacing&quot;:2.5,&quot;bulletIndent&quot;:50,&quot;fontScaling&quot;:100,&quot;fontWeight&quot;:600,&quot;letterSpacing&quot;:&quot;-0.03em&quot;,&quot;lineHeight&quot;:1.136,&quot;textTransform&quot;:&quot;none&quot;,&quot;spaceBelow&quot;:0,&quot;spaceAbove&quot;:0,&quot;blockSpacing&quot;:2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0,&quot;textAlign&quot;:&quot;center&quot;,&quot;color&quot;:&quot;rgb(51, 51, 51)&quot;,&quot;emphasizedColor&quot;:&quot;rgb(72, 220, 146)&quot;,&quot;hyperlinkColor&quot;:&quot;rgb(17, 169, 226)&quot;},&quot;blockMargin&quot;:{&quot;top&quot;:-4.16,&quot;bottom&quot;:-4.359999999999999,&quot;left&quot;:0,&quot;right&quot;:0},&quot;topSpace&quot;:4.16,&quot;bottomSpace&quot;:4.359999999999999}]}}}],&quot;layoutEngineType&quot;:&quot;dashboard&quot;,&quot;cellFrameType&quot;:&quot;none&quot;,&quot;gridLayout&quot;:{&quot;cols&quot;:12,&quot;rows&quot;:12,&quot;cells&quot;:[{&quot;x&quot;:0,&quot;y&quot;:0,&quot;width&quot;:5,&quot;height&quot;:12},{&quot;x&quot;:5,&quot;y&quot;:0,&quot;width&quot;:7,&quot;height&quot;:12}]},&quot;showTitle&quot;:&quot;above&quot;,&quot;borderColor&quot;:&quot;accent3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4a001cde-1460-43b2-83f6-3f836ee922e8&quot;,&quot;modifiedAt&quot;:1756279569402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itle&quot;,&quot;presentationId&quot;:&quot;11fc5fdb-5cb6-4909-bc20-8a96495d2cdb&quot;,&quot;template_version&quot;:1,&quot;layout&quot;:{&quot;headerPosition&quot;:&quot;top&quot;,&quot;showFooter&quot;:&quot;theme&quot;},&quot;states&quot;:[{&quot;primary&quot;:{&quot;showFooter&quot;:false,&quot;accentColor&quot;:&quot;accent4&quot;,&quot;backdropPadding&quot;:40,&quot;verticalAlign&quot;:&quot;middle&quot;,&quot;text&quot;:{&quot;blocks&quot;:[{&quot;id&quot;:&quot;09b457c7-ff69-4b6b-9f54-f1b6da6c9be5&quot;,&quot;html&quot;:&quot;Strategic\nRecommendations &quot;,&quot;type&quot;:&quot;text&quot;,&quot;textStyle&quot;:&quot;heading&quot;,&quot;indent&quot;:0,&quot;blockBounds&quot;:{&quot;left&quot;:0,&quot;top&quot;:-9.237500190734863,&quot;width&quot;:833,&quot;height&quot;:67.0875015258789},&quot;textStyles&quot;:{&quot;fontFamily&quot;:&quot;geist&quot;,&quot;baseFontSize&quot;:90,&quot;fontColor&quot;:&quot;primary&quot;,&quot;bulletScale&quot;:1,&quot;bulletSpacing&quot;:2.5,&quot;bulletIndent&quot;:50,&quot;fontScaling&quot;:100,&quot;fontWeight&quot;:600,&quot;letterSpacing&quot;:&quot;-0.06em&quot;,&quot;lineHeight&quot;:0.994,&quot;textTransform&quot;:&quot;none&quot;,&quot;spaceBelow&quot;:0,&quot;spaceAbove&quot;:0,&quot;blockSpacing&quot;:4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0.75,&quot;fontSize&quot;:67.5,&quot;textAlign&quot;:&quot;center&quot;,&quot;color&quot;:&quot;rgb(51, 51, 51)&quot;,&quot;accentColor&quot;:&quot;accent4&quot;,&quot;emphasizedColor&quot;:&quot;rgb(107, 162, 255)&quot;,&quot;hyperlinkColor&quot;:&quot;rgb(17, 169, 226)&quot;},&quot;blockMargin&quot;:{&quot;top&quot;:-9.247500000000002,&quot;bottom&quot;:-9.9225,&quot;left&quot;:0,&quot;right&quot;:0},&quot;topSpace&quot;:9.247500000000002,&quot;bottomSpace&quot;:9.9225}],&quot;blockFontScales&quot;:{&quot;heading&quot;:0.75}},&quot;decoration&quot;:&quot;left_border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9d739a82-fba9-4234-b1e5-6bcd2812b097&quot;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ext&quot;,&quot;presentationId&quot;:&quot;479d54a5-70e7-4f93-982b-cf476f53de80&quot;,&quot;template_version&quot;:1,&quot;layout&quot;:{&quot;headerPosition&quot;:&quot;top&quot;,&quot;showFooter&quot;:&quot;off&quot;},&quot;states&quot;:[{&quot;header&quot;:{&quot;text&quot;:{&quot;blocks&quot;:[{&quot;id&quot;:&quot;a8291ddc-0b75-456f-ac47-c6220a440252&quot;,&quot;html&quot;:&quot;Recommendations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textAlign&quot;:&quot;left&quot;,&quot;text&quot;:{&quot;blocks&quot;:[{&quot;id&quot;:&quot;9c405c7d-e465-4659-9d1b-9f37cc848b0a&quot;,&quot;html&quot;:&quot;Product\nStrategy&quot;,&quot;type&quot;:&quot;text&quot;,&quot;textStyle&quot;:&quot;bulleted&quot;,&quot;indent&quot;:0,&quot;blockBounds&quot;:{&quot;left&quot;:0,&quot;top&quot;:-4.050000190734863,&quot;width&quot;:1120,&quot;height&quot;:22.149999618530273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9.5,&quot;textAlign&quot;:&quot;left&quot;,&quot;color&quot;:&quot;rgb(51, 51, 51)&quot;,&quot;emphasizedColor&quot;:&quot;rgb(72, 220, 146)&quot;,&quot;hyperlinkColor&quot;:&quot;rgb(17, 169, 226)&quot;},&quot;blockMargin&quot;:{&quot;top&quot;:-4.056000000000001,&quot;bottom&quot;:0,&quot;left&quot;:0,&quot;right&quot;:0},&quot;topSpace&quot;:4.056000000000001,&quot;bottomSpace&quot;:4.251000000000001,&quot;listStyle&quot;:&quot;bullets&quot;},{&quot;id&quot;:&quot;855d8460-c758-4d2c-8538-c4abf713eef5&quot;,&quot;html&quot;:&quot;Focus\non high-margin\nproducts\nand expand their availability across top-performing stores.\n&quot;,&quot;type&quot;:&quot;text&quot;,&quot;textStyle&quot;:&quot;body&quot;,&quot;indent&quot;:0,&quot;blockBounds&quot;:{&quot;left&quot;:0,&quot;top&quot;:28.4375,&quot;width&quot;:1120,&quot;height&quot;:21.037500381469727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5.600000000000001,&quot;textAlign&quot;:&quot;left&quot;,&quot;color&quot;:&quot;rgba(0, 0, 0, 0.65)&quot;,&quot;emphasizedColor&quot;:&quot;rgb(0, 0, 0)&quot;,&quot;hyperlinkColor&quot;:&quot;rgb(17, 169, 226)&quot;},&quot;blockMargin&quot;:{&quot;top&quot;:10.3428,&quot;bottom&quot;:0,&quot;left&quot;:0,&quot;right&quot;:0},&quot;topSpace&quot;:4.906199999999998,&quot;bottomSpace&quot;:5.062200000000001},{&quot;id&quot;:&quot;7a9402ee-0eab-4ce2-8e28-39304b334c8e&quot;,&quot;html&quot;:&quot;Introduce\ncompetitive pricing strategies for low-cost, high-revenue products to\nmaximize sales.\n\n\n\n\n\n&quot;,&quot;type&quot;:&quot;text&quot;,&quot;textStyle&quot;:&quot;body&quot;,&quot;indent&quot;:0,&quot;blockBounds&quot;:{&quot;left&quot;:0,&quot;top&quot;:59,&quot;width&quot;:1120,&quot;height&quot;:21.037500381469727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5.600000000000001,&quot;textAlign&quot;:&quot;left&quot;,&quot;color&quot;:&quot;rgba(0, 0, 0, 0.65)&quot;,&quot;emphasizedColor&quot;:&quot;rgb(0, 0, 0)&quot;,&quot;hyperlinkColor&quot;:&quot;rgb(17, 169, 226)&quot;},&quot;blockMargin&quot;:{&quot;top&quot;:9.531600000000001,&quot;bottom&quot;:0,&quot;left&quot;:0,&quot;right&quot;:0},&quot;topSpace&quot;:4.906199999999998,&quot;bottomSpace&quot;:5.062200000000001},{&quot;id&quot;:&quot;c82d73a8-a22c-47f9-94da-42a38f447493&quot;,&quot;type&quot;:&quot;text&quot;,&quot;textStyle&quot;:&quot;bulleted&quot;,&quot;html&quot;:&quot;Customer\nStrategy\n&quot;,&quot;indent&quot;:0,&quot;blockBounds&quot;:{&quot;left&quot;:0,&quot;top&quot;:96.9124984741211,&quot;width&quot;:1120,&quot;height&quot;:22.149999618530273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9.5,&quot;textAlign&quot;:&quot;left&quot;,&quot;color&quot;:&quot;rgb(51, 51, 51)&quot;,&quot;emphasizedColor&quot;:&quot;rgb(72, 220, 146)&quot;,&quot;hyperlinkColor&quot;:&quot;rgb(17, 169, 226)&quot;},&quot;blockMargin&quot;:{&quot;top&quot;:16.8818,&quot;bottom&quot;:0,&quot;left&quot;:0,&quot;right&quot;:0},&quot;topSpace&quot;:4.056000000000001,&quot;bottomSpace&quot;:4.251000000000001,&quot;listStyle&quot;:&quot;bullets&quot;},{&quot;id&quot;:&quot;3c711d7c-e6ee-4a0a-839e-3a2baa3af312&quot;,&quot;type&quot;:&quot;text&quot;,&quot;textStyle&quot;:&quot;body&quot;,&quot;html&quot;:&quot;Design\ntargeted\nmarketing campaigns for high-value customer segments based on gender, education, and marital\nstatus trends. &quot;,&quot;indent&quot;:0,&quot;blockBounds&quot;:{&quot;left&quot;:0,&quot;top&quot;:129.40000915527344,&quot;width&quot;:1120,&quot;height&quot;:21.037500381469727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5.600000000000001,&quot;textAlign&quot;:&quot;left&quot;,&quot;color&quot;:&quot;rgba(0, 0, 0, 0.65)&quot;,&quot;emphasizedColor&quot;:&quot;rgb(0, 0, 0)&quot;,&quot;hyperlinkColor&quot;:&quot;rgb(17, 169, 226)&quot;},&quot;blockMargin&quot;:{&quot;top&quot;:10.3428,&quot;bottom&quot;:0,&quot;left&quot;:0,&quot;right&quot;:0},&quot;topSpace&quot;:4.906199999999998,&quot;bottomSpace&quot;:5.062200000000001},{&quot;id&quot;:&quot;5514688e-3abb-4b5e-aecb-512f4f5ff108&quot;,&quot;type&quot;:&quot;text&quot;,&quot;textStyle&quot;:&quot;body&quot;,&quot;html&quot;:&quot;Focus on upselling to Bronze &amp;amp; Normal card holders\nto increase their spending. &quot;,&quot;indent&quot;:0,&quot;blockBounds&quot;:{&quot;left&quot;:0,&quot;top&quot;:159.96250915527344,&quot;width&quot;:1120,&quot;height&quot;:21.037500381469727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5.600000000000001,&quot;textAlign&quot;:&quot;left&quot;,&quot;color&quot;:&quot;rgba(0, 0, 0, 0.65)&quot;,&quot;emphasizedColor&quot;:&quot;rgb(0, 0, 0)&quot;,&quot;hyperlinkColor&quot;:&quot;rgb(17, 169, 226)&quot;},&quot;blockMargin&quot;:{&quot;top&quot;:9.531600000000001,&quot;bottom&quot;:0,&quot;left&quot;:0,&quot;right&quot;:0},&quot;topSpace&quot;:4.906199999999998,&quot;bottomSpace&quot;:5.062200000000001},{&quot;id&quot;:&quot;56e0dbfa-e9c5-4ded-aa5d-eb9fef34857b&quot;,&quot;type&quot;:&quot;text&quot;,&quot;textStyle&quot;:&quot;body&quot;,&quot;html&quot;:&quot;Introduce loyalty benefits for Golden members to retain high-value customers. &quot;,&quot;indent&quot;:0,&quot;blockBounds&quot;:{&quot;left&quot;:0,&quot;top&quot;:190.52500915527344,&quot;width&quot;:1120,&quot;height&quot;:21.037500381469727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5.600000000000001,&quot;textAlign&quot;:&quot;left&quot;,&quot;color&quot;:&quot;rgba(0, 0, 0, 0.65)&quot;,&quot;emphasizedColor&quot;:&quot;rgb(0, 0, 0)&quot;,&quot;hyperlinkColor&quot;:&quot;rgb(17, 169, 226)&quot;},&quot;blockMargin&quot;:{&quot;top&quot;:9.531600000000001,&quot;bottom&quot;:0,&quot;left&quot;:0,&quot;right&quot;:0},&quot;topSpace&quot;:4.906199999999998,&quot;bottomSpace&quot;:5.062200000000001},{&quot;id&quot;:&quot;ba9d0e03-356d-4a00-8cf1-24231594b055&quot;,&quot;type&quot;:&quot;text&quot;,&quot;textStyle&quot;:&quot;body&quot;,&quot;html&quot;:&quot;Create special promotional campaigns targeting Silver card holders to improve engagement.&amp;nbsp; &amp;nbsp; &amp;nbsp;&amp;nbsp;&quot;,&quot;indent&quot;:0,&quot;blockBounds&quot;:{&quot;left&quot;:0,&quot;top&quot;:221.08750915527344,&quot;width&quot;:1120,&quot;height&quot;:21.037500381469727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5.600000000000001,&quot;textAlign&quot;:&quot;left&quot;,&quot;color&quot;:&quot;rgba(0, 0, 0, 0.65)&quot;,&quot;emphasizedColor&quot;:&quot;rgb(0, 0, 0)&quot;,&quot;hyperlinkColor&quot;:&quot;rgb(17, 169, 226)&quot;},&quot;blockMargin&quot;:{&quot;top&quot;:9.531600000000001,&quot;bottom&quot;:0,&quot;left&quot;:0,&quot;right&quot;:0},&quot;topSpace&quot;:4.906199999999998,&quot;bottomSpace&quot;:5.062200000000001},{&quot;id&quot;:&quot;02dbcf9f-94d5-49e8-890b-3fff6ff085f8&quot;,&quot;type&quot;:&quot;text&quot;,&quot;textStyle&quot;:&quot;bulleted&quot;,&quot;html&quot;:&quot;Store\nStrategy\n&quot;,&quot;indent&quot;:0,&quot;blockBounds&quot;:{&quot;left&quot;:0,&quot;top&quot;:259,&quot;width&quot;:1120,&quot;height&quot;:22.149999618530273},&quot;textStyles&quot;:{&quot;fontFamily&quot;:&quot;geist&quot;,&quot;baseFontSize&quot;:30,&quot;fontColor&quot;:&quot;primary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9.5,&quot;textAlign&quot;:&quot;left&quot;,&quot;color&quot;:&quot;rgb(51, 51, 51)&quot;,&quot;emphasizedColor&quot;:&quot;rgb(72, 220, 146)&quot;,&quot;hyperlinkColor&quot;:&quot;rgb(17, 169, 226)&quot;,&quot;bulletColor&quot;:&quot;slide&quot;},&quot;blockMargin&quot;:{&quot;top&quot;:16.8818,&quot;bottom&quot;:0,&quot;left&quot;:0,&quot;right&quot;:0},&quot;topSpace&quot;:4.056000000000001,&quot;bottomSpace&quot;:4.251000000000001,&quot;listStyle&quot;:&quot;bullets&quot;},{&quot;id&quot;:&quot;1790a15b-edb8-41e5-b4c9-5f6c12e22722&quot;,&quot;type&quot;:&quot;text&quot;,&quot;textStyle&quot;:&quot;body&quot;,&quot;html&quot;:&quot;Prioritize\nSupermarkets\nand Deluxe\nSupermarkets for inventory allocation due to higher sales contribution. &quot;,&quot;indent&quot;:0,&quot;blockBounds&quot;:{&quot;left&quot;:0,&quot;top&quot;:291.4875183105469,&quot;width&quot;:1120,&quot;height&quot;:21.037500381469727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5.600000000000001,&quot;textAlign&quot;:&quot;left&quot;,&quot;color&quot;:&quot;rgba(0, 0, 0, 0.65)&quot;,&quot;emphasizedColor&quot;:&quot;rgb(0, 0, 0)&quot;,&quot;hyperlinkColor&quot;:&quot;rgb(17, 169, 226)&quot;},&quot;blockMargin&quot;:{&quot;top&quot;:10.3428,&quot;bottom&quot;:0,&quot;left&quot;:0,&quot;right&quot;:0},&quot;topSpace&quot;:4.906199999999998,&quot;bottomSpace&quot;:5.062200000000001},{&quot;id&quot;:&quot;1fa716d3-1979-46ef-8e27-67194ddae37b&quot;,&quot;type&quot;:&quot;text&quot;,&quot;textStyle&quot;:&quot;body&quot;,&quot;html&quot;:&quot;Improve\nSmall\nGrocery\nperformance by offering discounts and bundling strategies.&amp;nbsp; &amp;nbsp; &amp;nbsp;&amp;nbsp;&quot;,&quot;indent&quot;:0,&quot;blockBounds&quot;:{&quot;left&quot;:0,&quot;top&quot;:322.0500183105469,&quot;width&quot;:1120,&quot;height&quot;:21.037500381469727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5.600000000000001,&quot;textAlign&quot;:&quot;left&quot;,&quot;color&quot;:&quot;rgba(0, 0, 0, 0.65)&quot;,&quot;emphasizedColor&quot;:&quot;rgb(0, 0, 0)&quot;,&quot;hyperlinkColor&quot;:&quot;rgb(17, 169, 226)&quot;},&quot;blockMargin&quot;:{&quot;top&quot;:9.531600000000001,&quot;bottom&quot;:0,&quot;left&quot;:0,&quot;right&quot;:0},&quot;topSpace&quot;:4.906199999999998,&quot;bottomSpace&quot;:5.062200000000001},{&quot;id&quot;:&quot;398b950e-12d4-4530-b969-d17582b04e22&quot;,&quot;type&quot;:&quot;text&quot;,&quot;textStyle&quot;:&quot;bulleted&quot;,&quot;html&quot;:&quot;Regional\nStrategy\n&quot;,&quot;indent&quot;:0,&quot;blockBounds&quot;:{&quot;left&quot;:0,&quot;top&quot;:359.9624938964844,&quot;width&quot;:1120,&quot;height&quot;:22.149999618530273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0000000000001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9.5,&quot;textAlign&quot;:&quot;left&quot;,&quot;color&quot;:&quot;rgb(51, 51, 51)&quot;,&quot;emphasizedColor&quot;:&quot;rgb(72, 220, 146)&quot;,&quot;hyperlinkColor&quot;:&quot;rgb(17, 169, 226)&quot;},&quot;blockMargin&quot;:{&quot;top&quot;:16.8818,&quot;bottom&quot;:0,&quot;left&quot;:0,&quot;right&quot;:0},&quot;topSpace&quot;:4.056000000000001,&quot;bottomSpace&quot;:4.251000000000001,&quot;listStyle&quot;:&quot;bullets&quot;},{&quot;id&quot;:&quot;454447e4-ba97-4af0-b07c-b86fcfcd869f&quot;,&quot;type&quot;:&quot;text&quot;,&quot;textStyle&quot;:&quot;body&quot;,&quot;html&quot;:&quot;Invest\nin high-sales,\nhigh-profit districts for expansion opportunities. &quot;,&quot;indent&quot;:0,&quot;blockBounds&quot;:{&quot;left&quot;:0,&quot;top&quot;:392.45001220703125,&quot;width&quot;:1120,&quot;height&quot;:21.037500381469727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5.600000000000001,&quot;textAlign&quot;:&quot;left&quot;,&quot;color&quot;:&quot;rgba(0, 0, 0, 0.65)&quot;,&quot;emphasizedColor&quot;:&quot;rgb(0, 0, 0)&quot;,&quot;hyperlinkColor&quot;:&quot;rgb(17, 169, 226)&quot;},&quot;blockMargin&quot;:{&quot;top&quot;:10.3428,&quot;bottom&quot;:0,&quot;left&quot;:0,&quot;right&quot;:0},&quot;topSpace&quot;:4.906199999999998,&quot;bottomSpace&quot;:5.062200000000001},{&quot;id&quot;:&quot;0bc62a88-b310-4daa-8e9c-fc3927ee4ca7&quot;,&quot;type&quot;:&quot;text&quot;,&quot;textStyle&quot;:&quot;body&quot;,&quot;html&quot;:&quot;Monitor\nlow-performing\ndistricts\nand adapt strategies to improve profitability.&amp;nbsp; &amp;nbsp; &amp;nbsp;&amp;nbsp;&quot;,&quot;indent&quot;:0,&quot;blockBounds&quot;:{&quot;left&quot;:0,&quot;top&quot;:423.01251220703125,&quot;width&quot;:1120,&quot;height&quot;:21.037500381469727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89999999999998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15.600000000000001,&quot;textAlign&quot;:&quot;left&quot;,&quot;color&quot;:&quot;rgba(0, 0, 0, 0.65)&quot;,&quot;emphasizedColor&quot;:&quot;rgb(0, 0, 0)&quot;,&quot;hyperlinkColor&quot;:&quot;rgb(17, 169, 226)&quot;},&quot;blockMargin&quot;:{&quot;top&quot;:9.531600000000001,&quot;bottom&quot;:-5.062200000000001,&quot;left&quot;:0,&quot;right&quot;:0},&quot;topSpace&quot;:4.906199999999998,&quot;bottomSpace&quot;:5.062200000000001}]}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dbc61c4c-7a2c-4838-a9fb-db4d561d00be&quot;,&quot;sharedModel&quot;:{&quot;background&quot;:{},&quot;header&quot;:{&quot;text&quot;:{&quot;blocks&quot;:[{&quot;id&quot;:&quot;a8291ddc-0b75-456f-ac47-c6220a440252&quot;,&quot;html&quot;:&quot;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collectionColor&quot;:&quot;theme&quot;,&quot;callouts&quot;:{&quot;elements&quot;:[],&quot;snapToGrid&quot;:false,&quot;collectionColor&quot;:&quot;theme&quot;,&quot;connections&quot;:{&quot;items&quot;:[],&quot;collectionColor&quot;:&quot;theme&quot;}}},&quot;animations&quot;:{&quot;general&quot;:{&quot;migrated&quot;:true}}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itle&quot;,&quot;presentationId&quot;:&quot;436835f0-f52c-4372-93ad-10bd4018f43f&quot;,&quot;template_version&quot;:1,&quot;layout&quot;:{&quot;headerPosition&quot;:&quot;top&quot;,&quot;showFooter&quot;:&quot;theme&quot;},&quot;states&quot;:[{&quot;primary&quot;:{&quot;showFooter&quot;:false,&quot;accentColor&quot;:&quot;accent5&quot;,&quot;backdropPadding&quot;:40,&quot;verticalAlign&quot;:&quot;middle&quot;,&quot;text&quot;:{&quot;blocks&quot;:[{&quot;id&quot;:&quot;0867e75b-bbd1-48c0-825b-91d22d897823&quot;,&quot;html&quot;:&quot;Conclusion&quot;,&quot;type&quot;:&quot;text&quot;,&quot;textStyle&quot;:&quot;heading&quot;,&quot;indent&quot;:0,&quot;blockBounds&quot;:{&quot;left&quot;:0,&quot;top&quot;:-9.237500190734863,&quot;width&quot;:325,&quot;height&quot;:67.0875015258789},&quot;textStyles&quot;:{&quot;fontFamily&quot;:&quot;geist&quot;,&quot;baseFontSize&quot;:90,&quot;fontColor&quot;:&quot;primary&quot;,&quot;bulletScale&quot;:1,&quot;bulletSpacing&quot;:2.5,&quot;bulletIndent&quot;:50,&quot;fontScaling&quot;:100,&quot;fontWeight&quot;:600,&quot;letterSpacing&quot;:&quot;-0.06em&quot;,&quot;lineHeight&quot;:0.994,&quot;textTransform&quot;:&quot;none&quot;,&quot;spaceBelow&quot;:0,&quot;spaceAbove&quot;:0,&quot;blockSpacing&quot;:4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0.75,&quot;fontSize&quot;:67.5,&quot;textAlign&quot;:&quot;center&quot;,&quot;color&quot;:&quot;rgb(51, 51, 51)&quot;,&quot;accentColor&quot;:&quot;accent5&quot;,&quot;emphasizedColor&quot;:&quot;rgb(147, 155, 241)&quot;,&quot;hyperlinkColor&quot;:&quot;rgb(17, 169, 226)&quot;},&quot;blockMargin&quot;:{&quot;top&quot;:-9.247500000000002,&quot;bottom&quot;:-9.9225,&quot;left&quot;:0,&quot;right&quot;:0},&quot;topSpace&quot;:9.247500000000002,&quot;bottomSpace&quot;:9.9225}],&quot;blockFontScales&quot;:{&quot;heading&quot;:0.75}},&quot;decoration&quot;:&quot;left_border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4f2dc192-9a81-414d-87dc-6ce53c2b47f8&quot;,&quot;animations&quot;:{&quot;general&quot;:{&quot;migrated&quot;:true}}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ext&quot;,&quot;presentationId&quot;:&quot;4f92d4fb-96f8-4541-95e2-064d45329453&quot;,&quot;template_version&quot;:1,&quot;layout&quot;:{&quot;headerPosition&quot;:&quot;top&quot;,&quot;showFooter&quot;:&quot;off&quot;,&quot;trayLayout&quot;:&quot;none&quot;,&quot;elementTextBlockPosition&quot;:&quot;none&quot;},&quot;states&quot;:[{&quot;header&quot;:{&quot;text&quot;:{&quot;blocks&quot;:[{&quot;id&quot;:&quot;f7dc243b-6650-4ee4-8674-f9a6b23e7c98&quot;,&quot;html&quot;:&quot;Conclusion&quot;,&quot;type&quot;:&quot;text&quot;,&quot;textStyle&quot;:&quot;heading&quot;,&quot;indent&quot;:0,&quot;blockBounds&quot;:{&quot;left&quot;:0,&quot;top&quot;:-6.849999904632568,&quot;width&quot;:1180,&quot;height&quot;:49.70000076293945},&quot;textStyles&quot;:{&quot;fontFamily&quot;:&quot;geist&quot;,&quot;baseFontSize&quot;:5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30,&quot;boldStyles&quot;:{&quot;fontColor&quot;:&quot;slide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50,&quot;textAlign&quot;:&quot;center&quot;,&quot;color&quot;:&quot;rgb(51, 51, 51)&quot;,&quot;accentColor&quot;:&quot;theme&quot;,&quot;emphasizedColor&quot;:&quot;rgb(72, 220, 146)&quot;,&quot;hyperlinkColor&quot;:&quot;rgb(17, 169, 226)&quot;},&quot;blockMargin&quot;:{&quot;top&quot;:-6.849999999999998,&quot;bottom&quot;:-7.350000000000001,&quot;left&quot;:0,&quot;right&quot;:0},&quot;topSpace&quot;:6.849999999999998,&quot;bottomSpace&quot;:7.350000000000001}]}},&quot;primary&quot;:{&quot;textAlign&quot;:&quot;left&quot;,&quot;text&quot;:{&quot;blocks&quot;:[{&quot;id&quot;:&quot;b7eeab26-162f-4a22-9a5a-3c86d4f6751b&quot;,&quot;html&quot;:&quot;Sales are primarily concentrated\nin specific districts and store types, showing clear areas for strategic\ninvestment.\n&quot;,&quot;type&quot;:&quot;text&quot;,&quot;textStyle&quot;:&quot;bulleted&quot;,&quot;indent&quot;:0,&quot;blockBounds&quot;:{&quot;left&quot;:0,&quot;top&quot;:-6.237500190734863,&quot;width&quot;:1120,&quot;height&quot;:68.1500015258789},&quot;textStyles&quot;:{&quot;fontFamily&quot;:&quot;geist&quot;,&quot;baseFontSize&quot;:30,&quot;fontColor&quot;:&quot;primary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,&quot;bulletColor&quot;:&quot;slide&quot;},&quot;blockMargin&quot;:{&quot;top&quot;:-6.239999999999998,&quot;bottom&quot;:0,&quot;left&quot;:0,&quot;right&quot;:0},&quot;topSpace&quot;:6.239999999999998,&quot;bottomSpace&quot;:6.540000000000003,&quot;evenBreak&quot;:false,&quot;listStyle&quot;:&quot;bullets&quot;},{&quot;id&quot;:&quot;175528f8-c0a5-4992-84f4-892c5b9a9b2d&quot;,&quot;html&quot;:&quot;High-value customers share common\ndemographic traits, enabling focused marketing and better customer retention\nstrategies.\n&quot;,&quot;type&quot;:&quot;text&quot;,&quot;textStyle&quot;:&quot;bulleted&quot;,&quot;indent&quot;:0,&quot;blockBounds&quot;:{&quot;left&quot;:0,&quot;top&quot;:89.125,&quot;width&quot;:1120,&quot;height&quot;:68.1500015258789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0,&quot;left&quot;:0,&quot;right&quot;:0},&quot;topSpace&quot;:6.239999999999998,&quot;bottomSpace&quot;:6.540000000000003,&quot;spaceAbove&quot;:0,&quot;listStyle&quot;:&quot;bullets&quot;},{&quot;id&quot;:&quot;bdb92175-7de9-48e2-a05f-535bbb456b85&quot;,&quot;html&quot;:&quot;Low-cost products drive volume,\nwhile high-margin products sustain profitability — both need to be managed\nstrategically.\n&quot;,&quot;type&quot;:&quot;text&quot;,&quot;textStyle&quot;:&quot;bulleted&quot;,&quot;indent&quot;:0,&quot;blockBounds&quot;:{&quot;left&quot;:0,&quot;top&quot;:184.4875030517578,&quot;width&quot;:1120,&quot;height&quot;:68.1500015258789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0,&quot;left&quot;:0,&quot;right&quot;:0},&quot;topSpace&quot;:6.239999999999998,&quot;bottomSpace&quot;:6.540000000000003,&quot;spaceAbove&quot;:0,&quot;listStyle&quot;:&quot;bullets&quot;},{&quot;id&quot;:&quot;bbe06814-1424-40f3-a396-575ad87d617f&quot;,&quot;html&quot;:&quot;By optimizing store operations,\ncustomer segmentation, and product pricing, the company can achieve sustainable\ngrowth and higher profitability.      &quot;,&quot;type&quot;:&quot;text&quot;,&quot;textStyle&quot;:&quot;bulleted&quot;,&quot;indent&quot;:0,&quot;blockBounds&quot;:{&quot;left&quot;:0,&quot;top&quot;:279.8500061035156,&quot;width&quot;:1120,&quot;height&quot;:68.1500015258789},&quot;textStyles&quot;:{&quot;fontFamily&quot;:&quot;geist&quot;,&quot;baseFontSize&quot;:30,&quot;fontColor&quot;:&quot;primary&quot;,&quot;bulletColor&quot;:&quot;slide&quot;,&quot;bulletScale&quot;:1.3,&quot;bulletSpacing&quot;:1.5,&quot;bulletIndent&quot;:30,&quot;fontScaling&quot;:100,&quot;fontWeight&quot;:600,&quot;letterSpacing&quot;:&quot;-0.03em&quot;,&quot;lineHeight&quot;:1.136,&quot;textTransform&quot;:&quot;none&quot;,&quot;spaceBelow&quot;:0,&quot;spaceAbove&quot;:0,&quot;blockSpacing&quot;:40,&quot;boldStyles&quot;:{&quot;fontColor&quot;:&quot;slide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30,&quot;textAlign&quot;:&quot;left&quot;,&quot;color&quot;:&quot;rgb(51, 51, 51)&quot;,&quot;emphasizedColor&quot;:&quot;rgb(72, 220, 146)&quot;,&quot;hyperlinkColor&quot;:&quot;rgb(17, 169, 226)&quot;},&quot;blockMargin&quot;:{&quot;top&quot;:27.220000000000002,&quot;bottom&quot;:-6.540000000000003,&quot;left&quot;:0,&quot;right&quot;:0},&quot;topSpace&quot;:6.239999999999998,&quot;bottomSpace&quot;:6.540000000000003,&quot;spaceAbove&quot;:0,&quot;listStyle&quot;:&quot;bullets&quot;}]}},&quot;callouts&quot;:{&quot;elements&quot;:[],&quot;snapToGrid&quot;:false,&quot;collectionColor&quot;:&quot;theme&quot;,&quot;connections&quot;:{&quot;items&quot;:[],&quot;collectionColor&quot;:&quot;theme&quot;}},&quot;elementTextBlock&quot;:{&quot;layoutEngineType&quot;:&quot;bottom_tray&quot;,&quot;gridLayout&quot;:{&quot;cols&quot;:12,&quot;rows&quot;:12,&quot;cells&quot;:[{&quot;x&quot;:0,&quot;y&quot;:0,&quot;width&quot;:12,&quot;height&quot;:12}]},&quot;items&quot;:[{&quot;componentType&quot;:&quot;TextAndImage&quot;,&quot;cellColor&quot;:&quot;background_accent&quot;,&quot;childElement&quot;:{&quot;text&quot;:{&quot;blocks&quot;:[{&quot;id&quot;:&quot;899de9b7-7ef1-4c89-8a8a-69b416fcea08&quot;,&quot;html&quot;:&quot;&quot;,&quot;type&quot;:&quot;text&quot;,&quot;textStyle&quot;:&quot;body&quot;,&quot;indent&quot;:0,&quot;blockBounds&quot;:{&quot;left&quot;:0,&quot;top&quot;:-7.537499904632568,&quot;width&quot;:105,&quot;height&quot;:32.375},&quot;textStyles&quot;:{&quot;fontFamily&quot;:&quot;geist&quot;,&quot;baseFontSize&quot;:24,&quot;fontColor&quot;:&quot;secondary&quot;,&quot;bulletScale&quot;:1,&quot;bulletSpacing&quot;:2.5,&quot;bulletIndent&quot;:50,&quot;fontScaling&quot;:100,&quot;fontWeight&quot;:400,&quot;letterSpacing&quot;:&quot;-0.04em&quot;,&quot;lineHeight&quot;:1.349,&quot;textTransform&quot;:&quot;none&quot;,&quot;spaceBelow&quot;:0,&quot;spaceAbove&quot;:0,&quot;blockSpacing&quot;:30,&quot;boldStyles&quot;:{&quot;fontColor&quot;:&quot;primary&quot;},&quot;maxLines&quot;:9999,&quot;evenBreak&quot;:false,&quot;listDecorationStyle&quot;:&quot;theme&quot;,&quot;allowFancyNumberedDecorations&quot;:false,&quot;hasEmphasized&quot;:false,&quot;blockInset&quot;:0,&quot;isRTL&quot;:false,&quot;fontScale&quot;:1,&quot;fontSize&quot;:24,&quot;textAlign&quot;:&quot;center&quot;,&quot;color&quot;:&quot;rgba(0, 0, 0, 0.65)&quot;,&quot;emphasizedColor&quot;:&quot;rgb(0, 0, 0)&quot;,&quot;hyperlinkColor&quot;:&quot;rgb(17, 169, 226)&quot;},&quot;blockMargin&quot;:{&quot;top&quot;:-7.547999999999998,&quot;bottom&quot;:-7.788,&quot;left&quot;:0,&quot;right&quot;:0},&quot;topSpace&quot;:7.547999999999998,&quot;bottomSpace&quot;:7.788}]},&quot;backdropPadding&quot;:30,&quot;verticalAlign&quot;:&quot;middle&quot;},&quot;id&quot;:&quot;0639dddb-6360-4b51-9279-8398573e9bc2&quot;}]}}],&quot;version&quot;:10,&quot;migrationVersion&quot;:10.03,&quot;id&quot;:&quot;46b0df0f-e4dc-4af8-9e9d-0f7287d5510f&quot;,&quot;modifiedAt&quot;:1756208518807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BAI_SLIDE_MODEL" val="{&quot;template_id&quot;:&quot;title&quot;,&quot;presentationId&quot;:&quot;b5b7c897-1526-4b07-8601-d97f5d828b9d&quot;,&quot;template_version&quot;:1,&quot;layout&quot;:{&quot;headerPosition&quot;:&quot;top&quot;,&quot;showFooter&quot;:&quot;theme&quot;,&quot;backgroundStyle&quot;:&quot;backgroundLight&quot;,&quot;backgroundColor&quot;:&quot;background_light&quot;,&quot;slideColor&quot;:&quot;theme&quot;},&quot;states&quot;:[{&quot;primary&quot;:{&quot;showFooter&quot;:false,&quot;accentColor&quot;:&quot;theme&quot;,&quot;verticalAlign&quot;:&quot;middle&quot;,&quot;text&quot;:{&quot;blocks&quot;:[{&quot;id&quot;:&quot;777d7a49-4cbb-4671-b173-618626cd8ae1&quot;,&quot;html&quot;:&quot;Thank You&quot;,&quot;type&quot;:&quot;text&quot;,&quot;textStyle&quot;:&quot;heading&quot;,&quot;indent&quot;:0,&quot;blockBounds&quot;:{&quot;left&quot;:0,&quot;top&quot;:-12.324999809265137,&quot;width&quot;:400,&quot;height&quot;:89.45000457763672},&quot;textStyles&quot;:{&quot;fontFamily&quot;:&quot;geist&quot;,&quot;baseFontSize&quot;:90,&quot;fontColor&quot;:&quot;primary&quot;,&quot;bulletScale&quot;:1,&quot;bulletSpacing&quot;:2.5,&quot;bulletIndent&quot;:50,&quot;fontScaling&quot;:100,&quot;fontWeight&quot;:600,&quot;letterSpacing&quot;:&quot;-0.06em&quot;,&quot;lineHeight&quot;:0.9939999999999999,&quot;textTransform&quot;:&quot;none&quot;,&quot;spaceBelow&quot;:0,&quot;spaceAbove&quot;:0,&quot;blockSpacing&quot;:40,&quot;boldStyles&quot;:{&quot;fontColor&quot;:&quot;primary&quot;},&quot;maxLines&quot;:9999,&quot;evenBreak&quot;:true,&quot;listDecorationStyle&quot;:&quot;theme&quot;,&quot;allowFancyNumberedDecorations&quot;:false,&quot;hasEmphasized&quot;:false,&quot;blockInset&quot;:0,&quot;isRTL&quot;:false,&quot;fontScale&quot;:1,&quot;fontSize&quot;:90,&quot;textAlign&quot;:&quot;left&quot;,&quot;color&quot;:&quot;rgb(51, 51, 51)&quot;,&quot;accentColor&quot;:&quot;theme&quot;,&quot;emphasizedColor&quot;:&quot;rgb(255, 255, 255)&quot;,&quot;hyperlinkColor&quot;:&quot;rgb(17, 169, 226)&quot;},&quot;blockMargin&quot;:{&quot;top&quot;:-12.329999999999995,&quot;bottom&quot;:-13.230000000000004,&quot;left&quot;:0,&quot;right&quot;:0},&quot;topSpace&quot;:12.329999999999995,&quot;bottomSpace&quot;:13.230000000000004}],&quot;blockFontScales&quot;:{&quot;heading&quot;:1}},&quot;decoration&quot;:&quot;block&quot;,&quot;backdropStyle&quot;:&quot;none&quot;,&quot;textPosition&quot;:&quot;left&quot;,&quot;textAlign&quot;:&quot;left&quot;},&quot;callouts&quot;:{&quot;elements&quot;:[],&quot;snapToGrid&quot;:false,&quot;collectionColor&quot;:&quot;theme&quot;,&quot;connections&quot;:{&quot;items&quot;:[],&quot;collectionColor&quot;:&quot;theme&quot;}}}],&quot;version&quot;:10,&quot;migrationVersion&quot;:10.03,&quot;id&quot;:&quot;df1f76a6-ffc3-4f98-9baf-06d248f7d196&quot;}"/>
  <p:tag name="BAI_THEME_MODEL" val="{&quot;showLogo&quot;:true,&quot;logoScale&quot;:1,&quot;logoPosition&quot;:&quot;left&quot;,&quot;logoOffset&quot;:0,&quot;showMessage&quot;:false,&quot;showPageNum&quot;:true,&quot;logo&quot;:null,&quot;logo_dark&quot;:null,&quot;showFooterByDefault&quot;:true,&quot;footerMessage&quot;:&quot;2025 Proprietary and Confidential. All Rights Reserved.&quot;,&quot;palette_name&quot;:&quot;custom&quot;,&quot;defaultSlideColor&quot;:&quot;theme&quot;,&quot;defaultBackgroundColor&quot;:&quot;background_light&quot;,&quot;styleFonts&quot;:1,&quot;styleFontWeight&quot;:&quot;heavy&quot;,&quot;styleElementStyle&quot;:&quot;filled&quot;,&quot;styleEffect&quot;:&quot;none&quot;,&quot;styleDesign&quot;:1,&quot;styleDecoration&quot;:&quot;none_center&quot;,&quot;styleHeaderAlignment&quot;:&quot;left&quot;,&quot;styleShape&quot;:&quot;circle&quot;,&quot;styleColor&quot;:&quot;slide&quot;,&quot;styleBackground&quot;:&quot;none&quot;,&quot;styleTitleFont&quot;:&quot;bebasneue&quot;,&quot;styleBodyFont&quot;:&quot;sourcesanspro&quot;,&quot;styleWeight&quot;:&quot;medium&quot;,&quot;styleTitleSlide&quot;:&quot;bar_left&quot;,&quot;fontScale&quot;:1,&quot;iconStyle&quot;:&quot;classic&quot;,&quot;cjkFont&quot;:&quot;jp&quot;,&quot;isRTL&quot;:false,&quot;colors&quot;:{&quot;accent1&quot;:&quot;rgba(57,216,193,1)&quot;,&quot;accent2&quot;:&quot;rgba(56,216,230,1)&quot;,&quot;accent3&quot;:&quot;rgba(48,175,239,1)&quot;,&quot;accent4&quot;:&quot;rgba(107,162,255,1)&quot;,&quot;accent5&quot;:&quot;rgba(147,155,241,1)&quot;,&quot;background_accent&quot;:&quot;rgba(242,242,242,1)&quot;,&quot;background_dark&quot;:&quot;rgba(0,0,0,1)&quot;,&quot;background_light&quot;:&quot;#ffffff&quot;,&quot;chart1&quot;:&quot;rgba(72,220,146,1)&quot;,&quot;chart2&quot;:&quot;rgba(57,216,193,1)&quot;,&quot;chart3&quot;:&quot;rgba(56,216,230,1)&quot;,&quot;chart4&quot;:&quot;rgba(48,175,239,1)&quot;,&quot;chart5&quot;:&quot;rgba(107,162,255,1)&quot;,&quot;chart6&quot;:&quot;rgba(147,155,241,1)&quot;,&quot;negative&quot;:&quot;rgba(252,93,76,1)&quot;,&quot;positive&quot;:&quot;rgba(72,220,146,1)&quot;,&quot;primary_dark&quot;:&quot;rgba(51,51,51,1)&quot;,&quot;primary_light&quot;:&quot;rgba(255,255,255,1)&quot;,&quot;secondary_dark&quot;:&quot;rgba(0,0,0,0.65)&quot;,&quot;secondary_light&quot;:&quot;rgba(255,255,255,0.8)&quot;,&quot;theme&quot;:&quot;rgba(72,220,146,1)&quot;,&quot;hyperlink&quot;:&quot;#11a9e2&quot;},&quot;fontHeaderFontId&quot;:&quot;geist&quot;,&quot;fontHeaderWeight&quot;:600,&quot;fontHeaderLetterSpacing&quot;:-0.06,&quot;fontHeaderLineHeight&quot;:1.4,&quot;fontHeaderScaling&quot;:100,&quot;fontHeaderTextTransform&quot;:&quot;auto&quot;,&quot;fontTitleFontId&quot;:&quot;geist&quot;,&quot;fontTitleWeight&quot;:600,&quot;fontTitleLetterSpacing&quot;:-0.03,&quot;fontTitleLineHeight&quot;:1.6,&quot;fontTitleScaling&quot;:100,&quot;fontTitleTextTransform&quot;:&quot;auto&quot;,&quot;fontBodyFontId&quot;:&quot;geist&quot;,&quot;fontBodyWeight&quot;:400,&quot;fontBodyLetterSpacing&quot;:-0.04,&quot;fontBodyLineHeight&quot;:1.9,&quot;fontBodyScaling&quot;:100,&quot;fontBodyTextTransform&quot;:&quot;auto&quot;}"/>
  <p:tag name="BAI_SLIDE_PLAYBACK_STAGE" val="0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438" row="0">
    <wetp:webextensionref xmlns:r="http://schemas.openxmlformats.org/officeDocument/2006/relationships" r:id="rId1"/>
  </wetp:taskpane>
  <wetp:taskpane dockstate="right" visibility="0" width="438" row="0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60586F65-B471-4678-A2D9-1FAEBD81AA03}">
  <we:reference id="wa200003964" version="1.0.0.0" store="en-US" storeType="OMEX"/>
  <we:alternateReferences>
    <we:reference id="wa200003964" version="1.0.0.0" store="WA200003964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1568B0ED-9039-4064-AAAE-FBC945D6B980}">
  <we:reference id="wa104178141" version="4.3.3.0" store="en-US" storeType="OMEX"/>
  <we:alternateReferences>
    <we:reference id="wa104178141" version="4.3.3.0" store="WA104178141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>Crop</Template>
  <TotalTime>2768</TotalTime>
  <Words>26</Words>
  <Application>Microsoft Office PowerPoint</Application>
  <PresentationFormat>Widescreen</PresentationFormat>
  <Paragraphs>26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Section 1 — Introduction</dc:title>
  <dc:creator>Aishwaray Shinde</dc:creator>
  <cp:lastModifiedBy>Aishwaray Shinde</cp:lastModifiedBy>
  <cp:revision>48</cp:revision>
  <dcterms:created xsi:type="dcterms:W3CDTF">2025-08-20T11:54:02Z</dcterms:created>
  <dcterms:modified xsi:type="dcterms:W3CDTF">2025-08-27T13:04:54Z</dcterms:modified>
</cp:coreProperties>
</file>